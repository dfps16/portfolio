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5" r:id="rId14"/>
    <p:sldId id="267" r:id="rId15"/>
    <p:sldId id="270" r:id="rId16"/>
    <p:sldId id="268" r:id="rId17"/>
    <p:sldId id="269" r:id="rId18"/>
    <p:sldId id="276" r:id="rId19"/>
    <p:sldId id="271" r:id="rId20"/>
    <p:sldId id="273" r:id="rId21"/>
    <p:sldId id="27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034F9-A769-4F35-A7C7-7E7AEF02D4B1}" v="1970" dt="2026-02-18T19:10:12.260"/>
    <p1510:client id="{4326B118-BD97-49DC-B9FC-349F0C0B9BB8}" v="325" dt="2026-02-18T18:58:22.646"/>
    <p1510:client id="{C8C78C76-0E13-BE49-94DD-256DECCBF60B}" v="523" dt="2026-02-19T11:52:09.524"/>
    <p1510:client id="{E4CBCCEF-859D-B48A-A41A-2867B12D6B4D}" v="2422" dt="2026-02-18T18:00:27.957"/>
    <p1510:client id="{E5378EAD-BFD8-B23E-54E3-2E0A4D3D9509}" v="2228" dt="2026-02-19T11:36:00.3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1"/>
  </p:normalViewPr>
  <p:slideViewPr>
    <p:cSldViewPr snapToGrid="0">
      <p:cViewPr varScale="1">
        <p:scale>
          <a:sx n="149" d="100"/>
          <a:sy n="149" d="100"/>
        </p:scale>
        <p:origin x="5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82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1: THE CONCEPT (2 minutes)
Introduce RION Imaging - what it is, the problem it solves, and the core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Moon is becoming a hub — Artemis, CLPS, international landers — but there's no persistent imaging infrastructure. Current data is from LRO (2009+) and mission-specific. This means operators cannot get timely terrain intelligence for landing site selection, hazard assessment, or resource prospecting.</a:t>
            </a:r>
          </a:p>
          <a:p>
            <a:endParaRPr lang="en-US"/>
          </a:p>
          <a:p>
            <a:r>
              <a:rPr lang="en-US"/>
              <a:t>Diego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Sankarshan</a:t>
            </a:r>
            <a:r>
              <a:rPr lang="en-US" b="0"/>
              <a:t>: Present</a:t>
            </a:r>
            <a:r>
              <a:rPr lang="en-US"/>
              <a:t> the RION Imaging solution: a constellation of </a:t>
            </a:r>
            <a:r>
              <a:rPr lang="en-US" err="1"/>
              <a:t>microsats</a:t>
            </a:r>
            <a:r>
              <a:rPr lang="en-US"/>
              <a:t> in varied lunar orbits providing continuous imaging. Key differentiators are cost (</a:t>
            </a:r>
            <a:r>
              <a:rPr lang="en-US" err="1"/>
              <a:t>microsat</a:t>
            </a:r>
            <a:r>
              <a:rPr lang="en-US"/>
              <a:t> platform), speed (rapid revisit + Gateway relay), and coverage (global). Data flows from Imaging Sats → Relay Sats → Gateway → Earth.</a:t>
            </a:r>
          </a:p>
          <a:p>
            <a:pPr marL="171450" indent="-171450">
              <a:buFont typeface="Calibri"/>
              <a:buChar char="-"/>
            </a:pPr>
            <a:r>
              <a:rPr lang="en-US" err="1"/>
              <a:t>Plz</a:t>
            </a:r>
            <a:r>
              <a:rPr lang="en-US"/>
              <a:t> talk about future radar imaging services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Sankarshan</a:t>
            </a:r>
            <a:r>
              <a:rPr lang="en-US"/>
              <a:t>: SECTION 2: COMMERCIAL VIABILITY ASSESSMENT (4 minutes)
Covers SWOT analysis, market study, potential clients, and threats. This is the business case section.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Sankarshan</a:t>
            </a:r>
            <a:r>
              <a:rPr lang="en-US"/>
              <a:t>: Present TAM/SAM/SOM breakdown. Key message: institutional customers (space agencies + gov/defense) represent 65-75% of upstream space market demand. The cislunar economy is projected to grow significantly with Artemis and Gateway becoming operational. There's currently no dedicated commercial lunar imaging service.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Sankarshan</a:t>
            </a:r>
            <a:r>
              <a:rPr lang="en-US" b="0"/>
              <a:t>: </a:t>
            </a:r>
            <a:r>
              <a:rPr lang="en-US"/>
              <a:t>Three customer segments: 1) Space agencies (NASA Artemis, ESA, JAXA) for landing site selection and science. 2) Government/Defence for cislunar domain awareness and national security. 3) Commercial clients (mining, tourism, lander ops) for resource prospecting and surface operations. Government customers are early adopters and anchor customers (65-75% of demand).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Diego</a:t>
            </a:r>
            <a:r>
              <a:rPr lang="en-US"/>
              <a:t> SWOT analysis. Strengths: first mover, low-cost microsat, Gateway relay, resilient constellation. Weaknesses: long timeline, unproven lunar business model, high capex, Gateway dependency. Opportunities: cislunar economy growth, defense demand, Artemis momentum, Mars extension. Threats: Firefly Ocula competition, Chinese cislunar capabilities, Gateway delays, regulatory gaps.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3: TECHNICAL CONSTELLATION PRESENTATION (7 minutes)
Covers constellation architecture, RION Nova satellite platform, mission architecture, and TRL timeline.</a:t>
            </a:r>
          </a:p>
          <a:p>
            <a:endParaRPr lang="en-US"/>
          </a:p>
          <a:p>
            <a:r>
              <a:rPr lang="en-US"/>
              <a:t>- To provide this, we have designed our unique constellation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a:solidFill>
                  <a:schemeClr val="tx1"/>
                </a:solidFill>
                <a:effectLst/>
                <a:latin typeface="+mn-lt"/>
                <a:ea typeface="+mn-ea"/>
                <a:cs typeface="+mn-cs"/>
              </a:rPr>
              <a:t>Michal:</a:t>
            </a:r>
            <a:endParaRPr lang="en-GB"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a:t>The architecture of which employs three distinct types of satellites working in tandem: imaging satellites for data collection, relay satellites for communication, and power satellites for wireless energy transmission.</a:t>
            </a:r>
          </a:p>
          <a:p>
            <a:pPr marL="171450" indent="-171450">
              <a:buFont typeface="Arial" panose="020B0604020202020204" pitchFamily="34" charset="0"/>
              <a:buChar char="•"/>
            </a:pPr>
            <a:r>
              <a:rPr lang="en-US"/>
              <a:t>The 2U-sized CubeSats (2-3 kg each) will be </a:t>
            </a:r>
            <a:r>
              <a:rPr lang="en-GB" sz="1200" b="0" i="0" kern="1200">
                <a:solidFill>
                  <a:schemeClr val="tx1"/>
                </a:solidFill>
                <a:effectLst/>
                <a:latin typeface="+mn-lt"/>
                <a:ea typeface="+mn-ea"/>
                <a:cs typeface="+mn-cs"/>
              </a:rPr>
              <a:t>equipped with high-resolution visible-light and infrared sensors to map the lunar surface.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1"/>
                </a:solidFill>
                <a:effectLst/>
                <a:latin typeface="+mn-lt"/>
                <a:ea typeface="+mn-ea"/>
                <a:cs typeface="+mn-cs"/>
              </a:rPr>
              <a:t>By 2045, these satellites will feature MDPE-graphene nanocomposite hulls that simultaneously provide structural support and radiation shielding.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1"/>
                </a:solidFill>
                <a:effectLst/>
                <a:latin typeface="+mn-lt"/>
                <a:ea typeface="+mn-ea"/>
                <a:cs typeface="+mn-cs"/>
              </a:rPr>
              <a:t>Solid-state lithium-metal batteries deliver 550-650 </a:t>
            </a:r>
            <a:r>
              <a:rPr lang="en-GB" sz="1200" b="0" i="0" kern="1200" err="1">
                <a:solidFill>
                  <a:schemeClr val="tx1"/>
                </a:solidFill>
                <a:effectLst/>
                <a:latin typeface="+mn-lt"/>
                <a:ea typeface="+mn-ea"/>
                <a:cs typeface="+mn-cs"/>
              </a:rPr>
              <a:t>Wh</a:t>
            </a:r>
            <a:r>
              <a:rPr lang="en-GB" sz="1200" b="0" i="0" kern="1200">
                <a:solidFill>
                  <a:schemeClr val="tx1"/>
                </a:solidFill>
                <a:effectLst/>
                <a:latin typeface="+mn-lt"/>
                <a:ea typeface="+mn-ea"/>
                <a:cs typeface="+mn-cs"/>
              </a:rPr>
              <a:t>/kg specific energy, survive extreme temperature cycles and eclipse periods.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1"/>
                </a:solidFill>
                <a:effectLst/>
                <a:latin typeface="+mn-lt"/>
                <a:ea typeface="+mn-ea"/>
                <a:cs typeface="+mn-cs"/>
              </a:rPr>
              <a:t>The relay satellites, on the other hand, will operate as store-and-forward communication nodes positioned in highly stable frozen orbits, linking the imaging constellation to the Lunar Gateway.</a:t>
            </a:r>
          </a:p>
          <a:p>
            <a:pPr marL="171450" indent="-171450">
              <a:buFont typeface="Arial" panose="020B0604020202020204" pitchFamily="34" charset="0"/>
              <a:buChar char="•"/>
            </a:pPr>
            <a:r>
              <a:rPr lang="en-GB" sz="1200" b="0" i="0" kern="1200">
                <a:solidFill>
                  <a:schemeClr val="tx1"/>
                </a:solidFill>
                <a:effectLst/>
                <a:latin typeface="+mn-lt"/>
                <a:ea typeface="+mn-ea"/>
                <a:cs typeface="+mn-cs"/>
              </a:rPr>
              <a:t>The power satellites supply microwave wireless power to nearby 2U satellites, extending their operational lifetime and capability.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old[After hearing about our mission architecture and data pipeline, I will now present our orbital architecture that facilitates these processes. ]</a:t>
            </a:r>
          </a:p>
          <a:p>
            <a:r>
              <a:rPr lang="en-US"/>
              <a:t>new[So, what exactly does this architecture look like physically?]</a:t>
            </a:r>
          </a:p>
          <a:p>
            <a:r>
              <a:rPr lang="en-US"/>
              <a:t>Our primary imaging layer has a fixed orbit of 93 degrees inclination across 30 orbital planes with 1 satellite in each plane. </a:t>
            </a:r>
          </a:p>
          <a:p>
            <a:r>
              <a:rPr lang="en-US" dirty="0"/>
              <a:t>We utilize a walker-style plane distribution which ensures uniform RAAN separation, preventing clustering and maintaining consistent global access, including the lunar polar regions.</a:t>
            </a:r>
          </a:p>
          <a:p>
            <a:r>
              <a:rPr lang="en-US" dirty="0"/>
              <a:t>At 350 km altitude, the system achieves approximately 99% surface coverage with an optical resolution of around 8 </a:t>
            </a:r>
            <a:r>
              <a:rPr lang="en-US" dirty="0" err="1"/>
              <a:t>metres</a:t>
            </a:r>
            <a:r>
              <a:rPr lang="en-US" dirty="0"/>
              <a:t> per pixel, supported by infrared capability for thermal mapping. It is important to note this is a conservative estimate from current imaging technology and we predict a significant improvement in resolution for our payload size. </a:t>
            </a:r>
          </a:p>
          <a:p>
            <a:r>
              <a:rPr lang="en-US"/>
              <a:t>From a lifecycle perspective, we adopt a gradual replenishment strategy, replacing one plane every 2 years. This avoids an end-of-life replacement cliff and spreads cost, launch cadence, and integration risk over time.</a:t>
            </a:r>
          </a:p>
          <a:p>
            <a:br>
              <a:rPr lang="en-US" dirty="0">
                <a:cs typeface="+mn-lt"/>
              </a:rPr>
            </a:br>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6FA41-2065-A31B-0F75-675D2FDD9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A8F6A-5EA7-1561-6E77-FF2DF2D88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5F553-AE55-44D8-A483-4B2D81FF803F}"/>
              </a:ext>
            </a:extLst>
          </p:cNvPr>
          <p:cNvSpPr>
            <a:spLocks noGrp="1"/>
          </p:cNvSpPr>
          <p:nvPr>
            <p:ph type="body" idx="1"/>
          </p:nvPr>
        </p:nvSpPr>
        <p:spPr/>
        <p:txBody>
          <a:bodyPr/>
          <a:lstStyle/>
          <a:p>
            <a:r>
              <a:rPr lang="en-US" b="1"/>
              <a:t>Ana</a:t>
            </a:r>
          </a:p>
          <a:p>
            <a:r>
              <a:rPr lang="en-US"/>
              <a:t>Throughout the design process we had concerns surrounding lunar rotation, orbital stability in different inclinations, altitudes and their consequential delta V requirements. We initially designed for the minimum number of satellites required for a one-day revisit cycle which at the time produced 20 satellites but this left no performance margin. In response we performed an inclination and altitude trade study using NASA’s GMAT to shift the design of the constellation architecture to prioritize redundancy, continuous coverage, and long-term stability. </a:t>
            </a:r>
          </a:p>
          <a:p>
            <a:r>
              <a:rPr lang="en-US"/>
              <a:t>The additional planes provide natural resilience and the constellation can now tolerate multiple satellite losses before the revisit constraint is violated.</a:t>
            </a:r>
          </a:p>
          <a:p>
            <a:r>
              <a:rPr lang="en-US"/>
              <a:t>We performed an inclination sweep from 86° to 94° and assessed three long-term stability metrics: semi-major axis drift, eccentricity growth, and RAAN drift.</a:t>
            </a:r>
          </a:p>
          <a:p>
            <a:r>
              <a:rPr lang="en-US"/>
              <a:t>From the SMA plot, the least significant drift came from 91°. Below and above 91, we see more significant drift in opposite directions. </a:t>
            </a:r>
          </a:p>
          <a:p>
            <a:r>
              <a:rPr lang="en-US"/>
              <a:t>Eccentricity and RAAN drift show almost linear trends with higher altitudes producing more desirable results.</a:t>
            </a:r>
          </a:p>
          <a:p>
            <a:r>
              <a:rPr lang="en-US"/>
              <a:t>Therefore, to </a:t>
            </a:r>
            <a:r>
              <a:rPr lang="en-US" err="1"/>
              <a:t>minimise</a:t>
            </a:r>
            <a:r>
              <a:rPr lang="en-US"/>
              <a:t> the magnitude of drift to reduce station-keeping demand, 93° sits on a balance: moderate SMA drift, low eccentricity growth and manageable RAAN drift.</a:t>
            </a:r>
          </a:p>
          <a:p>
            <a:r>
              <a:rPr lang="en-US"/>
              <a:t>Estimated 20 second conclusion from altitude trade study</a:t>
            </a:r>
          </a:p>
          <a:p>
            <a:endParaRPr lang="en-US" b="1"/>
          </a:p>
        </p:txBody>
      </p:sp>
      <p:sp>
        <p:nvSpPr>
          <p:cNvPr id="4" name="Slide Number Placeholder 3">
            <a:extLst>
              <a:ext uri="{FF2B5EF4-FFF2-40B4-BE49-F238E27FC236}">
                <a16:creationId xmlns:a16="http://schemas.microsoft.com/office/drawing/2014/main" id="{4304CE54-4ED3-59EC-1B65-619E71C0DD7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766388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2C86C-7F64-A55B-9BE8-109DF293F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121E2-4E4B-D2C5-58E5-0584088D6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028DB-1C28-EE5A-B6BA-CDDD7FDF192B}"/>
              </a:ext>
            </a:extLst>
          </p:cNvPr>
          <p:cNvSpPr>
            <a:spLocks noGrp="1"/>
          </p:cNvSpPr>
          <p:nvPr>
            <p:ph type="body" idx="1"/>
          </p:nvPr>
        </p:nvSpPr>
        <p:spPr/>
        <p:txBody>
          <a:bodyPr/>
          <a:lstStyle/>
          <a:p>
            <a:r>
              <a:rPr lang="en-US" b="1"/>
              <a:t>Ana</a:t>
            </a:r>
          </a:p>
          <a:p>
            <a:r>
              <a:rPr lang="en-US"/>
              <a:t>But what happens with our satellites when they reach the end of their mission?</a:t>
            </a:r>
          </a:p>
          <a:p>
            <a:r>
              <a:rPr lang="en-US"/>
              <a:t>Well we treat the constellation as two distinct layers with 2 different lifetime philosophies.</a:t>
            </a:r>
          </a:p>
          <a:p>
            <a:r>
              <a:rPr lang="en-US"/>
              <a:t>The near-polar imaging layer is intentionally designed as a bounded-lifetime operational layer. These satellites experience higher perturbation sensitivity and require higher maintenance demand SO before disposal, each satellite transitions into end-of-mission mode to extract their remaining their value which may be in communications relaying, calibration, or science demonstrations.</a:t>
            </a:r>
          </a:p>
          <a:p>
            <a:r>
              <a:rPr lang="en-US"/>
              <a:t>Following this, the satellites are passivated and removed via controlled impact into pre-defined non-sensitive lunar corridors to avoid polar volatile regions, heritage sites, and protected scientific areas, preventing long-term debris accumulation in lunar orbit.</a:t>
            </a:r>
          </a:p>
          <a:p>
            <a:r>
              <a:rPr lang="en-US"/>
              <a:t>The secondary infrastructure layer satellites are placed in long-term frozen orbits with lower natural drift and reduced station-keeping requirements also determined from GMAT simulations. These spacecraft are also designed with modular interfaces to enable a sustainability demonstration involving selectively recovering high-value components such as batteries, reaction wheels, and communications hardware using an experimental servicing vehicle. This servicing vehicle acts as a proof-of-concept for in-orbit component recovery and reuse, with the long-term objective of extending the architecture to support future sustainable constellation operations in Martian orbit.</a:t>
            </a:r>
          </a:p>
          <a:p>
            <a:r>
              <a:rPr lang="en-US"/>
              <a:t> </a:t>
            </a:r>
          </a:p>
          <a:p>
            <a:endParaRPr lang="en-US" b="1"/>
          </a:p>
        </p:txBody>
      </p:sp>
      <p:sp>
        <p:nvSpPr>
          <p:cNvPr id="4" name="Slide Number Placeholder 3">
            <a:extLst>
              <a:ext uri="{FF2B5EF4-FFF2-40B4-BE49-F238E27FC236}">
                <a16:creationId xmlns:a16="http://schemas.microsoft.com/office/drawing/2014/main" id="{E1329433-7723-282F-3593-617A1BA4816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82528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a:solidFill>
                  <a:schemeClr val="tx1"/>
                </a:solidFill>
                <a:effectLst/>
                <a:latin typeface="+mn-lt"/>
                <a:ea typeface="+mn-ea"/>
                <a:cs typeface="+mn-cs"/>
              </a:rPr>
              <a:t>Michal:</a:t>
            </a:r>
            <a:r>
              <a:rPr lang="en-GB" sz="1200" b="0" i="0" kern="1200">
                <a:solidFill>
                  <a:schemeClr val="tx1"/>
                </a:solidFill>
                <a:effectLst/>
                <a:latin typeface="+mn-lt"/>
                <a:ea typeface="+mn-ea"/>
                <a:cs typeface="+mn-cs"/>
              </a:rPr>
              <a:t> </a:t>
            </a:r>
          </a:p>
          <a:p>
            <a:pPr marL="171450" indent="-171450">
              <a:buFont typeface="Arial" panose="020B0604020202020204" pitchFamily="34" charset="0"/>
              <a:buChar char="•"/>
            </a:pPr>
            <a:r>
              <a:rPr lang="en-GB" sz="1200" b="0" i="0" kern="1200">
                <a:solidFill>
                  <a:schemeClr val="tx1"/>
                </a:solidFill>
                <a:effectLst/>
                <a:latin typeface="+mn-lt"/>
                <a:ea typeface="+mn-ea"/>
                <a:cs typeface="+mn-cs"/>
              </a:rPr>
              <a:t>To bring this all together, after our satellites capture the imagery.</a:t>
            </a:r>
          </a:p>
          <a:p>
            <a:pPr marL="171450" indent="-171450">
              <a:buFont typeface="Arial" panose="020B0604020202020204" pitchFamily="34" charset="0"/>
              <a:buChar char="•"/>
            </a:pPr>
            <a:r>
              <a:rPr lang="en-US"/>
              <a:t>The processed data is then aggregated to relay satellites, which in turn transmit to the Lunar Gateway </a:t>
            </a:r>
            <a:r>
              <a:rPr lang="en-GB" sz="1200" b="0" i="0" kern="1200">
                <a:solidFill>
                  <a:schemeClr val="tx1"/>
                </a:solidFill>
                <a:effectLst/>
                <a:latin typeface="+mn-lt"/>
                <a:ea typeface="+mn-ea"/>
                <a:cs typeface="+mn-cs"/>
              </a:rPr>
              <a:t>using quantum-proof systems.</a:t>
            </a:r>
          </a:p>
          <a:p>
            <a:pPr marL="171450" indent="-171450">
              <a:buFont typeface="Arial" panose="020B0604020202020204" pitchFamily="34" charset="0"/>
              <a:buChar char="•"/>
            </a:pPr>
            <a:r>
              <a:rPr lang="en-GB" sz="1200" b="0" i="0" kern="1200">
                <a:solidFill>
                  <a:schemeClr val="tx1"/>
                </a:solidFill>
                <a:effectLst/>
                <a:latin typeface="+mn-lt"/>
                <a:ea typeface="+mn-ea"/>
                <a:cs typeface="+mn-cs"/>
              </a:rPr>
              <a:t>In turn, the Gateway relays the data to Earth via a secure link with proprietary encryption.</a:t>
            </a:r>
          </a:p>
          <a:p>
            <a:pPr marL="171450" indent="-171450">
              <a:buFont typeface="Arial" panose="020B0604020202020204" pitchFamily="34" charset="0"/>
              <a:buChar char="•"/>
            </a:pPr>
            <a:r>
              <a:rPr lang="en-US"/>
              <a:t>Algorithms will be developed to automatically perform ground-based processing for quality assessment.</a:t>
            </a:r>
            <a:endParaRPr lang="en-GB" sz="1200" b="0"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At the last step, the RION Portal is used to distribute the final images to the consumer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1"/>
                </a:solidFill>
                <a:effectLst/>
                <a:latin typeface="+mn-lt"/>
                <a:ea typeface="+mn-ea"/>
                <a:cs typeface="+mn-cs"/>
              </a:rPr>
              <a:t>Customers can access the Rion Portal via an independent secure API with built-in individual per customer access as one of its innovative features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4: FUTURE PLANS &amp; CONCLUSION (2 minutes)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TRL timeline across 4 phases: 2026-2030 (TRL 1-3, basic research), 2030-2035 (TRL 4-5, component dev), 2035-2040 (TRL 6-7, prototype &amp; demo mission), 2040-2045 (TRL 8-9, qualification &amp; deployment). Mention key milestones: prototype mission, first constellation deployment, full operational capability.</a:t>
            </a:r>
          </a:p>
          <a:p>
            <a:pPr marL="171450" indent="-171450">
              <a:buFont typeface="Calibri"/>
              <a:buChar char="-"/>
            </a:pPr>
            <a:r>
              <a:rPr lang="en-US"/>
              <a:t>External Investment by 2030- Prob gov/private contracts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breakdown. Three-phase funding strategy: grants → VC → strategic partnerships, following ICEYE model. </a:t>
            </a:r>
          </a:p>
          <a:p>
            <a:pPr marL="171450" indent="-171450">
              <a:buFont typeface="Calibri"/>
              <a:buChar char="-"/>
            </a:pPr>
            <a:r>
              <a:rPr lang="en-US"/>
              <a:t>Pricing Plan</a:t>
            </a:r>
          </a:p>
          <a:p>
            <a:pPr marL="171450" indent="-171450">
              <a:buFont typeface="Calibri"/>
              <a:buChar char="-"/>
            </a:pPr>
            <a:r>
              <a:rPr lang="en-US"/>
              <a:t>Subscription services</a:t>
            </a:r>
          </a:p>
          <a:p>
            <a:pPr marL="171450" indent="-171450">
              <a:buFont typeface="Calibri"/>
              <a:buChar char="-"/>
            </a:pP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C4AB-07FD-127C-96A3-0971043BD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0C419-DD87-7B93-E829-7DAB048347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F156A-2672-341E-7892-5F8D19F0F9A1}"/>
              </a:ext>
            </a:extLst>
          </p:cNvPr>
          <p:cNvSpPr>
            <a:spLocks noGrp="1"/>
          </p:cNvSpPr>
          <p:nvPr>
            <p:ph type="body" idx="1"/>
          </p:nvPr>
        </p:nvSpPr>
        <p:spPr/>
        <p:txBody>
          <a:bodyPr/>
          <a:lstStyle/>
          <a:p>
            <a:r>
              <a:rPr lang="en-US"/>
              <a:t>SECTION 4: FUTURE PLANS &amp; CONCLUSION (2 minutes)</a:t>
            </a:r>
          </a:p>
        </p:txBody>
      </p:sp>
      <p:sp>
        <p:nvSpPr>
          <p:cNvPr id="4" name="Slide Number Placeholder 3">
            <a:extLst>
              <a:ext uri="{FF2B5EF4-FFF2-40B4-BE49-F238E27FC236}">
                <a16:creationId xmlns:a16="http://schemas.microsoft.com/office/drawing/2014/main" id="{3194D138-03A3-49DF-1BDC-3B6EA8E8C9D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65872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t>First Mover Advantage</a:t>
            </a:r>
          </a:p>
          <a:p>
            <a:pPr marL="171450" indent="-171450">
              <a:buFont typeface="Calibri"/>
              <a:buChar char="-"/>
            </a:pPr>
            <a:r>
              <a:rPr lang="en-US"/>
              <a:t>Pricing Plan</a:t>
            </a:r>
          </a:p>
          <a:p>
            <a:pPr marL="171450" indent="-171450">
              <a:buFont typeface="Calibri"/>
              <a:buChar char="-"/>
            </a:pPr>
            <a:r>
              <a:rPr lang="en-US"/>
              <a:t>Subscription Services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EC006-44F6-92F8-3952-E816E97AB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4AC82-746E-B8FF-AE11-6D80D1651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F2746-077D-740A-03F7-ACE0716CAD8F}"/>
              </a:ext>
            </a:extLst>
          </p:cNvPr>
          <p:cNvSpPr>
            <a:spLocks noGrp="1"/>
          </p:cNvSpPr>
          <p:nvPr>
            <p:ph type="body" idx="1"/>
          </p:nvPr>
        </p:nvSpPr>
        <p:spPr/>
        <p:txBody>
          <a:bodyPr/>
          <a:lstStyle/>
          <a:p>
            <a:r>
              <a:rPr lang="en-US"/>
              <a:t>The ROI justifies the risk. Emphasize varying EBITDA with low end at 2045 and higher near 2055</a:t>
            </a:r>
          </a:p>
        </p:txBody>
      </p:sp>
      <p:sp>
        <p:nvSpPr>
          <p:cNvPr id="4" name="Slide Number Placeholder 3">
            <a:extLst>
              <a:ext uri="{FF2B5EF4-FFF2-40B4-BE49-F238E27FC236}">
                <a16:creationId xmlns:a16="http://schemas.microsoft.com/office/drawing/2014/main" id="{7448C728-EEAA-39BD-396B-85334BC45E9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82652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slide. Thank the judges, open for Q&amp;A. Be ready for 5+ minutes of questions from Airbus experts.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4.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097280"/>
            <a:ext cx="7680960" cy="1097280"/>
          </a:xfrm>
          <a:prstGeom prst="rect">
            <a:avLst/>
          </a:prstGeom>
          <a:noFill/>
          <a:ln/>
        </p:spPr>
        <p:txBody>
          <a:bodyPr wrap="square" lIns="0" tIns="0" rIns="0" bIns="0" rtlCol="0" anchor="ctr"/>
          <a:lstStyle/>
          <a:p>
            <a:pPr marL="0" indent="0" algn="l">
              <a:buNone/>
            </a:pPr>
            <a:r>
              <a:rPr lang="en-US" sz="5400" b="1">
                <a:solidFill>
                  <a:srgbClr val="D4A017"/>
                </a:solidFill>
                <a:latin typeface="Source Sans Pro" pitchFamily="34" charset="0"/>
                <a:ea typeface="Source Sans Pro" pitchFamily="34" charset="-122"/>
                <a:cs typeface="Source Sans Pro" pitchFamily="34" charset="-120"/>
              </a:rPr>
              <a:t>RION</a:t>
            </a:r>
            <a:r>
              <a:rPr lang="en-US" sz="5400" b="1">
                <a:solidFill>
                  <a:srgbClr val="FFFFFF"/>
                </a:solidFill>
                <a:latin typeface="Source Sans Pro" pitchFamily="34" charset="0"/>
                <a:ea typeface="Source Sans Pro" pitchFamily="34" charset="-122"/>
                <a:cs typeface="Source Sans Pro" pitchFamily="34" charset="-120"/>
              </a:rPr>
              <a:t> Imaging</a:t>
            </a:r>
            <a:endParaRPr lang="en-US" sz="5400"/>
          </a:p>
        </p:txBody>
      </p:sp>
      <p:sp>
        <p:nvSpPr>
          <p:cNvPr id="4" name="Text 2"/>
          <p:cNvSpPr/>
          <p:nvPr/>
        </p:nvSpPr>
        <p:spPr>
          <a:xfrm>
            <a:off x="731520" y="2194560"/>
            <a:ext cx="7680960" cy="548640"/>
          </a:xfrm>
          <a:prstGeom prst="rect">
            <a:avLst/>
          </a:prstGeom>
          <a:noFill/>
          <a:ln/>
        </p:spPr>
        <p:txBody>
          <a:bodyPr wrap="square" lIns="0" tIns="0" rIns="0" bIns="0" rtlCol="0" anchor="ctr"/>
          <a:lstStyle/>
          <a:p>
            <a:pPr marL="0" indent="0" algn="l">
              <a:buNone/>
            </a:pPr>
            <a:r>
              <a:rPr lang="en-US" sz="2200" i="1">
                <a:solidFill>
                  <a:srgbClr val="4D9DE5"/>
                </a:solidFill>
                <a:latin typeface="Source Sans Pro" pitchFamily="34" charset="0"/>
                <a:ea typeface="Source Sans Pro" pitchFamily="34" charset="-122"/>
                <a:cs typeface="Source Sans Pro" pitchFamily="34" charset="-120"/>
              </a:rPr>
              <a:t>Real-time Terrain. Real-time Decisions.</a:t>
            </a:r>
            <a:endParaRPr lang="en-US" sz="2200"/>
          </a:p>
        </p:txBody>
      </p:sp>
      <p:sp>
        <p:nvSpPr>
          <p:cNvPr id="5" name="Shape 3"/>
          <p:cNvSpPr/>
          <p:nvPr/>
        </p:nvSpPr>
        <p:spPr>
          <a:xfrm>
            <a:off x="731520" y="2926080"/>
            <a:ext cx="2743200" cy="27432"/>
          </a:xfrm>
          <a:prstGeom prst="rect">
            <a:avLst/>
          </a:prstGeom>
          <a:solidFill>
            <a:srgbClr val="4D9DE5"/>
          </a:solidFill>
          <a:ln/>
        </p:spPr>
        <p:txBody>
          <a:bodyPr/>
          <a:lstStyle/>
          <a:p>
            <a:endParaRPr lang="en-CH"/>
          </a:p>
        </p:txBody>
      </p:sp>
      <p:sp>
        <p:nvSpPr>
          <p:cNvPr id="6" name="Text 4"/>
          <p:cNvSpPr/>
          <p:nvPr/>
        </p:nvSpPr>
        <p:spPr>
          <a:xfrm>
            <a:off x="731520" y="3200400"/>
            <a:ext cx="7315200" cy="457200"/>
          </a:xfrm>
          <a:prstGeom prst="rect">
            <a:avLst/>
          </a:prstGeom>
          <a:noFill/>
          <a:ln/>
        </p:spPr>
        <p:txBody>
          <a:bodyPr wrap="square" lIns="0" tIns="0" rIns="0" bIns="0" rtlCol="0" anchor="ctr"/>
          <a:lstStyle/>
          <a:p>
            <a:pPr marL="0" indent="0" algn="l">
              <a:buNone/>
            </a:pPr>
            <a:r>
              <a:rPr lang="en-US" sz="1800">
                <a:solidFill>
                  <a:srgbClr val="AAAAAA"/>
                </a:solidFill>
                <a:latin typeface="Source Sans Pro" pitchFamily="34" charset="0"/>
                <a:ea typeface="Source Sans Pro" pitchFamily="34" charset="-122"/>
                <a:cs typeface="Source Sans Pro" pitchFamily="34" charset="-120"/>
              </a:rPr>
              <a:t>A Dedicated Lunar Imaging Constellation</a:t>
            </a:r>
            <a:endParaRPr lang="en-US" sz="1800"/>
          </a:p>
        </p:txBody>
      </p:sp>
      <p:sp>
        <p:nvSpPr>
          <p:cNvPr id="7" name="Text 5"/>
          <p:cNvSpPr/>
          <p:nvPr/>
        </p:nvSpPr>
        <p:spPr>
          <a:xfrm>
            <a:off x="731520" y="3840480"/>
            <a:ext cx="7315200" cy="365760"/>
          </a:xfrm>
          <a:prstGeom prst="rect">
            <a:avLst/>
          </a:prstGeom>
          <a:noFill/>
          <a:ln/>
        </p:spPr>
        <p:txBody>
          <a:bodyPr wrap="square" lIns="0" tIns="0" rIns="0" bIns="0" rtlCol="0" anchor="ctr"/>
          <a:lstStyle/>
          <a:p>
            <a:pPr marL="0" indent="0" algn="l">
              <a:buNone/>
            </a:pPr>
            <a:r>
              <a:rPr lang="en-US" sz="1300">
                <a:solidFill>
                  <a:srgbClr val="666666"/>
                </a:solidFill>
                <a:latin typeface="Source Sans Pro" pitchFamily="34" charset="0"/>
                <a:ea typeface="Source Sans Pro" pitchFamily="34" charset="-122"/>
                <a:cs typeface="Source Sans Pro" pitchFamily="34" charset="-120"/>
              </a:rPr>
              <a:t>Airbus Space Competition 25/26  ·  Team 31  ·  Finals Day</a:t>
            </a:r>
            <a:endParaRPr lang="en-US" sz="1300"/>
          </a:p>
        </p:txBody>
      </p:sp>
      <p:sp>
        <p:nvSpPr>
          <p:cNvPr id="8" name="Shape 6"/>
          <p:cNvSpPr/>
          <p:nvPr/>
        </p:nvSpPr>
        <p:spPr>
          <a:xfrm>
            <a:off x="0" y="4914900"/>
            <a:ext cx="9144000" cy="228600"/>
          </a:xfrm>
          <a:prstGeom prst="rect">
            <a:avLst/>
          </a:prstGeom>
          <a:solidFill>
            <a:srgbClr val="D4A017"/>
          </a:solidFill>
          <a:ln/>
        </p:spPr>
        <p:txBody>
          <a:bodyPr/>
          <a:lstStyle/>
          <a:p>
            <a:endParaRPr lang="en-CH"/>
          </a:p>
        </p:txBody>
      </p:sp>
      <p:pic>
        <p:nvPicPr>
          <p:cNvPr id="11" name="Picture 10" descr="A logo of a space ship&#10;&#10;AI-generated content may be incorrect.">
            <a:extLst>
              <a:ext uri="{FF2B5EF4-FFF2-40B4-BE49-F238E27FC236}">
                <a16:creationId xmlns:a16="http://schemas.microsoft.com/office/drawing/2014/main" id="{768C8035-C4C9-E66E-B0F7-57E7992FFFCF}"/>
              </a:ext>
            </a:extLst>
          </p:cNvPr>
          <p:cNvPicPr>
            <a:picLocks noChangeAspect="1"/>
          </p:cNvPicPr>
          <p:nvPr/>
        </p:nvPicPr>
        <p:blipFill>
          <a:blip r:embed="rId3"/>
          <a:stretch>
            <a:fillRect/>
          </a:stretch>
        </p:blipFill>
        <p:spPr>
          <a:xfrm>
            <a:off x="5668517" y="1188720"/>
            <a:ext cx="2743963" cy="2720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097280"/>
            <a:ext cx="1828800" cy="914400"/>
          </a:xfrm>
          <a:prstGeom prst="rect">
            <a:avLst/>
          </a:prstGeom>
          <a:noFill/>
          <a:ln/>
        </p:spPr>
        <p:txBody>
          <a:bodyPr wrap="square" lIns="0" tIns="0" rIns="0" bIns="0" rtlCol="0" anchor="ctr"/>
          <a:lstStyle/>
          <a:p>
            <a:pPr marL="0" indent="0" algn="l">
              <a:buNone/>
            </a:pPr>
            <a:r>
              <a:rPr lang="en-US" sz="6000">
                <a:solidFill>
                  <a:srgbClr val="4D9DE5"/>
                </a:solidFill>
                <a:latin typeface="Source Sans Pro" pitchFamily="34" charset="0"/>
                <a:ea typeface="Source Sans Pro" pitchFamily="34" charset="-122"/>
                <a:cs typeface="Source Sans Pro" pitchFamily="34" charset="-120"/>
              </a:rPr>
              <a:t>01</a:t>
            </a:r>
            <a:endParaRPr lang="en-US" sz="6000"/>
          </a:p>
        </p:txBody>
      </p:sp>
      <p:sp>
        <p:nvSpPr>
          <p:cNvPr id="4" name="Text 2"/>
          <p:cNvSpPr/>
          <p:nvPr/>
        </p:nvSpPr>
        <p:spPr>
          <a:xfrm>
            <a:off x="731520" y="2011680"/>
            <a:ext cx="7315200" cy="731520"/>
          </a:xfrm>
          <a:prstGeom prst="rect">
            <a:avLst/>
          </a:prstGeom>
          <a:noFill/>
          <a:ln/>
        </p:spPr>
        <p:txBody>
          <a:bodyPr wrap="square" lIns="0" tIns="0" rIns="0" bIns="0" rtlCol="0" anchor="ctr"/>
          <a:lstStyle/>
          <a:p>
            <a:pPr marL="0" indent="0" algn="l">
              <a:buNone/>
            </a:pPr>
            <a:r>
              <a:rPr lang="en-US" sz="3800" b="1">
                <a:solidFill>
                  <a:srgbClr val="FFFFFF"/>
                </a:solidFill>
                <a:latin typeface="Source Sans Pro" pitchFamily="34" charset="0"/>
                <a:ea typeface="Source Sans Pro" pitchFamily="34" charset="-122"/>
                <a:cs typeface="Source Sans Pro" pitchFamily="34" charset="-120"/>
              </a:rPr>
              <a:t>The Concept</a:t>
            </a:r>
            <a:endParaRPr lang="en-US" sz="3800"/>
          </a:p>
        </p:txBody>
      </p:sp>
      <p:sp>
        <p:nvSpPr>
          <p:cNvPr id="5" name="Text 3"/>
          <p:cNvSpPr/>
          <p:nvPr/>
        </p:nvSpPr>
        <p:spPr>
          <a:xfrm>
            <a:off x="731520" y="2834640"/>
            <a:ext cx="7315200" cy="457200"/>
          </a:xfrm>
          <a:prstGeom prst="rect">
            <a:avLst/>
          </a:prstGeom>
          <a:noFill/>
          <a:ln/>
        </p:spPr>
        <p:txBody>
          <a:bodyPr wrap="square" lIns="0" tIns="0" rIns="0" bIns="0" rtlCol="0" anchor="ctr"/>
          <a:lstStyle/>
          <a:p>
            <a:pPr marL="0" indent="0" algn="l">
              <a:buNone/>
            </a:pPr>
            <a:r>
              <a:rPr lang="en-US" sz="1600">
                <a:solidFill>
                  <a:srgbClr val="AAAAAA"/>
                </a:solidFill>
                <a:latin typeface="Source Sans Pro" pitchFamily="34" charset="0"/>
                <a:ea typeface="Source Sans Pro" pitchFamily="34" charset="-122"/>
                <a:cs typeface="Source Sans Pro" pitchFamily="34" charset="-120"/>
              </a:rPr>
              <a:t>What is RION Imaging and why does it matter?</a:t>
            </a:r>
            <a:endParaRPr lang="en-US" sz="1600"/>
          </a:p>
        </p:txBody>
      </p:sp>
      <p:sp>
        <p:nvSpPr>
          <p:cNvPr id="6" name="Shape 4"/>
          <p:cNvSpPr/>
          <p:nvPr/>
        </p:nvSpPr>
        <p:spPr>
          <a:xfrm>
            <a:off x="731520" y="3474720"/>
            <a:ext cx="1828800" cy="27432"/>
          </a:xfrm>
          <a:prstGeom prst="rect">
            <a:avLst/>
          </a:prstGeom>
          <a:solidFill>
            <a:srgbClr val="D4A017"/>
          </a:solidFill>
          <a:ln/>
        </p:spPr>
        <p:txBody>
          <a:bodyPr/>
          <a:lstStyle/>
          <a:p>
            <a:endParaRPr lang="en-CH"/>
          </a:p>
        </p:txBody>
      </p:sp>
      <p:sp>
        <p:nvSpPr>
          <p:cNvPr id="8" name="Shape 5"/>
          <p:cNvSpPr/>
          <p:nvPr/>
        </p:nvSpPr>
        <p:spPr>
          <a:xfrm>
            <a:off x="0" y="4914900"/>
            <a:ext cx="9144000" cy="228600"/>
          </a:xfrm>
          <a:prstGeom prst="rect">
            <a:avLst/>
          </a:prstGeom>
          <a:solidFill>
            <a:srgbClr val="1A1A1A"/>
          </a:solidFill>
          <a:ln/>
        </p:spPr>
        <p:txBody>
          <a:bodyPr/>
          <a:lstStyle/>
          <a:p>
            <a:endParaRPr lang="en-CH"/>
          </a:p>
        </p:txBody>
      </p:sp>
      <p:sp>
        <p:nvSpPr>
          <p:cNvPr id="9" name="Text 6"/>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Source Sans Pro" pitchFamily="34" charset="0"/>
                <a:ea typeface="Source Sans Pro" pitchFamily="34" charset="-122"/>
                <a:cs typeface="Source Sans Pro" pitchFamily="34" charset="-120"/>
              </a:rPr>
              <a:t>The Problem</a:t>
            </a:r>
            <a:endParaRPr lang="en-US" sz="3200"/>
          </a:p>
        </p:txBody>
      </p:sp>
      <p:sp>
        <p:nvSpPr>
          <p:cNvPr id="4" name="Shape 2"/>
          <p:cNvSpPr/>
          <p:nvPr/>
        </p:nvSpPr>
        <p:spPr>
          <a:xfrm>
            <a:off x="457200" y="1188720"/>
            <a:ext cx="2606040" cy="292608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457200" y="1188720"/>
            <a:ext cx="2606040" cy="54864"/>
          </a:xfrm>
          <a:prstGeom prst="rect">
            <a:avLst/>
          </a:prstGeom>
          <a:solidFill>
            <a:srgbClr val="D4A017"/>
          </a:solidFill>
          <a:ln/>
        </p:spPr>
        <p:txBody>
          <a:bodyPr/>
          <a:lstStyle/>
          <a:p>
            <a:endParaRPr lang="en-CH"/>
          </a:p>
        </p:txBody>
      </p:sp>
      <p:pic>
        <p:nvPicPr>
          <p:cNvPr id="6" name="Image 0" descr="preencoded.png"/>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1417320" y="1508760"/>
            <a:ext cx="640080" cy="640080"/>
          </a:xfrm>
          <a:prstGeom prst="rect">
            <a:avLst/>
          </a:prstGeom>
        </p:spPr>
      </p:pic>
      <p:sp>
        <p:nvSpPr>
          <p:cNvPr id="7" name="Text 4"/>
          <p:cNvSpPr/>
          <p:nvPr/>
        </p:nvSpPr>
        <p:spPr>
          <a:xfrm>
            <a:off x="640080" y="2331720"/>
            <a:ext cx="2240280" cy="457200"/>
          </a:xfrm>
          <a:prstGeom prst="rect">
            <a:avLst/>
          </a:prstGeom>
          <a:noFill/>
          <a:ln/>
        </p:spPr>
        <p:txBody>
          <a:bodyPr wrap="square" lIns="0" tIns="0" rIns="0" bIns="0" rtlCol="0" anchor="ctr"/>
          <a:lstStyle/>
          <a:p>
            <a:pPr marL="0" indent="0" algn="ctr">
              <a:buNone/>
            </a:pPr>
            <a:r>
              <a:rPr lang="en-US" sz="1800">
                <a:solidFill>
                  <a:srgbClr val="FFFFFF"/>
                </a:solidFill>
                <a:latin typeface="Source Sans Pro" pitchFamily="34" charset="0"/>
                <a:ea typeface="Source Sans Pro" pitchFamily="34" charset="-122"/>
                <a:cs typeface="Source Sans Pro" pitchFamily="34" charset="-120"/>
              </a:rPr>
              <a:t>Infrequent</a:t>
            </a:r>
            <a:endParaRPr lang="en-US" sz="1800"/>
          </a:p>
        </p:txBody>
      </p:sp>
      <p:sp>
        <p:nvSpPr>
          <p:cNvPr id="8" name="Text 5"/>
          <p:cNvSpPr/>
          <p:nvPr/>
        </p:nvSpPr>
        <p:spPr>
          <a:xfrm>
            <a:off x="640080" y="2834640"/>
            <a:ext cx="2240280" cy="1097280"/>
          </a:xfrm>
          <a:prstGeom prst="rect">
            <a:avLst/>
          </a:prstGeom>
          <a:noFill/>
          <a:ln/>
        </p:spPr>
        <p:txBody>
          <a:bodyPr wrap="square" lIns="0" tIns="0" rIns="0" bIns="0" rtlCol="0" anchor="ctr"/>
          <a:lstStyle/>
          <a:p>
            <a:pPr marL="0" indent="0" algn="ctr">
              <a:buNone/>
            </a:pPr>
            <a:r>
              <a:rPr lang="en-US" sz="1200">
                <a:solidFill>
                  <a:srgbClr val="AAAAAA"/>
                </a:solidFill>
                <a:latin typeface="Source Sans Pro" pitchFamily="34" charset="0"/>
                <a:ea typeface="Source Sans Pro" pitchFamily="34" charset="-122"/>
                <a:cs typeface="Source Sans Pro" pitchFamily="34" charset="-120"/>
              </a:rPr>
              <a:t>Current lunar imaging is limited in scope and low frequency..</a:t>
            </a:r>
            <a:endParaRPr lang="en-US" sz="1200"/>
          </a:p>
        </p:txBody>
      </p:sp>
      <p:sp>
        <p:nvSpPr>
          <p:cNvPr id="9" name="Shape 6"/>
          <p:cNvSpPr/>
          <p:nvPr/>
        </p:nvSpPr>
        <p:spPr>
          <a:xfrm>
            <a:off x="3291840" y="1188720"/>
            <a:ext cx="2606040" cy="292608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0" name="Shape 7"/>
          <p:cNvSpPr/>
          <p:nvPr/>
        </p:nvSpPr>
        <p:spPr>
          <a:xfrm>
            <a:off x="3291840" y="1188720"/>
            <a:ext cx="2606040" cy="54864"/>
          </a:xfrm>
          <a:prstGeom prst="rect">
            <a:avLst/>
          </a:prstGeom>
          <a:solidFill>
            <a:srgbClr val="C00000"/>
          </a:solidFill>
          <a:ln/>
        </p:spPr>
        <p:txBody>
          <a:bodyPr/>
          <a:lstStyle/>
          <a:p>
            <a:endParaRPr lang="en-CH"/>
          </a:p>
        </p:txBody>
      </p:sp>
      <p:pic>
        <p:nvPicPr>
          <p:cNvPr id="11" name="Image 1" descr="preencoded.png"/>
          <p:cNvPicPr>
            <a:picLocks noChangeAspect="1"/>
          </p:cNvPicPr>
          <p:nvPr/>
        </p:nvPicPr>
        <p:blipFill>
          <a:blip r:embed="rId5">
            <a:duotone>
              <a:prstClr val="black"/>
              <a:srgbClr val="FF0000">
                <a:tint val="45000"/>
                <a:satMod val="400000"/>
              </a:srgbClr>
            </a:duotone>
          </a:blip>
          <a:stretch>
            <a:fillRect/>
          </a:stretch>
        </p:blipFill>
        <p:spPr>
          <a:xfrm>
            <a:off x="4251960" y="1508760"/>
            <a:ext cx="640080" cy="640080"/>
          </a:xfrm>
          <a:prstGeom prst="rect">
            <a:avLst/>
          </a:prstGeom>
          <a:noFill/>
        </p:spPr>
      </p:pic>
      <p:sp>
        <p:nvSpPr>
          <p:cNvPr id="12" name="Text 8"/>
          <p:cNvSpPr/>
          <p:nvPr/>
        </p:nvSpPr>
        <p:spPr>
          <a:xfrm>
            <a:off x="3474720" y="2331720"/>
            <a:ext cx="2240280" cy="457200"/>
          </a:xfrm>
          <a:prstGeom prst="rect">
            <a:avLst/>
          </a:prstGeom>
          <a:noFill/>
          <a:ln/>
        </p:spPr>
        <p:txBody>
          <a:bodyPr wrap="square" lIns="0" tIns="0" rIns="0" bIns="0" rtlCol="0" anchor="ctr"/>
          <a:lstStyle/>
          <a:p>
            <a:pPr marL="0" indent="0" algn="ctr">
              <a:buNone/>
            </a:pPr>
            <a:r>
              <a:rPr lang="en-US" sz="1800">
                <a:solidFill>
                  <a:srgbClr val="FFFFFF"/>
                </a:solidFill>
                <a:latin typeface="Source Sans Pro" pitchFamily="34" charset="0"/>
                <a:ea typeface="Source Sans Pro" pitchFamily="34" charset="-122"/>
                <a:cs typeface="Source Sans Pro" pitchFamily="34" charset="-120"/>
              </a:rPr>
              <a:t>Outdated</a:t>
            </a:r>
            <a:endParaRPr lang="en-US" sz="1800"/>
          </a:p>
        </p:txBody>
      </p:sp>
      <p:sp>
        <p:nvSpPr>
          <p:cNvPr id="13" name="Text 9"/>
          <p:cNvSpPr/>
          <p:nvPr/>
        </p:nvSpPr>
        <p:spPr>
          <a:xfrm>
            <a:off x="3474720" y="2834640"/>
            <a:ext cx="2240280" cy="1097280"/>
          </a:xfrm>
          <a:prstGeom prst="rect">
            <a:avLst/>
          </a:prstGeom>
          <a:noFill/>
          <a:ln/>
        </p:spPr>
        <p:txBody>
          <a:bodyPr wrap="square" lIns="0" tIns="0" rIns="0" bIns="0" rtlCol="0" anchor="ctr"/>
          <a:lstStyle/>
          <a:p>
            <a:pPr marL="0" indent="0" algn="ctr">
              <a:buNone/>
            </a:pPr>
            <a:r>
              <a:rPr lang="en-US" sz="1200">
                <a:solidFill>
                  <a:srgbClr val="AAAAAA"/>
                </a:solidFill>
                <a:latin typeface="Source Sans Pro" pitchFamily="34" charset="0"/>
                <a:ea typeface="Source Sans Pro" pitchFamily="34" charset="-122"/>
                <a:cs typeface="Source Sans Pro" pitchFamily="34" charset="-120"/>
              </a:rPr>
              <a:t>Existing lunar data and infrastructure is old. Operators planning missions lack current surface intelligence.</a:t>
            </a:r>
            <a:endParaRPr lang="en-US" sz="1200"/>
          </a:p>
        </p:txBody>
      </p:sp>
      <p:sp>
        <p:nvSpPr>
          <p:cNvPr id="14" name="Shape 10"/>
          <p:cNvSpPr/>
          <p:nvPr/>
        </p:nvSpPr>
        <p:spPr>
          <a:xfrm>
            <a:off x="6126480" y="1188720"/>
            <a:ext cx="2606040" cy="292608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5" name="Shape 11"/>
          <p:cNvSpPr/>
          <p:nvPr/>
        </p:nvSpPr>
        <p:spPr>
          <a:xfrm>
            <a:off x="6126480" y="1188720"/>
            <a:ext cx="2606040" cy="54864"/>
          </a:xfrm>
          <a:prstGeom prst="rect">
            <a:avLst/>
          </a:prstGeom>
          <a:solidFill>
            <a:schemeClr val="accent6"/>
          </a:solidFill>
          <a:ln/>
        </p:spPr>
        <p:txBody>
          <a:bodyPr/>
          <a:lstStyle/>
          <a:p>
            <a:endParaRPr lang="en-CH"/>
          </a:p>
        </p:txBody>
      </p:sp>
      <p:pic>
        <p:nvPicPr>
          <p:cNvPr id="16" name="Image 2" descr="preencoded.png"/>
          <p:cNvPicPr>
            <a:picLocks noChangeAspect="1"/>
          </p:cNvPicPr>
          <p:nvPr/>
        </p:nvPicPr>
        <p:blipFill>
          <a:blip r:embed="rId6">
            <a:duotone>
              <a:prstClr val="black"/>
              <a:schemeClr val="accent6">
                <a:tint val="45000"/>
                <a:satMod val="400000"/>
              </a:schemeClr>
            </a:duotone>
          </a:blip>
          <a:stretch>
            <a:fillRect/>
          </a:stretch>
        </p:blipFill>
        <p:spPr>
          <a:xfrm>
            <a:off x="7086600" y="1508760"/>
            <a:ext cx="640080" cy="640080"/>
          </a:xfrm>
          <a:prstGeom prst="rect">
            <a:avLst/>
          </a:prstGeom>
        </p:spPr>
      </p:pic>
      <p:sp>
        <p:nvSpPr>
          <p:cNvPr id="17" name="Text 12"/>
          <p:cNvSpPr/>
          <p:nvPr/>
        </p:nvSpPr>
        <p:spPr>
          <a:xfrm>
            <a:off x="6309360" y="2331720"/>
            <a:ext cx="224028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ource Sans Pro" pitchFamily="34" charset="0"/>
                <a:ea typeface="Source Sans Pro" pitchFamily="34" charset="-122"/>
                <a:cs typeface="Source Sans Pro" pitchFamily="34" charset="-120"/>
              </a:rPr>
              <a:t>Not </a:t>
            </a:r>
            <a:r>
              <a:rPr lang="en-US" dirty="0">
                <a:solidFill>
                  <a:srgbClr val="FFFFFF"/>
                </a:solidFill>
                <a:latin typeface="Source Sans Pro" pitchFamily="34" charset="0"/>
                <a:ea typeface="Source Sans Pro" pitchFamily="34" charset="-122"/>
                <a:cs typeface="Source Sans Pro" pitchFamily="34" charset="-120"/>
              </a:rPr>
              <a:t>dedicated</a:t>
            </a:r>
            <a:endParaRPr lang="en-US" sz="1800" dirty="0"/>
          </a:p>
        </p:txBody>
      </p:sp>
      <p:sp>
        <p:nvSpPr>
          <p:cNvPr id="18" name="Text 13"/>
          <p:cNvSpPr/>
          <p:nvPr/>
        </p:nvSpPr>
        <p:spPr>
          <a:xfrm>
            <a:off x="6309360" y="2834640"/>
            <a:ext cx="2240280" cy="1097280"/>
          </a:xfrm>
          <a:prstGeom prst="rect">
            <a:avLst/>
          </a:prstGeom>
          <a:noFill/>
          <a:ln/>
        </p:spPr>
        <p:txBody>
          <a:bodyPr wrap="square" lIns="0" tIns="0" rIns="0" bIns="0" rtlCol="0" anchor="ctr"/>
          <a:lstStyle/>
          <a:p>
            <a:pPr marL="0" indent="0" algn="ctr">
              <a:buNone/>
            </a:pPr>
            <a:r>
              <a:rPr lang="en-US" sz="1200">
                <a:solidFill>
                  <a:srgbClr val="AAAAAA"/>
                </a:solidFill>
                <a:latin typeface="Source Sans Pro" pitchFamily="34" charset="0"/>
                <a:ea typeface="Source Sans Pro" pitchFamily="34" charset="-122"/>
                <a:cs typeface="Source Sans Pro" pitchFamily="34" charset="-120"/>
              </a:rPr>
              <a:t>No dedicated imaging infrastructure exists for the Moon. Each mission must bring its own imaging capability if it needs it.</a:t>
            </a:r>
            <a:endParaRPr lang="en-US" sz="1200"/>
          </a:p>
        </p:txBody>
      </p:sp>
      <p:sp>
        <p:nvSpPr>
          <p:cNvPr id="19" name="Text 14"/>
          <p:cNvSpPr/>
          <p:nvPr/>
        </p:nvSpPr>
        <p:spPr>
          <a:xfrm>
            <a:off x="457200" y="4297680"/>
            <a:ext cx="8229600" cy="457200"/>
          </a:xfrm>
          <a:prstGeom prst="rect">
            <a:avLst/>
          </a:prstGeom>
          <a:noFill/>
          <a:ln/>
        </p:spPr>
        <p:txBody>
          <a:bodyPr wrap="square" lIns="0" tIns="0" rIns="0" bIns="0" rtlCol="0" anchor="ctr"/>
          <a:lstStyle/>
          <a:p>
            <a:pPr marL="0" indent="0" algn="ctr">
              <a:buNone/>
            </a:pPr>
            <a:r>
              <a:rPr lang="en-US" sz="1200" i="1">
                <a:solidFill>
                  <a:srgbClr val="4D9DE5"/>
                </a:solidFill>
                <a:latin typeface="Source Sans Pro" pitchFamily="34" charset="0"/>
                <a:ea typeface="Source Sans Pro" pitchFamily="34" charset="-122"/>
                <a:cs typeface="Source Sans Pro" pitchFamily="34" charset="-120"/>
              </a:rPr>
              <a:t>The Moon will become a hub for scientific, commercial, and logistical missions — but operators lack continuous, reliable surface information.</a:t>
            </a:r>
            <a:endParaRPr lang="en-US" sz="1200"/>
          </a:p>
        </p:txBody>
      </p:sp>
      <p:sp>
        <p:nvSpPr>
          <p:cNvPr id="20" name="Shape 15"/>
          <p:cNvSpPr/>
          <p:nvPr/>
        </p:nvSpPr>
        <p:spPr>
          <a:xfrm>
            <a:off x="35560" y="4914900"/>
            <a:ext cx="9144000" cy="228600"/>
          </a:xfrm>
          <a:prstGeom prst="rect">
            <a:avLst/>
          </a:prstGeom>
          <a:solidFill>
            <a:srgbClr val="1A1A1A"/>
          </a:solidFill>
          <a:ln/>
        </p:spPr>
        <p:txBody>
          <a:bodyPr/>
          <a:lstStyle/>
          <a:p>
            <a:endParaRPr lang="en-CH"/>
          </a:p>
        </p:txBody>
      </p:sp>
      <p:sp>
        <p:nvSpPr>
          <p:cNvPr id="21" name="Text 16"/>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Source Sans Pro" pitchFamily="34" charset="0"/>
                <a:ea typeface="Source Sans Pro" pitchFamily="34" charset="-122"/>
                <a:cs typeface="Source Sans Pro" pitchFamily="34" charset="-120"/>
              </a:rPr>
              <a:t>Our Solution</a:t>
            </a:r>
            <a:endParaRPr lang="en-US" sz="3200"/>
          </a:p>
        </p:txBody>
      </p:sp>
      <p:sp>
        <p:nvSpPr>
          <p:cNvPr id="4" name="Shape 2"/>
          <p:cNvSpPr/>
          <p:nvPr/>
        </p:nvSpPr>
        <p:spPr>
          <a:xfrm>
            <a:off x="457200" y="1188720"/>
            <a:ext cx="4114800" cy="320040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457200" y="1188720"/>
            <a:ext cx="64008" cy="3200400"/>
          </a:xfrm>
          <a:prstGeom prst="rect">
            <a:avLst/>
          </a:prstGeom>
          <a:solidFill>
            <a:srgbClr val="4D9DE5"/>
          </a:solidFill>
          <a:ln/>
        </p:spPr>
        <p:txBody>
          <a:bodyPr/>
          <a:lstStyle/>
          <a:p>
            <a:endParaRPr lang="en-CH"/>
          </a:p>
        </p:txBody>
      </p:sp>
      <p:sp>
        <p:nvSpPr>
          <p:cNvPr id="6" name="Text 4"/>
          <p:cNvSpPr/>
          <p:nvPr/>
        </p:nvSpPr>
        <p:spPr>
          <a:xfrm>
            <a:off x="777240" y="1371600"/>
            <a:ext cx="3566160" cy="822960"/>
          </a:xfrm>
          <a:prstGeom prst="rect">
            <a:avLst/>
          </a:prstGeom>
          <a:noFill/>
          <a:ln/>
        </p:spPr>
        <p:txBody>
          <a:bodyPr wrap="square" lIns="0" tIns="0" rIns="0" bIns="0" rtlCol="0" anchor="ctr"/>
          <a:lstStyle/>
          <a:p>
            <a:pPr marL="0" indent="0">
              <a:buNone/>
            </a:pPr>
            <a:r>
              <a:rPr lang="en-US" sz="1700">
                <a:solidFill>
                  <a:srgbClr val="FFFFFF"/>
                </a:solidFill>
                <a:latin typeface="Source Sans Pro" pitchFamily="34" charset="0"/>
                <a:ea typeface="Source Sans Pro" pitchFamily="34" charset="-122"/>
                <a:cs typeface="Source Sans Pro" pitchFamily="34" charset="-120"/>
              </a:rPr>
              <a:t>A dedicated, multi-orbit microsat constellation in low lunar orbit</a:t>
            </a:r>
            <a:endParaRPr lang="en-US" sz="1700"/>
          </a:p>
        </p:txBody>
      </p:sp>
      <p:pic>
        <p:nvPicPr>
          <p:cNvPr id="7" name="Image 0" descr="preencoded.png"/>
          <p:cNvPicPr>
            <a:picLocks noChangeAspect="1"/>
          </p:cNvPicPr>
          <p:nvPr/>
        </p:nvPicPr>
        <p:blipFill>
          <a:blip r:embed="rId3"/>
          <a:stretch>
            <a:fillRect/>
          </a:stretch>
        </p:blipFill>
        <p:spPr>
          <a:xfrm>
            <a:off x="777240" y="2331720"/>
            <a:ext cx="228600" cy="228600"/>
          </a:xfrm>
          <a:prstGeom prst="rect">
            <a:avLst/>
          </a:prstGeom>
        </p:spPr>
      </p:pic>
      <p:sp>
        <p:nvSpPr>
          <p:cNvPr id="8" name="Text 5"/>
          <p:cNvSpPr/>
          <p:nvPr/>
        </p:nvSpPr>
        <p:spPr>
          <a:xfrm>
            <a:off x="1097280" y="2286000"/>
            <a:ext cx="3291840" cy="36576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Continuous high-resolution optical &amp; IR coverage</a:t>
            </a:r>
            <a:endParaRPr lang="en-US" sz="1200"/>
          </a:p>
        </p:txBody>
      </p:sp>
      <p:pic>
        <p:nvPicPr>
          <p:cNvPr id="9" name="Image 1" descr="preencoded.png"/>
          <p:cNvPicPr>
            <a:picLocks noChangeAspect="1"/>
          </p:cNvPicPr>
          <p:nvPr/>
        </p:nvPicPr>
        <p:blipFill>
          <a:blip r:embed="rId3"/>
          <a:stretch>
            <a:fillRect/>
          </a:stretch>
        </p:blipFill>
        <p:spPr>
          <a:xfrm>
            <a:off x="777240" y="2743200"/>
            <a:ext cx="228600" cy="228600"/>
          </a:xfrm>
          <a:prstGeom prst="rect">
            <a:avLst/>
          </a:prstGeom>
        </p:spPr>
      </p:pic>
      <p:sp>
        <p:nvSpPr>
          <p:cNvPr id="10" name="Text 6"/>
          <p:cNvSpPr/>
          <p:nvPr/>
        </p:nvSpPr>
        <p:spPr>
          <a:xfrm>
            <a:off x="1097280" y="2697480"/>
            <a:ext cx="3291840" cy="36576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Global lunar surface imaging</a:t>
            </a:r>
            <a:endParaRPr lang="en-US" sz="1200"/>
          </a:p>
        </p:txBody>
      </p:sp>
      <p:pic>
        <p:nvPicPr>
          <p:cNvPr id="11" name="Image 2" descr="preencoded.png"/>
          <p:cNvPicPr>
            <a:picLocks noChangeAspect="1"/>
          </p:cNvPicPr>
          <p:nvPr/>
        </p:nvPicPr>
        <p:blipFill>
          <a:blip r:embed="rId3"/>
          <a:stretch>
            <a:fillRect/>
          </a:stretch>
        </p:blipFill>
        <p:spPr>
          <a:xfrm>
            <a:off x="777240" y="3154680"/>
            <a:ext cx="228600" cy="228600"/>
          </a:xfrm>
          <a:prstGeom prst="rect">
            <a:avLst/>
          </a:prstGeom>
        </p:spPr>
      </p:pic>
      <p:sp>
        <p:nvSpPr>
          <p:cNvPr id="12" name="Text 7"/>
          <p:cNvSpPr/>
          <p:nvPr/>
        </p:nvSpPr>
        <p:spPr>
          <a:xfrm>
            <a:off x="1097280" y="3108960"/>
            <a:ext cx="3291840" cy="36576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Data relay through Lunar Gateway to Earth</a:t>
            </a:r>
            <a:endParaRPr lang="en-US" sz="1200"/>
          </a:p>
        </p:txBody>
      </p:sp>
      <p:pic>
        <p:nvPicPr>
          <p:cNvPr id="13" name="Image 3" descr="preencoded.png"/>
          <p:cNvPicPr>
            <a:picLocks noChangeAspect="1"/>
          </p:cNvPicPr>
          <p:nvPr/>
        </p:nvPicPr>
        <p:blipFill>
          <a:blip r:embed="rId3"/>
          <a:stretch>
            <a:fillRect/>
          </a:stretch>
        </p:blipFill>
        <p:spPr>
          <a:xfrm>
            <a:off x="777240" y="3566160"/>
            <a:ext cx="228600" cy="228600"/>
          </a:xfrm>
          <a:prstGeom prst="rect">
            <a:avLst/>
          </a:prstGeom>
        </p:spPr>
      </p:pic>
      <p:sp>
        <p:nvSpPr>
          <p:cNvPr id="14" name="Text 8"/>
          <p:cNvSpPr/>
          <p:nvPr/>
        </p:nvSpPr>
        <p:spPr>
          <a:xfrm>
            <a:off x="1097280" y="3520440"/>
            <a:ext cx="3291840" cy="36576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Rapid revisit times across all orbital planes</a:t>
            </a:r>
            <a:endParaRPr lang="en-US" sz="1200"/>
          </a:p>
        </p:txBody>
      </p:sp>
      <p:pic>
        <p:nvPicPr>
          <p:cNvPr id="15" name="Image 4" descr="preencoded.png"/>
          <p:cNvPicPr>
            <a:picLocks noChangeAspect="1"/>
          </p:cNvPicPr>
          <p:nvPr/>
        </p:nvPicPr>
        <p:blipFill>
          <a:blip r:embed="rId3"/>
          <a:stretch>
            <a:fillRect/>
          </a:stretch>
        </p:blipFill>
        <p:spPr>
          <a:xfrm>
            <a:off x="777240" y="3977640"/>
            <a:ext cx="228600" cy="228600"/>
          </a:xfrm>
          <a:prstGeom prst="rect">
            <a:avLst/>
          </a:prstGeom>
        </p:spPr>
      </p:pic>
      <p:sp>
        <p:nvSpPr>
          <p:cNvPr id="16" name="Text 9"/>
          <p:cNvSpPr/>
          <p:nvPr/>
        </p:nvSpPr>
        <p:spPr>
          <a:xfrm>
            <a:off x="1097280" y="3931920"/>
            <a:ext cx="3291840" cy="36576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No single point of failure</a:t>
            </a:r>
            <a:endParaRPr lang="en-US" sz="1200"/>
          </a:p>
        </p:txBody>
      </p:sp>
      <p:sp>
        <p:nvSpPr>
          <p:cNvPr id="17" name="Shape 10"/>
          <p:cNvSpPr/>
          <p:nvPr/>
        </p:nvSpPr>
        <p:spPr>
          <a:xfrm>
            <a:off x="4937760" y="1188720"/>
            <a:ext cx="3749040" cy="9601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pic>
        <p:nvPicPr>
          <p:cNvPr id="18" name="Image 5" descr="preencoded.png"/>
          <p:cNvPicPr>
            <a:picLocks noChangeAspect="1"/>
          </p:cNvPicPr>
          <p:nvPr/>
        </p:nvPicPr>
        <p:blipFill>
          <a:blip r:embed="rId4"/>
          <a:stretch>
            <a:fillRect/>
          </a:stretch>
        </p:blipFill>
        <p:spPr>
          <a:xfrm>
            <a:off x="5166360" y="1371600"/>
            <a:ext cx="502920" cy="502920"/>
          </a:xfrm>
          <a:prstGeom prst="rect">
            <a:avLst/>
          </a:prstGeom>
        </p:spPr>
      </p:pic>
      <p:sp>
        <p:nvSpPr>
          <p:cNvPr id="19" name="Text 11"/>
          <p:cNvSpPr/>
          <p:nvPr/>
        </p:nvSpPr>
        <p:spPr>
          <a:xfrm>
            <a:off x="5852160" y="1234440"/>
            <a:ext cx="2560320" cy="411480"/>
          </a:xfrm>
          <a:prstGeom prst="rect">
            <a:avLst/>
          </a:prstGeom>
          <a:noFill/>
          <a:ln/>
        </p:spPr>
        <p:txBody>
          <a:bodyPr wrap="square" lIns="0" tIns="0" rIns="0" bIns="0" rtlCol="0" anchor="ctr"/>
          <a:lstStyle/>
          <a:p>
            <a:pPr marL="0" indent="0">
              <a:buNone/>
            </a:pPr>
            <a:r>
              <a:rPr lang="en-US" sz="2200">
                <a:solidFill>
                  <a:srgbClr val="4D9DE5"/>
                </a:solidFill>
                <a:latin typeface="Source Sans Pro" pitchFamily="34" charset="0"/>
                <a:ea typeface="Source Sans Pro" pitchFamily="34" charset="-122"/>
                <a:cs typeface="Source Sans Pro" pitchFamily="34" charset="-120"/>
              </a:rPr>
              <a:t>CHEAP</a:t>
            </a:r>
            <a:endParaRPr lang="en-US" sz="2200"/>
          </a:p>
        </p:txBody>
      </p:sp>
      <p:sp>
        <p:nvSpPr>
          <p:cNvPr id="20" name="Text 12"/>
          <p:cNvSpPr/>
          <p:nvPr/>
        </p:nvSpPr>
        <p:spPr>
          <a:xfrm>
            <a:off x="5852160" y="1645920"/>
            <a:ext cx="2560320" cy="45720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2U CubeSat platform</a:t>
            </a:r>
            <a:endParaRPr lang="en-US" sz="1100"/>
          </a:p>
          <a:p>
            <a:pPr marL="0" indent="0">
              <a:buNone/>
            </a:pPr>
            <a:r>
              <a:rPr lang="en-US" sz="1100">
                <a:solidFill>
                  <a:srgbClr val="AAAAAA"/>
                </a:solidFill>
                <a:latin typeface="Source Sans Pro" pitchFamily="34" charset="0"/>
                <a:ea typeface="Source Sans Pro" pitchFamily="34" charset="-122"/>
                <a:cs typeface="Source Sans Pro" pitchFamily="34" charset="-120"/>
              </a:rPr>
              <a:t>reduces unit cost</a:t>
            </a:r>
            <a:endParaRPr lang="en-US" sz="1100"/>
          </a:p>
        </p:txBody>
      </p:sp>
      <p:sp>
        <p:nvSpPr>
          <p:cNvPr id="21" name="Shape 13"/>
          <p:cNvSpPr/>
          <p:nvPr/>
        </p:nvSpPr>
        <p:spPr>
          <a:xfrm>
            <a:off x="4937760" y="2286000"/>
            <a:ext cx="3749040" cy="9601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pic>
        <p:nvPicPr>
          <p:cNvPr id="22" name="Image 6" descr="preencoded.png"/>
          <p:cNvPicPr>
            <a:picLocks noChangeAspect="1"/>
          </p:cNvPicPr>
          <p:nvPr/>
        </p:nvPicPr>
        <p:blipFill>
          <a:blip r:embed="rId5"/>
          <a:stretch>
            <a:fillRect/>
          </a:stretch>
        </p:blipFill>
        <p:spPr>
          <a:xfrm>
            <a:off x="5166360" y="2468880"/>
            <a:ext cx="502920" cy="502920"/>
          </a:xfrm>
          <a:prstGeom prst="rect">
            <a:avLst/>
          </a:prstGeom>
        </p:spPr>
      </p:pic>
      <p:sp>
        <p:nvSpPr>
          <p:cNvPr id="23" name="Text 14"/>
          <p:cNvSpPr/>
          <p:nvPr/>
        </p:nvSpPr>
        <p:spPr>
          <a:xfrm>
            <a:off x="5852160" y="2331720"/>
            <a:ext cx="2560320" cy="411480"/>
          </a:xfrm>
          <a:prstGeom prst="rect">
            <a:avLst/>
          </a:prstGeom>
          <a:noFill/>
          <a:ln/>
        </p:spPr>
        <p:txBody>
          <a:bodyPr wrap="square" lIns="0" tIns="0" rIns="0" bIns="0" rtlCol="0" anchor="ctr"/>
          <a:lstStyle/>
          <a:p>
            <a:pPr marL="0" indent="0">
              <a:buNone/>
            </a:pPr>
            <a:r>
              <a:rPr lang="en-US" sz="2200">
                <a:solidFill>
                  <a:srgbClr val="4D9DE5"/>
                </a:solidFill>
                <a:latin typeface="Source Sans Pro" pitchFamily="34" charset="0"/>
                <a:ea typeface="Source Sans Pro" pitchFamily="34" charset="-122"/>
                <a:cs typeface="Source Sans Pro" pitchFamily="34" charset="-120"/>
              </a:rPr>
              <a:t>FAST</a:t>
            </a:r>
            <a:endParaRPr lang="en-US" sz="2200"/>
          </a:p>
        </p:txBody>
      </p:sp>
      <p:sp>
        <p:nvSpPr>
          <p:cNvPr id="24" name="Text 15"/>
          <p:cNvSpPr/>
          <p:nvPr/>
        </p:nvSpPr>
        <p:spPr>
          <a:xfrm>
            <a:off x="5852160" y="2743200"/>
            <a:ext cx="2560320" cy="45720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Rapid revisit &amp;</a:t>
            </a:r>
            <a:endParaRPr lang="en-US" sz="1100"/>
          </a:p>
          <a:p>
            <a:pPr marL="0" indent="0">
              <a:buNone/>
            </a:pPr>
            <a:r>
              <a:rPr lang="en-US" sz="1100">
                <a:solidFill>
                  <a:srgbClr val="AAAAAA"/>
                </a:solidFill>
                <a:latin typeface="Source Sans Pro" pitchFamily="34" charset="0"/>
                <a:ea typeface="Source Sans Pro" pitchFamily="34" charset="-122"/>
                <a:cs typeface="Source Sans Pro" pitchFamily="34" charset="-120"/>
              </a:rPr>
              <a:t>low-latency relay</a:t>
            </a:r>
            <a:endParaRPr lang="en-US" sz="1100"/>
          </a:p>
        </p:txBody>
      </p:sp>
      <p:sp>
        <p:nvSpPr>
          <p:cNvPr id="25" name="Shape 16"/>
          <p:cNvSpPr/>
          <p:nvPr/>
        </p:nvSpPr>
        <p:spPr>
          <a:xfrm>
            <a:off x="4937760" y="3383280"/>
            <a:ext cx="3749040" cy="9601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pic>
        <p:nvPicPr>
          <p:cNvPr id="26" name="Image 7" descr="preencoded.png"/>
          <p:cNvPicPr>
            <a:picLocks noChangeAspect="1"/>
          </p:cNvPicPr>
          <p:nvPr/>
        </p:nvPicPr>
        <p:blipFill>
          <a:blip r:embed="rId6"/>
          <a:stretch>
            <a:fillRect/>
          </a:stretch>
        </p:blipFill>
        <p:spPr>
          <a:xfrm>
            <a:off x="5166360" y="3566160"/>
            <a:ext cx="502920" cy="502920"/>
          </a:xfrm>
          <a:prstGeom prst="rect">
            <a:avLst/>
          </a:prstGeom>
        </p:spPr>
      </p:pic>
      <p:sp>
        <p:nvSpPr>
          <p:cNvPr id="27" name="Text 17"/>
          <p:cNvSpPr/>
          <p:nvPr/>
        </p:nvSpPr>
        <p:spPr>
          <a:xfrm>
            <a:off x="5852160" y="3429000"/>
            <a:ext cx="2560320" cy="411480"/>
          </a:xfrm>
          <a:prstGeom prst="rect">
            <a:avLst/>
          </a:prstGeom>
          <a:noFill/>
          <a:ln/>
        </p:spPr>
        <p:txBody>
          <a:bodyPr wrap="square" lIns="0" tIns="0" rIns="0" bIns="0" rtlCol="0" anchor="ctr"/>
          <a:lstStyle/>
          <a:p>
            <a:pPr marL="0" indent="0">
              <a:buNone/>
            </a:pPr>
            <a:r>
              <a:rPr lang="en-US" sz="2200">
                <a:solidFill>
                  <a:srgbClr val="4D9DE5"/>
                </a:solidFill>
                <a:latin typeface="Source Sans Pro" pitchFamily="34" charset="0"/>
                <a:ea typeface="Source Sans Pro" pitchFamily="34" charset="-122"/>
                <a:cs typeface="Source Sans Pro" pitchFamily="34" charset="-120"/>
              </a:rPr>
              <a:t>GLOBAL</a:t>
            </a:r>
            <a:endParaRPr lang="en-US" sz="2200"/>
          </a:p>
        </p:txBody>
      </p:sp>
      <p:sp>
        <p:nvSpPr>
          <p:cNvPr id="28" name="Text 18"/>
          <p:cNvSpPr/>
          <p:nvPr/>
        </p:nvSpPr>
        <p:spPr>
          <a:xfrm>
            <a:off x="5852160" y="3840480"/>
            <a:ext cx="2560320" cy="45720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Full lunar surface</a:t>
            </a:r>
            <a:endParaRPr lang="en-US" sz="1100"/>
          </a:p>
          <a:p>
            <a:pPr marL="0" indent="0">
              <a:buNone/>
            </a:pPr>
            <a:r>
              <a:rPr lang="en-US" sz="1100">
                <a:solidFill>
                  <a:srgbClr val="AAAAAA"/>
                </a:solidFill>
                <a:latin typeface="Source Sans Pro" pitchFamily="34" charset="0"/>
                <a:ea typeface="Source Sans Pro" pitchFamily="34" charset="-122"/>
                <a:cs typeface="Source Sans Pro" pitchFamily="34" charset="-120"/>
              </a:rPr>
              <a:t>coverage by 2045</a:t>
            </a:r>
            <a:endParaRPr lang="en-US" sz="1100"/>
          </a:p>
        </p:txBody>
      </p:sp>
      <p:sp>
        <p:nvSpPr>
          <p:cNvPr id="29" name="Shape 19"/>
          <p:cNvSpPr/>
          <p:nvPr/>
        </p:nvSpPr>
        <p:spPr>
          <a:xfrm>
            <a:off x="0" y="4914900"/>
            <a:ext cx="9144000" cy="228600"/>
          </a:xfrm>
          <a:prstGeom prst="rect">
            <a:avLst/>
          </a:prstGeom>
          <a:solidFill>
            <a:srgbClr val="1A1A1A"/>
          </a:solidFill>
          <a:ln/>
        </p:spPr>
        <p:txBody>
          <a:bodyPr/>
          <a:lstStyle/>
          <a:p>
            <a:endParaRPr lang="en-CH"/>
          </a:p>
        </p:txBody>
      </p:sp>
      <p:sp>
        <p:nvSpPr>
          <p:cNvPr id="30" name="Text 20"/>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097280"/>
            <a:ext cx="1828800" cy="914400"/>
          </a:xfrm>
          <a:prstGeom prst="rect">
            <a:avLst/>
          </a:prstGeom>
          <a:noFill/>
          <a:ln/>
        </p:spPr>
        <p:txBody>
          <a:bodyPr wrap="square" lIns="0" tIns="0" rIns="0" bIns="0" rtlCol="0" anchor="ctr"/>
          <a:lstStyle/>
          <a:p>
            <a:pPr marL="0" indent="0" algn="l">
              <a:buNone/>
            </a:pPr>
            <a:r>
              <a:rPr lang="en-US" sz="6000">
                <a:solidFill>
                  <a:srgbClr val="4D9DE5"/>
                </a:solidFill>
                <a:latin typeface="Source Sans Pro" pitchFamily="34" charset="0"/>
                <a:ea typeface="Source Sans Pro" pitchFamily="34" charset="-122"/>
                <a:cs typeface="Source Sans Pro" pitchFamily="34" charset="-120"/>
              </a:rPr>
              <a:t>02</a:t>
            </a:r>
            <a:endParaRPr lang="en-US" sz="6000"/>
          </a:p>
        </p:txBody>
      </p:sp>
      <p:sp>
        <p:nvSpPr>
          <p:cNvPr id="4" name="Text 2"/>
          <p:cNvSpPr/>
          <p:nvPr/>
        </p:nvSpPr>
        <p:spPr>
          <a:xfrm>
            <a:off x="731520" y="2011680"/>
            <a:ext cx="7315200" cy="731520"/>
          </a:xfrm>
          <a:prstGeom prst="rect">
            <a:avLst/>
          </a:prstGeom>
          <a:noFill/>
          <a:ln/>
        </p:spPr>
        <p:txBody>
          <a:bodyPr wrap="square" lIns="0" tIns="0" rIns="0" bIns="0" rtlCol="0" anchor="ctr"/>
          <a:lstStyle/>
          <a:p>
            <a:pPr marL="0" indent="0" algn="l">
              <a:buNone/>
            </a:pPr>
            <a:r>
              <a:rPr lang="en-US" sz="3800" b="1">
                <a:solidFill>
                  <a:srgbClr val="FFFFFF"/>
                </a:solidFill>
                <a:latin typeface="Source Sans Pro" pitchFamily="34" charset="0"/>
                <a:ea typeface="Source Sans Pro" pitchFamily="34" charset="-122"/>
                <a:cs typeface="Source Sans Pro" pitchFamily="34" charset="-120"/>
              </a:rPr>
              <a:t>Commercial Viability</a:t>
            </a:r>
            <a:endParaRPr lang="en-US" sz="3800"/>
          </a:p>
        </p:txBody>
      </p:sp>
      <p:sp>
        <p:nvSpPr>
          <p:cNvPr id="5" name="Text 3"/>
          <p:cNvSpPr/>
          <p:nvPr/>
        </p:nvSpPr>
        <p:spPr>
          <a:xfrm>
            <a:off x="731520" y="2834640"/>
            <a:ext cx="7315200" cy="457200"/>
          </a:xfrm>
          <a:prstGeom prst="rect">
            <a:avLst/>
          </a:prstGeom>
          <a:noFill/>
          <a:ln/>
        </p:spPr>
        <p:txBody>
          <a:bodyPr wrap="square" lIns="0" tIns="0" rIns="0" bIns="0" rtlCol="0" anchor="ctr"/>
          <a:lstStyle/>
          <a:p>
            <a:pPr marL="0" indent="0" algn="l">
              <a:buNone/>
            </a:pPr>
            <a:r>
              <a:rPr lang="en-US" sz="1600">
                <a:solidFill>
                  <a:srgbClr val="AAAAAA"/>
                </a:solidFill>
                <a:latin typeface="Source Sans Pro" pitchFamily="34" charset="0"/>
                <a:ea typeface="Source Sans Pro" pitchFamily="34" charset="-122"/>
                <a:cs typeface="Source Sans Pro" pitchFamily="34" charset="-120"/>
              </a:rPr>
              <a:t>Market study, potential clients, and threat assessment</a:t>
            </a:r>
            <a:endParaRPr lang="en-US" sz="1600"/>
          </a:p>
        </p:txBody>
      </p:sp>
      <p:sp>
        <p:nvSpPr>
          <p:cNvPr id="6" name="Shape 4"/>
          <p:cNvSpPr/>
          <p:nvPr/>
        </p:nvSpPr>
        <p:spPr>
          <a:xfrm>
            <a:off x="731520" y="3474720"/>
            <a:ext cx="1828800" cy="27432"/>
          </a:xfrm>
          <a:prstGeom prst="rect">
            <a:avLst/>
          </a:prstGeom>
          <a:solidFill>
            <a:srgbClr val="D4A017"/>
          </a:solidFill>
          <a:ln/>
        </p:spPr>
        <p:txBody>
          <a:bodyPr/>
          <a:lstStyle/>
          <a:p>
            <a:endParaRPr lang="en-CH"/>
          </a:p>
        </p:txBody>
      </p:sp>
      <p:sp>
        <p:nvSpPr>
          <p:cNvPr id="7" name="Shape 5"/>
          <p:cNvSpPr/>
          <p:nvPr/>
        </p:nvSpPr>
        <p:spPr>
          <a:xfrm>
            <a:off x="0" y="4914900"/>
            <a:ext cx="9144000" cy="228600"/>
          </a:xfrm>
          <a:prstGeom prst="rect">
            <a:avLst/>
          </a:prstGeom>
          <a:solidFill>
            <a:srgbClr val="1A1A1A"/>
          </a:solidFill>
          <a:ln/>
        </p:spPr>
        <p:txBody>
          <a:bodyPr/>
          <a:lstStyle/>
          <a:p>
            <a:endParaRPr lang="en-CH"/>
          </a:p>
        </p:txBody>
      </p:sp>
      <p:sp>
        <p:nvSpPr>
          <p:cNvPr id="8" name="Text 6"/>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Source Sans Pro" pitchFamily="34" charset="0"/>
                <a:ea typeface="Source Sans Pro" pitchFamily="34" charset="-122"/>
                <a:cs typeface="Source Sans Pro" pitchFamily="34" charset="-120"/>
              </a:rPr>
              <a:t>Market Study</a:t>
            </a:r>
            <a:endParaRPr lang="en-US" sz="3200"/>
          </a:p>
        </p:txBody>
      </p:sp>
      <p:sp>
        <p:nvSpPr>
          <p:cNvPr id="4" name="Shape 2"/>
          <p:cNvSpPr/>
          <p:nvPr/>
        </p:nvSpPr>
        <p:spPr>
          <a:xfrm>
            <a:off x="457200" y="1097280"/>
            <a:ext cx="3931920" cy="34747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457200" y="1097280"/>
            <a:ext cx="64008" cy="3474720"/>
          </a:xfrm>
          <a:prstGeom prst="rect">
            <a:avLst/>
          </a:prstGeom>
          <a:solidFill>
            <a:srgbClr val="4D9DE5"/>
          </a:solidFill>
          <a:ln/>
        </p:spPr>
        <p:txBody>
          <a:bodyPr/>
          <a:lstStyle/>
          <a:p>
            <a:endParaRPr lang="en-CH"/>
          </a:p>
        </p:txBody>
      </p:sp>
      <p:sp>
        <p:nvSpPr>
          <p:cNvPr id="6" name="Text 4"/>
          <p:cNvSpPr/>
          <p:nvPr/>
        </p:nvSpPr>
        <p:spPr>
          <a:xfrm>
            <a:off x="777240" y="1234440"/>
            <a:ext cx="3383280" cy="411480"/>
          </a:xfrm>
          <a:prstGeom prst="rect">
            <a:avLst/>
          </a:prstGeom>
          <a:noFill/>
          <a:ln/>
        </p:spPr>
        <p:txBody>
          <a:bodyPr wrap="square" lIns="0" tIns="0" rIns="0" bIns="0" rtlCol="0" anchor="ctr"/>
          <a:lstStyle/>
          <a:p>
            <a:pPr marL="0" indent="0">
              <a:buNone/>
            </a:pPr>
            <a:r>
              <a:rPr lang="en-US" sz="1600">
                <a:solidFill>
                  <a:srgbClr val="4D9DE5"/>
                </a:solidFill>
                <a:latin typeface="Source Sans Pro" pitchFamily="34" charset="0"/>
                <a:ea typeface="Source Sans Pro" pitchFamily="34" charset="-122"/>
                <a:cs typeface="Source Sans Pro" pitchFamily="34" charset="-120"/>
              </a:rPr>
              <a:t>Market Opportunity in 2045</a:t>
            </a:r>
            <a:endParaRPr lang="en-US" sz="1600"/>
          </a:p>
        </p:txBody>
      </p:sp>
      <p:sp>
        <p:nvSpPr>
          <p:cNvPr id="7" name="Text 5"/>
          <p:cNvSpPr/>
          <p:nvPr/>
        </p:nvSpPr>
        <p:spPr>
          <a:xfrm>
            <a:off x="777240" y="1440180"/>
            <a:ext cx="3383280" cy="2743200"/>
          </a:xfrm>
          <a:prstGeom prst="rect">
            <a:avLst/>
          </a:prstGeom>
          <a:noFill/>
          <a:ln/>
        </p:spPr>
        <p:txBody>
          <a:bodyPr wrap="square" lIns="0" tIns="0" rIns="0" bIns="0" rtlCol="0" anchor="ctr"/>
          <a:lstStyle/>
          <a:p>
            <a:pPr marL="0" indent="0">
              <a:buNone/>
            </a:pPr>
            <a:r>
              <a:rPr lang="en-US" sz="2800">
                <a:solidFill>
                  <a:srgbClr val="FFFFFF"/>
                </a:solidFill>
                <a:latin typeface="Source Sans Pro" pitchFamily="34" charset="0"/>
                <a:ea typeface="Source Sans Pro" pitchFamily="34" charset="-122"/>
                <a:cs typeface="Source Sans Pro" pitchFamily="34" charset="-120"/>
              </a:rPr>
              <a:t>£1.17B</a:t>
            </a:r>
            <a:endParaRPr lang="en-US" sz="2800"/>
          </a:p>
          <a:p>
            <a:pPr marL="0" indent="0">
              <a:buNone/>
            </a:pPr>
            <a:r>
              <a:rPr lang="en-US" sz="1100">
                <a:solidFill>
                  <a:srgbClr val="AAAAAA"/>
                </a:solidFill>
                <a:latin typeface="Source Sans Pro" pitchFamily="34" charset="0"/>
                <a:ea typeface="Source Sans Pro" pitchFamily="34" charset="-122"/>
                <a:cs typeface="Source Sans Pro" pitchFamily="34" charset="-120"/>
              </a:rPr>
              <a:t>Total Projected Addressable Market (annual)</a:t>
            </a:r>
            <a:endParaRPr lang="en-US" sz="2800"/>
          </a:p>
          <a:p>
            <a:pPr marL="0" indent="0">
              <a:buNone/>
            </a:pPr>
            <a:r>
              <a:rPr lang="en-US" sz="600">
                <a:solidFill>
                  <a:srgbClr val="000000"/>
                </a:solidFill>
              </a:rPr>
              <a:t>
</a:t>
            </a:r>
            <a:endParaRPr lang="en-US" sz="2800"/>
          </a:p>
          <a:p>
            <a:pPr marL="0" indent="0">
              <a:buNone/>
            </a:pPr>
            <a:r>
              <a:rPr lang="en-US" sz="2000">
                <a:solidFill>
                  <a:srgbClr val="4D9DE5"/>
                </a:solidFill>
                <a:latin typeface="Source Sans Pro" pitchFamily="34" charset="0"/>
                <a:ea typeface="Source Sans Pro" pitchFamily="34" charset="-122"/>
              </a:rPr>
              <a:t>£815M</a:t>
            </a:r>
            <a:endParaRPr lang="en-US" sz="2800"/>
          </a:p>
          <a:p>
            <a:pPr marL="0" indent="0">
              <a:buNone/>
            </a:pPr>
            <a:r>
              <a:rPr lang="en-US" sz="1100">
                <a:solidFill>
                  <a:srgbClr val="AAAAAA"/>
                </a:solidFill>
                <a:latin typeface="Source Sans Pro" pitchFamily="34" charset="0"/>
                <a:ea typeface="Source Sans Pro" pitchFamily="34" charset="-122"/>
                <a:cs typeface="Source Sans Pro" pitchFamily="34" charset="-120"/>
              </a:rPr>
              <a:t>Potential Institutional Market</a:t>
            </a:r>
            <a:endParaRPr lang="en-US" sz="2800"/>
          </a:p>
          <a:p>
            <a:pPr marL="0" indent="0">
              <a:buNone/>
            </a:pPr>
            <a:r>
              <a:rPr lang="en-US" sz="600">
                <a:solidFill>
                  <a:srgbClr val="000000"/>
                </a:solidFill>
              </a:rPr>
              <a:t>
</a:t>
            </a:r>
            <a:endParaRPr lang="en-US" sz="2800"/>
          </a:p>
          <a:p>
            <a:pPr marL="0" indent="0">
              <a:buNone/>
            </a:pPr>
            <a:r>
              <a:rPr lang="en-US" sz="2000">
                <a:solidFill>
                  <a:srgbClr val="4CAF50"/>
                </a:solidFill>
                <a:latin typeface="Source Sans Pro" pitchFamily="34" charset="0"/>
                <a:ea typeface="Source Sans Pro" pitchFamily="34" charset="-122"/>
              </a:rPr>
              <a:t>£362M</a:t>
            </a:r>
            <a:endParaRPr lang="en-US" sz="2800"/>
          </a:p>
          <a:p>
            <a:pPr marL="0" indent="0">
              <a:buNone/>
            </a:pPr>
            <a:r>
              <a:rPr lang="en-US" sz="1100">
                <a:solidFill>
                  <a:srgbClr val="AAAAAA"/>
                </a:solidFill>
                <a:latin typeface="Source Sans Pro" pitchFamily="34" charset="0"/>
                <a:ea typeface="Source Sans Pro" pitchFamily="34" charset="-122"/>
                <a:cs typeface="Source Sans Pro" pitchFamily="34" charset="-120"/>
              </a:rPr>
              <a:t>Potential Commercial and Research Market</a:t>
            </a:r>
            <a:endParaRPr lang="en-US" sz="2800"/>
          </a:p>
        </p:txBody>
      </p:sp>
      <p:sp>
        <p:nvSpPr>
          <p:cNvPr id="8" name="Shape 6"/>
          <p:cNvSpPr/>
          <p:nvPr/>
        </p:nvSpPr>
        <p:spPr>
          <a:xfrm>
            <a:off x="4754880" y="1097280"/>
            <a:ext cx="3931920" cy="34747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9" name="Shape 7"/>
          <p:cNvSpPr/>
          <p:nvPr/>
        </p:nvSpPr>
        <p:spPr>
          <a:xfrm>
            <a:off x="4754880" y="1097280"/>
            <a:ext cx="64008" cy="3474720"/>
          </a:xfrm>
          <a:prstGeom prst="rect">
            <a:avLst/>
          </a:prstGeom>
          <a:solidFill>
            <a:srgbClr val="D4A017"/>
          </a:solidFill>
          <a:ln/>
        </p:spPr>
        <p:txBody>
          <a:bodyPr/>
          <a:lstStyle/>
          <a:p>
            <a:endParaRPr lang="en-CH"/>
          </a:p>
        </p:txBody>
      </p:sp>
      <p:sp>
        <p:nvSpPr>
          <p:cNvPr id="10" name="Text 8"/>
          <p:cNvSpPr/>
          <p:nvPr/>
        </p:nvSpPr>
        <p:spPr>
          <a:xfrm>
            <a:off x="5074920" y="1234440"/>
            <a:ext cx="3383280" cy="411480"/>
          </a:xfrm>
          <a:prstGeom prst="rect">
            <a:avLst/>
          </a:prstGeom>
          <a:noFill/>
          <a:ln/>
        </p:spPr>
        <p:txBody>
          <a:bodyPr wrap="square" lIns="0" tIns="0" rIns="0" bIns="0" rtlCol="0" anchor="ctr"/>
          <a:lstStyle/>
          <a:p>
            <a:pPr marL="0" indent="0">
              <a:buNone/>
            </a:pPr>
            <a:r>
              <a:rPr lang="en-US" sz="1600">
                <a:solidFill>
                  <a:srgbClr val="D4A017"/>
                </a:solidFill>
                <a:latin typeface="Source Sans Pro" pitchFamily="34" charset="0"/>
                <a:ea typeface="Source Sans Pro" pitchFamily="34" charset="-122"/>
                <a:cs typeface="Source Sans Pro" pitchFamily="34" charset="-120"/>
              </a:rPr>
              <a:t>Key Market Drivers</a:t>
            </a:r>
            <a:endParaRPr lang="en-US" sz="1600"/>
          </a:p>
        </p:txBody>
      </p:sp>
      <p:pic>
        <p:nvPicPr>
          <p:cNvPr id="11" name="Image 0" descr="preencoded.png"/>
          <p:cNvPicPr>
            <a:picLocks noChangeAspect="1"/>
          </p:cNvPicPr>
          <p:nvPr/>
        </p:nvPicPr>
        <p:blipFill>
          <a:blip r:embed="rId3"/>
          <a:stretch>
            <a:fillRect/>
          </a:stretch>
        </p:blipFill>
        <p:spPr>
          <a:xfrm>
            <a:off x="5074920" y="1828800"/>
            <a:ext cx="201168" cy="201168"/>
          </a:xfrm>
          <a:prstGeom prst="rect">
            <a:avLst/>
          </a:prstGeom>
        </p:spPr>
      </p:pic>
      <p:sp>
        <p:nvSpPr>
          <p:cNvPr id="12" name="Text 9"/>
          <p:cNvSpPr/>
          <p:nvPr/>
        </p:nvSpPr>
        <p:spPr>
          <a:xfrm>
            <a:off x="5394960" y="1783080"/>
            <a:ext cx="3108960" cy="4572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Artemis programme &amp; Gateway operational by 2045</a:t>
            </a:r>
            <a:endParaRPr lang="en-US" sz="1200"/>
          </a:p>
        </p:txBody>
      </p:sp>
      <p:pic>
        <p:nvPicPr>
          <p:cNvPr id="13" name="Image 1" descr="preencoded.png"/>
          <p:cNvPicPr>
            <a:picLocks noChangeAspect="1"/>
          </p:cNvPicPr>
          <p:nvPr/>
        </p:nvPicPr>
        <p:blipFill>
          <a:blip r:embed="rId3"/>
          <a:stretch>
            <a:fillRect/>
          </a:stretch>
        </p:blipFill>
        <p:spPr>
          <a:xfrm>
            <a:off x="5074920" y="2331720"/>
            <a:ext cx="201168" cy="201168"/>
          </a:xfrm>
          <a:prstGeom prst="rect">
            <a:avLst/>
          </a:prstGeom>
        </p:spPr>
      </p:pic>
      <p:sp>
        <p:nvSpPr>
          <p:cNvPr id="14" name="Text 10"/>
          <p:cNvSpPr/>
          <p:nvPr/>
        </p:nvSpPr>
        <p:spPr>
          <a:xfrm>
            <a:off x="5394960" y="2286000"/>
            <a:ext cx="3108960" cy="4572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Growing cislunar economy &amp; commercial lunar missions</a:t>
            </a:r>
            <a:endParaRPr lang="en-US" sz="1200"/>
          </a:p>
        </p:txBody>
      </p:sp>
      <p:pic>
        <p:nvPicPr>
          <p:cNvPr id="15" name="Image 2" descr="preencoded.png"/>
          <p:cNvPicPr>
            <a:picLocks noChangeAspect="1"/>
          </p:cNvPicPr>
          <p:nvPr/>
        </p:nvPicPr>
        <p:blipFill>
          <a:blip r:embed="rId3"/>
          <a:stretch>
            <a:fillRect/>
          </a:stretch>
        </p:blipFill>
        <p:spPr>
          <a:xfrm>
            <a:off x="5074920" y="2834640"/>
            <a:ext cx="201168" cy="201168"/>
          </a:xfrm>
          <a:prstGeom prst="rect">
            <a:avLst/>
          </a:prstGeom>
        </p:spPr>
      </p:pic>
      <p:sp>
        <p:nvSpPr>
          <p:cNvPr id="16" name="Text 11"/>
          <p:cNvSpPr/>
          <p:nvPr/>
        </p:nvSpPr>
        <p:spPr>
          <a:xfrm>
            <a:off x="5394960" y="2788920"/>
            <a:ext cx="3108960" cy="4572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Institutional customers = 65-75% of upstream demand</a:t>
            </a:r>
            <a:endParaRPr lang="en-US" sz="1200"/>
          </a:p>
        </p:txBody>
      </p:sp>
      <p:pic>
        <p:nvPicPr>
          <p:cNvPr id="17" name="Image 3" descr="preencoded.png"/>
          <p:cNvPicPr>
            <a:picLocks noChangeAspect="1"/>
          </p:cNvPicPr>
          <p:nvPr/>
        </p:nvPicPr>
        <p:blipFill>
          <a:blip r:embed="rId3"/>
          <a:stretch>
            <a:fillRect/>
          </a:stretch>
        </p:blipFill>
        <p:spPr>
          <a:xfrm>
            <a:off x="5074920" y="3337560"/>
            <a:ext cx="201168" cy="201168"/>
          </a:xfrm>
          <a:prstGeom prst="rect">
            <a:avLst/>
          </a:prstGeom>
        </p:spPr>
      </p:pic>
      <p:sp>
        <p:nvSpPr>
          <p:cNvPr id="18" name="Text 12"/>
          <p:cNvSpPr/>
          <p:nvPr/>
        </p:nvSpPr>
        <p:spPr>
          <a:xfrm>
            <a:off x="5394960" y="3291840"/>
            <a:ext cx="3108960" cy="4572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National security interest in cislunar domain awareness</a:t>
            </a:r>
            <a:endParaRPr lang="en-US" sz="1200"/>
          </a:p>
        </p:txBody>
      </p:sp>
      <p:pic>
        <p:nvPicPr>
          <p:cNvPr id="19" name="Image 4" descr="preencoded.png"/>
          <p:cNvPicPr>
            <a:picLocks noChangeAspect="1"/>
          </p:cNvPicPr>
          <p:nvPr/>
        </p:nvPicPr>
        <p:blipFill>
          <a:blip r:embed="rId3"/>
          <a:stretch>
            <a:fillRect/>
          </a:stretch>
        </p:blipFill>
        <p:spPr>
          <a:xfrm>
            <a:off x="5074920" y="3840480"/>
            <a:ext cx="201168" cy="201168"/>
          </a:xfrm>
          <a:prstGeom prst="rect">
            <a:avLst/>
          </a:prstGeom>
        </p:spPr>
      </p:pic>
      <p:sp>
        <p:nvSpPr>
          <p:cNvPr id="20" name="Text 13"/>
          <p:cNvSpPr/>
          <p:nvPr/>
        </p:nvSpPr>
        <p:spPr>
          <a:xfrm>
            <a:off x="5394960" y="3794760"/>
            <a:ext cx="3108960" cy="4572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No incumbent commercial lunar imaging service exists</a:t>
            </a:r>
            <a:endParaRPr lang="en-US" sz="1200"/>
          </a:p>
        </p:txBody>
      </p:sp>
      <p:sp>
        <p:nvSpPr>
          <p:cNvPr id="21" name="Shape 14"/>
          <p:cNvSpPr/>
          <p:nvPr/>
        </p:nvSpPr>
        <p:spPr>
          <a:xfrm>
            <a:off x="0" y="4914900"/>
            <a:ext cx="9144000" cy="228600"/>
          </a:xfrm>
          <a:prstGeom prst="rect">
            <a:avLst/>
          </a:prstGeom>
          <a:solidFill>
            <a:srgbClr val="1A1A1A"/>
          </a:solidFill>
          <a:ln/>
        </p:spPr>
        <p:txBody>
          <a:bodyPr/>
          <a:lstStyle/>
          <a:p>
            <a:endParaRPr lang="en-CH"/>
          </a:p>
        </p:txBody>
      </p:sp>
      <p:sp>
        <p:nvSpPr>
          <p:cNvPr id="22" name="Text 15"/>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Source Sans Pro" pitchFamily="34" charset="0"/>
                <a:ea typeface="Source Sans Pro" pitchFamily="34" charset="-122"/>
                <a:cs typeface="Source Sans Pro" pitchFamily="34" charset="-120"/>
              </a:rPr>
              <a:t>Potential Clients</a:t>
            </a:r>
            <a:endParaRPr lang="en-US" sz="3200"/>
          </a:p>
        </p:txBody>
      </p:sp>
      <p:sp>
        <p:nvSpPr>
          <p:cNvPr id="4" name="Shape 2"/>
          <p:cNvSpPr/>
          <p:nvPr/>
        </p:nvSpPr>
        <p:spPr>
          <a:xfrm>
            <a:off x="365760" y="1097280"/>
            <a:ext cx="2697480" cy="35661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365760" y="1097280"/>
            <a:ext cx="2697480" cy="54864"/>
          </a:xfrm>
          <a:prstGeom prst="rect">
            <a:avLst/>
          </a:prstGeom>
          <a:solidFill>
            <a:srgbClr val="4D9DE5"/>
          </a:solidFill>
          <a:ln/>
        </p:spPr>
        <p:txBody>
          <a:bodyPr/>
          <a:lstStyle/>
          <a:p>
            <a:endParaRPr lang="en-CH"/>
          </a:p>
        </p:txBody>
      </p:sp>
      <p:pic>
        <p:nvPicPr>
          <p:cNvPr id="6" name="Image 0" descr="preencoded.png"/>
          <p:cNvPicPr>
            <a:picLocks noChangeAspect="1"/>
          </p:cNvPicPr>
          <p:nvPr/>
        </p:nvPicPr>
        <p:blipFill>
          <a:blip r:embed="rId3"/>
          <a:stretch>
            <a:fillRect/>
          </a:stretch>
        </p:blipFill>
        <p:spPr>
          <a:xfrm>
            <a:off x="548640" y="1371600"/>
            <a:ext cx="411480" cy="411480"/>
          </a:xfrm>
          <a:prstGeom prst="rect">
            <a:avLst/>
          </a:prstGeom>
        </p:spPr>
      </p:pic>
      <p:sp>
        <p:nvSpPr>
          <p:cNvPr id="7" name="Text 4"/>
          <p:cNvSpPr/>
          <p:nvPr/>
        </p:nvSpPr>
        <p:spPr>
          <a:xfrm>
            <a:off x="1051560" y="1371600"/>
            <a:ext cx="1828800" cy="411480"/>
          </a:xfrm>
          <a:prstGeom prst="rect">
            <a:avLst/>
          </a:prstGeom>
          <a:noFill/>
          <a:ln/>
        </p:spPr>
        <p:txBody>
          <a:bodyPr wrap="square" lIns="0" tIns="0" rIns="0" bIns="0" rtlCol="0" anchor="ctr"/>
          <a:lstStyle/>
          <a:p>
            <a:pPr marL="0" indent="0">
              <a:buNone/>
            </a:pPr>
            <a:r>
              <a:rPr lang="en-US" sz="1600">
                <a:solidFill>
                  <a:srgbClr val="FFFFFF"/>
                </a:solidFill>
                <a:latin typeface="Source Sans Pro" pitchFamily="34" charset="0"/>
                <a:ea typeface="Source Sans Pro" pitchFamily="34" charset="-122"/>
                <a:cs typeface="Source Sans Pro" pitchFamily="34" charset="-120"/>
              </a:rPr>
              <a:t>Space Agencies</a:t>
            </a:r>
            <a:endParaRPr lang="en-US" sz="1600"/>
          </a:p>
        </p:txBody>
      </p:sp>
      <p:sp>
        <p:nvSpPr>
          <p:cNvPr id="8" name="Text 5"/>
          <p:cNvSpPr/>
          <p:nvPr/>
        </p:nvSpPr>
        <p:spPr>
          <a:xfrm>
            <a:off x="548640" y="201168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NASA (Artemis)</a:t>
            </a:r>
            <a:endParaRPr lang="en-US" sz="1200"/>
          </a:p>
        </p:txBody>
      </p:sp>
      <p:sp>
        <p:nvSpPr>
          <p:cNvPr id="9" name="Text 6"/>
          <p:cNvSpPr/>
          <p:nvPr/>
        </p:nvSpPr>
        <p:spPr>
          <a:xfrm>
            <a:off x="548640" y="233172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ESA</a:t>
            </a:r>
            <a:endParaRPr lang="en-US" sz="1200"/>
          </a:p>
        </p:txBody>
      </p:sp>
      <p:sp>
        <p:nvSpPr>
          <p:cNvPr id="10" name="Text 7"/>
          <p:cNvSpPr/>
          <p:nvPr/>
        </p:nvSpPr>
        <p:spPr>
          <a:xfrm>
            <a:off x="548640" y="265176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JAXA / ISRO</a:t>
            </a:r>
            <a:endParaRPr lang="en-US" sz="1200"/>
          </a:p>
        </p:txBody>
      </p:sp>
      <p:sp>
        <p:nvSpPr>
          <p:cNvPr id="11" name="Text 8"/>
          <p:cNvSpPr/>
          <p:nvPr/>
        </p:nvSpPr>
        <p:spPr>
          <a:xfrm>
            <a:off x="548640" y="297180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UK Space Agency</a:t>
            </a:r>
            <a:endParaRPr lang="en-US" sz="1200"/>
          </a:p>
        </p:txBody>
      </p:sp>
      <p:sp>
        <p:nvSpPr>
          <p:cNvPr id="12" name="Shape 9"/>
          <p:cNvSpPr/>
          <p:nvPr/>
        </p:nvSpPr>
        <p:spPr>
          <a:xfrm>
            <a:off x="548640" y="3383280"/>
            <a:ext cx="2331720" cy="27432"/>
          </a:xfrm>
          <a:prstGeom prst="rect">
            <a:avLst/>
          </a:prstGeom>
          <a:solidFill>
            <a:srgbClr val="333333"/>
          </a:solidFill>
          <a:ln/>
        </p:spPr>
        <p:txBody>
          <a:bodyPr/>
          <a:lstStyle/>
          <a:p>
            <a:endParaRPr lang="en-CH"/>
          </a:p>
        </p:txBody>
      </p:sp>
      <p:sp>
        <p:nvSpPr>
          <p:cNvPr id="13" name="Text 10"/>
          <p:cNvSpPr/>
          <p:nvPr/>
        </p:nvSpPr>
        <p:spPr>
          <a:xfrm>
            <a:off x="548640" y="3520440"/>
            <a:ext cx="2331720" cy="822960"/>
          </a:xfrm>
          <a:prstGeom prst="rect">
            <a:avLst/>
          </a:prstGeom>
          <a:noFill/>
          <a:ln/>
        </p:spPr>
        <p:txBody>
          <a:bodyPr wrap="square" lIns="0" tIns="0" rIns="0" bIns="0" rtlCol="0" anchor="ctr"/>
          <a:lstStyle/>
          <a:p>
            <a:pPr marL="0" indent="0">
              <a:buNone/>
            </a:pPr>
            <a:r>
              <a:rPr lang="en-US" sz="1000" i="1">
                <a:solidFill>
                  <a:srgbClr val="4D9DE5"/>
                </a:solidFill>
                <a:latin typeface="Source Sans Pro" pitchFamily="34" charset="0"/>
                <a:ea typeface="Source Sans Pro" pitchFamily="34" charset="-122"/>
                <a:cs typeface="Source Sans Pro" pitchFamily="34" charset="-120"/>
              </a:rPr>
              <a:t>Landing site selection, mission planning, science support</a:t>
            </a:r>
            <a:endParaRPr lang="en-US" sz="1000"/>
          </a:p>
        </p:txBody>
      </p:sp>
      <p:sp>
        <p:nvSpPr>
          <p:cNvPr id="14" name="Shape 11"/>
          <p:cNvSpPr/>
          <p:nvPr/>
        </p:nvSpPr>
        <p:spPr>
          <a:xfrm>
            <a:off x="3246120" y="1097280"/>
            <a:ext cx="2697480" cy="35661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5" name="Shape 12"/>
          <p:cNvSpPr/>
          <p:nvPr/>
        </p:nvSpPr>
        <p:spPr>
          <a:xfrm>
            <a:off x="3246120" y="1097280"/>
            <a:ext cx="2697480" cy="54864"/>
          </a:xfrm>
          <a:prstGeom prst="rect">
            <a:avLst/>
          </a:prstGeom>
          <a:solidFill>
            <a:srgbClr val="D4A017"/>
          </a:solidFill>
          <a:ln/>
        </p:spPr>
        <p:txBody>
          <a:bodyPr/>
          <a:lstStyle/>
          <a:p>
            <a:endParaRPr lang="en-CH"/>
          </a:p>
        </p:txBody>
      </p:sp>
      <p:pic>
        <p:nvPicPr>
          <p:cNvPr id="16" name="Image 1" descr="preencoded.png"/>
          <p:cNvPicPr>
            <a:picLocks noChangeAspect="1"/>
          </p:cNvPicPr>
          <p:nvPr/>
        </p:nvPicPr>
        <p:blipFill>
          <a:blip r:embed="rId4"/>
          <a:stretch>
            <a:fillRect/>
          </a:stretch>
        </p:blipFill>
        <p:spPr>
          <a:xfrm>
            <a:off x="3429000" y="1371600"/>
            <a:ext cx="411480" cy="411480"/>
          </a:xfrm>
          <a:prstGeom prst="rect">
            <a:avLst/>
          </a:prstGeom>
        </p:spPr>
      </p:pic>
      <p:sp>
        <p:nvSpPr>
          <p:cNvPr id="17" name="Text 13"/>
          <p:cNvSpPr/>
          <p:nvPr/>
        </p:nvSpPr>
        <p:spPr>
          <a:xfrm>
            <a:off x="3931920" y="1371600"/>
            <a:ext cx="1828800" cy="411480"/>
          </a:xfrm>
          <a:prstGeom prst="rect">
            <a:avLst/>
          </a:prstGeom>
          <a:noFill/>
          <a:ln/>
        </p:spPr>
        <p:txBody>
          <a:bodyPr wrap="square" lIns="0" tIns="0" rIns="0" bIns="0" rtlCol="0" anchor="ctr"/>
          <a:lstStyle/>
          <a:p>
            <a:pPr marL="0" indent="0">
              <a:buNone/>
            </a:pPr>
            <a:r>
              <a:rPr lang="en-US" sz="1600">
                <a:solidFill>
                  <a:srgbClr val="FFFFFF"/>
                </a:solidFill>
                <a:latin typeface="Source Sans Pro" pitchFamily="34" charset="0"/>
                <a:ea typeface="Source Sans Pro" pitchFamily="34" charset="-122"/>
                <a:cs typeface="Source Sans Pro" pitchFamily="34" charset="-120"/>
              </a:rPr>
              <a:t>Gov / Defence</a:t>
            </a:r>
            <a:endParaRPr lang="en-US" sz="1600"/>
          </a:p>
        </p:txBody>
      </p:sp>
      <p:sp>
        <p:nvSpPr>
          <p:cNvPr id="18" name="Text 14"/>
          <p:cNvSpPr/>
          <p:nvPr/>
        </p:nvSpPr>
        <p:spPr>
          <a:xfrm>
            <a:off x="3429000" y="201168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National security agencies</a:t>
            </a:r>
            <a:endParaRPr lang="en-US" sz="1200"/>
          </a:p>
        </p:txBody>
      </p:sp>
      <p:sp>
        <p:nvSpPr>
          <p:cNvPr id="19" name="Text 15"/>
          <p:cNvSpPr/>
          <p:nvPr/>
        </p:nvSpPr>
        <p:spPr>
          <a:xfrm>
            <a:off x="3429000" y="233172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MoD / DoD</a:t>
            </a:r>
            <a:endParaRPr lang="en-US" sz="1200"/>
          </a:p>
        </p:txBody>
      </p:sp>
      <p:sp>
        <p:nvSpPr>
          <p:cNvPr id="20" name="Text 16"/>
          <p:cNvSpPr/>
          <p:nvPr/>
        </p:nvSpPr>
        <p:spPr>
          <a:xfrm>
            <a:off x="3429000" y="265176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Intelligence community</a:t>
            </a:r>
            <a:endParaRPr lang="en-US" sz="1200"/>
          </a:p>
        </p:txBody>
      </p:sp>
      <p:sp>
        <p:nvSpPr>
          <p:cNvPr id="21" name="Shape 17"/>
          <p:cNvSpPr/>
          <p:nvPr/>
        </p:nvSpPr>
        <p:spPr>
          <a:xfrm>
            <a:off x="3429000" y="3383280"/>
            <a:ext cx="2331720" cy="27432"/>
          </a:xfrm>
          <a:prstGeom prst="rect">
            <a:avLst/>
          </a:prstGeom>
          <a:solidFill>
            <a:srgbClr val="333333"/>
          </a:solidFill>
          <a:ln/>
        </p:spPr>
        <p:txBody>
          <a:bodyPr/>
          <a:lstStyle/>
          <a:p>
            <a:endParaRPr lang="en-CH"/>
          </a:p>
        </p:txBody>
      </p:sp>
      <p:sp>
        <p:nvSpPr>
          <p:cNvPr id="22" name="Text 18"/>
          <p:cNvSpPr/>
          <p:nvPr/>
        </p:nvSpPr>
        <p:spPr>
          <a:xfrm>
            <a:off x="3429000" y="3520440"/>
            <a:ext cx="2331720" cy="822960"/>
          </a:xfrm>
          <a:prstGeom prst="rect">
            <a:avLst/>
          </a:prstGeom>
          <a:noFill/>
          <a:ln/>
        </p:spPr>
        <p:txBody>
          <a:bodyPr wrap="square" lIns="0" tIns="0" rIns="0" bIns="0" rtlCol="0" anchor="ctr"/>
          <a:lstStyle/>
          <a:p>
            <a:pPr marL="0" indent="0">
              <a:buNone/>
            </a:pPr>
            <a:r>
              <a:rPr lang="en-US" sz="1000" i="1">
                <a:solidFill>
                  <a:srgbClr val="4D9DE5"/>
                </a:solidFill>
                <a:latin typeface="Source Sans Pro" pitchFamily="34" charset="0"/>
                <a:ea typeface="Source Sans Pro" pitchFamily="34" charset="-122"/>
                <a:cs typeface="Source Sans Pro" pitchFamily="34" charset="-120"/>
              </a:rPr>
              <a:t>Cislunar domain awareness, threat monitoring, national security</a:t>
            </a:r>
            <a:endParaRPr lang="en-US" sz="1000"/>
          </a:p>
        </p:txBody>
      </p:sp>
      <p:sp>
        <p:nvSpPr>
          <p:cNvPr id="23" name="Shape 19"/>
          <p:cNvSpPr/>
          <p:nvPr/>
        </p:nvSpPr>
        <p:spPr>
          <a:xfrm>
            <a:off x="6126480" y="1097280"/>
            <a:ext cx="2697480" cy="35661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4" name="Shape 20"/>
          <p:cNvSpPr/>
          <p:nvPr/>
        </p:nvSpPr>
        <p:spPr>
          <a:xfrm>
            <a:off x="6126480" y="1097280"/>
            <a:ext cx="2697480" cy="54864"/>
          </a:xfrm>
          <a:prstGeom prst="rect">
            <a:avLst/>
          </a:prstGeom>
          <a:solidFill>
            <a:srgbClr val="4CAF50"/>
          </a:solidFill>
          <a:ln/>
        </p:spPr>
        <p:txBody>
          <a:bodyPr/>
          <a:lstStyle/>
          <a:p>
            <a:endParaRPr lang="en-CH"/>
          </a:p>
        </p:txBody>
      </p:sp>
      <p:pic>
        <p:nvPicPr>
          <p:cNvPr id="25" name="Image 2" descr="preencoded.png"/>
          <p:cNvPicPr>
            <a:picLocks noChangeAspect="1"/>
          </p:cNvPicPr>
          <p:nvPr/>
        </p:nvPicPr>
        <p:blipFill>
          <a:blip r:embed="rId5"/>
          <a:stretch>
            <a:fillRect/>
          </a:stretch>
        </p:blipFill>
        <p:spPr>
          <a:xfrm>
            <a:off x="6309360" y="1371600"/>
            <a:ext cx="411480" cy="411480"/>
          </a:xfrm>
          <a:prstGeom prst="rect">
            <a:avLst/>
          </a:prstGeom>
        </p:spPr>
      </p:pic>
      <p:sp>
        <p:nvSpPr>
          <p:cNvPr id="26" name="Text 21"/>
          <p:cNvSpPr/>
          <p:nvPr/>
        </p:nvSpPr>
        <p:spPr>
          <a:xfrm>
            <a:off x="6812280" y="1371600"/>
            <a:ext cx="1828800" cy="411480"/>
          </a:xfrm>
          <a:prstGeom prst="rect">
            <a:avLst/>
          </a:prstGeom>
          <a:noFill/>
          <a:ln/>
        </p:spPr>
        <p:txBody>
          <a:bodyPr wrap="square" lIns="0" tIns="0" rIns="0" bIns="0" rtlCol="0" anchor="ctr"/>
          <a:lstStyle/>
          <a:p>
            <a:pPr marL="0" indent="0">
              <a:buNone/>
            </a:pPr>
            <a:r>
              <a:rPr lang="en-US" sz="1600">
                <a:solidFill>
                  <a:srgbClr val="FFFFFF"/>
                </a:solidFill>
                <a:latin typeface="Source Sans Pro" pitchFamily="34" charset="0"/>
                <a:ea typeface="Source Sans Pro" pitchFamily="34" charset="-122"/>
                <a:cs typeface="Source Sans Pro" pitchFamily="34" charset="-120"/>
              </a:rPr>
              <a:t>Commercial</a:t>
            </a:r>
            <a:endParaRPr lang="en-US" sz="1600"/>
          </a:p>
        </p:txBody>
      </p:sp>
      <p:sp>
        <p:nvSpPr>
          <p:cNvPr id="27" name="Text 22"/>
          <p:cNvSpPr/>
          <p:nvPr/>
        </p:nvSpPr>
        <p:spPr>
          <a:xfrm>
            <a:off x="6309360" y="201168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Mining companies</a:t>
            </a:r>
            <a:endParaRPr lang="en-US" sz="1200"/>
          </a:p>
        </p:txBody>
      </p:sp>
      <p:sp>
        <p:nvSpPr>
          <p:cNvPr id="28" name="Text 23"/>
          <p:cNvSpPr/>
          <p:nvPr/>
        </p:nvSpPr>
        <p:spPr>
          <a:xfrm>
            <a:off x="6309360" y="233172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Lunar lander operators</a:t>
            </a:r>
            <a:endParaRPr lang="en-US" sz="1200"/>
          </a:p>
        </p:txBody>
      </p:sp>
      <p:sp>
        <p:nvSpPr>
          <p:cNvPr id="29" name="Text 24"/>
          <p:cNvSpPr/>
          <p:nvPr/>
        </p:nvSpPr>
        <p:spPr>
          <a:xfrm>
            <a:off x="6309360" y="265176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Tourism ventures</a:t>
            </a:r>
            <a:endParaRPr lang="en-US" sz="1200"/>
          </a:p>
        </p:txBody>
      </p:sp>
      <p:sp>
        <p:nvSpPr>
          <p:cNvPr id="30" name="Text 25"/>
          <p:cNvSpPr/>
          <p:nvPr/>
        </p:nvSpPr>
        <p:spPr>
          <a:xfrm>
            <a:off x="6309360" y="2971800"/>
            <a:ext cx="2331720" cy="292608"/>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  Telecom providers</a:t>
            </a:r>
            <a:endParaRPr lang="en-US" sz="1200"/>
          </a:p>
        </p:txBody>
      </p:sp>
      <p:sp>
        <p:nvSpPr>
          <p:cNvPr id="31" name="Shape 26"/>
          <p:cNvSpPr/>
          <p:nvPr/>
        </p:nvSpPr>
        <p:spPr>
          <a:xfrm>
            <a:off x="6309360" y="3383280"/>
            <a:ext cx="2331720" cy="27432"/>
          </a:xfrm>
          <a:prstGeom prst="rect">
            <a:avLst/>
          </a:prstGeom>
          <a:solidFill>
            <a:srgbClr val="333333"/>
          </a:solidFill>
          <a:ln/>
        </p:spPr>
        <p:txBody>
          <a:bodyPr/>
          <a:lstStyle/>
          <a:p>
            <a:endParaRPr lang="en-CH"/>
          </a:p>
        </p:txBody>
      </p:sp>
      <p:sp>
        <p:nvSpPr>
          <p:cNvPr id="32" name="Text 27"/>
          <p:cNvSpPr/>
          <p:nvPr/>
        </p:nvSpPr>
        <p:spPr>
          <a:xfrm>
            <a:off x="6309360" y="3520440"/>
            <a:ext cx="2331720" cy="822960"/>
          </a:xfrm>
          <a:prstGeom prst="rect">
            <a:avLst/>
          </a:prstGeom>
          <a:noFill/>
          <a:ln/>
        </p:spPr>
        <p:txBody>
          <a:bodyPr wrap="square" lIns="0" tIns="0" rIns="0" bIns="0" rtlCol="0" anchor="ctr"/>
          <a:lstStyle/>
          <a:p>
            <a:pPr marL="0" indent="0">
              <a:buNone/>
            </a:pPr>
            <a:r>
              <a:rPr lang="en-US" sz="1000" i="1">
                <a:solidFill>
                  <a:srgbClr val="4D9DE5"/>
                </a:solidFill>
                <a:latin typeface="Source Sans Pro" pitchFamily="34" charset="0"/>
                <a:ea typeface="Source Sans Pro" pitchFamily="34" charset="-122"/>
                <a:cs typeface="Source Sans Pro" pitchFamily="34" charset="-120"/>
              </a:rPr>
              <a:t>Resource prospecting, surface ops, navigation, site surveys</a:t>
            </a:r>
            <a:endParaRPr lang="en-US" sz="1000"/>
          </a:p>
        </p:txBody>
      </p:sp>
      <p:sp>
        <p:nvSpPr>
          <p:cNvPr id="33" name="Shape 28"/>
          <p:cNvSpPr/>
          <p:nvPr/>
        </p:nvSpPr>
        <p:spPr>
          <a:xfrm>
            <a:off x="0" y="4914900"/>
            <a:ext cx="9144000" cy="228600"/>
          </a:xfrm>
          <a:prstGeom prst="rect">
            <a:avLst/>
          </a:prstGeom>
          <a:solidFill>
            <a:srgbClr val="1A1A1A"/>
          </a:solidFill>
          <a:ln/>
        </p:spPr>
        <p:txBody>
          <a:bodyPr/>
          <a:lstStyle/>
          <a:p>
            <a:endParaRPr lang="en-CH"/>
          </a:p>
        </p:txBody>
      </p:sp>
      <p:sp>
        <p:nvSpPr>
          <p:cNvPr id="34" name="Text 29"/>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82880"/>
            <a:ext cx="7315200" cy="548640"/>
          </a:xfrm>
          <a:prstGeom prst="rect">
            <a:avLst/>
          </a:prstGeom>
          <a:noFill/>
          <a:ln/>
        </p:spPr>
        <p:txBody>
          <a:bodyPr wrap="square" lIns="0" tIns="0" rIns="0" bIns="0" rtlCol="0" anchor="ctr"/>
          <a:lstStyle/>
          <a:p>
            <a:pPr marL="0" indent="0">
              <a:buNone/>
            </a:pPr>
            <a:r>
              <a:rPr lang="en-US" sz="3000" b="1">
                <a:solidFill>
                  <a:srgbClr val="FFFFFF"/>
                </a:solidFill>
                <a:latin typeface="Source Sans Pro" pitchFamily="34" charset="0"/>
                <a:ea typeface="Source Sans Pro" pitchFamily="34" charset="-122"/>
                <a:cs typeface="Source Sans Pro" pitchFamily="34" charset="-120"/>
              </a:rPr>
              <a:t>SWOT Analysis</a:t>
            </a:r>
            <a:endParaRPr lang="en-US" sz="3000"/>
          </a:p>
        </p:txBody>
      </p:sp>
      <p:sp>
        <p:nvSpPr>
          <p:cNvPr id="4" name="Shape 2"/>
          <p:cNvSpPr/>
          <p:nvPr/>
        </p:nvSpPr>
        <p:spPr>
          <a:xfrm>
            <a:off x="457200" y="914400"/>
            <a:ext cx="3977640" cy="182880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457200" y="914400"/>
            <a:ext cx="3977640" cy="45720"/>
          </a:xfrm>
          <a:prstGeom prst="rect">
            <a:avLst/>
          </a:prstGeom>
          <a:solidFill>
            <a:srgbClr val="4CAF50"/>
          </a:solidFill>
          <a:ln/>
        </p:spPr>
        <p:txBody>
          <a:bodyPr/>
          <a:lstStyle/>
          <a:p>
            <a:endParaRPr lang="en-CH"/>
          </a:p>
        </p:txBody>
      </p:sp>
      <p:sp>
        <p:nvSpPr>
          <p:cNvPr id="6" name="Text 4"/>
          <p:cNvSpPr/>
          <p:nvPr/>
        </p:nvSpPr>
        <p:spPr>
          <a:xfrm>
            <a:off x="594360" y="1024128"/>
            <a:ext cx="3657600" cy="320040"/>
          </a:xfrm>
          <a:prstGeom prst="rect">
            <a:avLst/>
          </a:prstGeom>
          <a:noFill/>
          <a:ln/>
        </p:spPr>
        <p:txBody>
          <a:bodyPr wrap="square" lIns="0" tIns="0" rIns="0" bIns="0" rtlCol="0" anchor="ctr"/>
          <a:lstStyle/>
          <a:p>
            <a:pPr marL="0" indent="0">
              <a:buNone/>
            </a:pPr>
            <a:r>
              <a:rPr lang="en-US" sz="1400">
                <a:solidFill>
                  <a:srgbClr val="4CAF50"/>
                </a:solidFill>
                <a:latin typeface="Source Sans Pro" pitchFamily="34" charset="0"/>
                <a:ea typeface="Source Sans Pro" pitchFamily="34" charset="-122"/>
                <a:cs typeface="Source Sans Pro" pitchFamily="34" charset="-120"/>
              </a:rPr>
              <a:t>STRENGTHS</a:t>
            </a:r>
            <a:endParaRPr lang="en-US" sz="1400"/>
          </a:p>
        </p:txBody>
      </p:sp>
      <p:sp>
        <p:nvSpPr>
          <p:cNvPr id="7" name="Text 5"/>
          <p:cNvSpPr/>
          <p:nvPr/>
        </p:nvSpPr>
        <p:spPr>
          <a:xfrm>
            <a:off x="594360" y="138988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First-mover in dedicated lunar imaging</a:t>
            </a:r>
            <a:endParaRPr lang="en-US" sz="1100"/>
          </a:p>
        </p:txBody>
      </p:sp>
      <p:sp>
        <p:nvSpPr>
          <p:cNvPr id="8" name="Text 6"/>
          <p:cNvSpPr/>
          <p:nvPr/>
        </p:nvSpPr>
        <p:spPr>
          <a:xfrm>
            <a:off x="594360" y="170992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2U </a:t>
            </a:r>
            <a:r>
              <a:rPr lang="en-US" sz="1100" err="1">
                <a:solidFill>
                  <a:srgbClr val="AAAAAA"/>
                </a:solidFill>
                <a:latin typeface="Source Sans Pro" pitchFamily="34" charset="0"/>
                <a:ea typeface="Source Sans Pro" pitchFamily="34" charset="-122"/>
                <a:cs typeface="Source Sans Pro" pitchFamily="34" charset="-120"/>
              </a:rPr>
              <a:t>Cubesat</a:t>
            </a:r>
            <a:r>
              <a:rPr lang="en-US" sz="1100">
                <a:solidFill>
                  <a:srgbClr val="AAAAAA"/>
                </a:solidFill>
                <a:latin typeface="Source Sans Pro" pitchFamily="34" charset="0"/>
                <a:ea typeface="Source Sans Pro" pitchFamily="34" charset="-122"/>
                <a:cs typeface="Source Sans Pro" pitchFamily="34" charset="-120"/>
              </a:rPr>
              <a:t> = low cost per unit</a:t>
            </a:r>
            <a:endParaRPr lang="en-US" sz="1100"/>
          </a:p>
        </p:txBody>
      </p:sp>
      <p:sp>
        <p:nvSpPr>
          <p:cNvPr id="9" name="Text 7"/>
          <p:cNvSpPr/>
          <p:nvPr/>
        </p:nvSpPr>
        <p:spPr>
          <a:xfrm>
            <a:off x="594360" y="202996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Gateway data relay infrastructure</a:t>
            </a:r>
            <a:endParaRPr lang="en-US" sz="1100"/>
          </a:p>
        </p:txBody>
      </p:sp>
      <p:sp>
        <p:nvSpPr>
          <p:cNvPr id="11" name="Shape 9"/>
          <p:cNvSpPr/>
          <p:nvPr/>
        </p:nvSpPr>
        <p:spPr>
          <a:xfrm>
            <a:off x="4663440" y="914400"/>
            <a:ext cx="3977640" cy="182880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2" name="Shape 10"/>
          <p:cNvSpPr/>
          <p:nvPr/>
        </p:nvSpPr>
        <p:spPr>
          <a:xfrm>
            <a:off x="4663440" y="914400"/>
            <a:ext cx="3977640" cy="45720"/>
          </a:xfrm>
          <a:prstGeom prst="rect">
            <a:avLst/>
          </a:prstGeom>
          <a:solidFill>
            <a:srgbClr val="FFB300"/>
          </a:solidFill>
          <a:ln/>
        </p:spPr>
        <p:txBody>
          <a:bodyPr/>
          <a:lstStyle/>
          <a:p>
            <a:endParaRPr lang="en-CH"/>
          </a:p>
        </p:txBody>
      </p:sp>
      <p:sp>
        <p:nvSpPr>
          <p:cNvPr id="13" name="Text 11"/>
          <p:cNvSpPr/>
          <p:nvPr/>
        </p:nvSpPr>
        <p:spPr>
          <a:xfrm>
            <a:off x="4800600" y="1024128"/>
            <a:ext cx="3657600" cy="320040"/>
          </a:xfrm>
          <a:prstGeom prst="rect">
            <a:avLst/>
          </a:prstGeom>
          <a:noFill/>
          <a:ln/>
        </p:spPr>
        <p:txBody>
          <a:bodyPr wrap="square" lIns="0" tIns="0" rIns="0" bIns="0" rtlCol="0" anchor="ctr"/>
          <a:lstStyle/>
          <a:p>
            <a:pPr marL="0" indent="0">
              <a:buNone/>
            </a:pPr>
            <a:r>
              <a:rPr lang="en-US" sz="1400">
                <a:solidFill>
                  <a:srgbClr val="FFB300"/>
                </a:solidFill>
                <a:latin typeface="Source Sans Pro" pitchFamily="34" charset="0"/>
                <a:ea typeface="Source Sans Pro" pitchFamily="34" charset="-122"/>
                <a:cs typeface="Source Sans Pro" pitchFamily="34" charset="-120"/>
              </a:rPr>
              <a:t>WEAKNESSES</a:t>
            </a:r>
            <a:endParaRPr lang="en-US" sz="1400"/>
          </a:p>
        </p:txBody>
      </p:sp>
      <p:sp>
        <p:nvSpPr>
          <p:cNvPr id="15" name="Text 13"/>
          <p:cNvSpPr/>
          <p:nvPr/>
        </p:nvSpPr>
        <p:spPr>
          <a:xfrm>
            <a:off x="4800600" y="1443482"/>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Unproven cislunar business model</a:t>
            </a:r>
            <a:endParaRPr lang="en-US" sz="1100"/>
          </a:p>
        </p:txBody>
      </p:sp>
      <p:sp>
        <p:nvSpPr>
          <p:cNvPr id="16" name="Text 14"/>
          <p:cNvSpPr/>
          <p:nvPr/>
        </p:nvSpPr>
        <p:spPr>
          <a:xfrm>
            <a:off x="4800600" y="1763522"/>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High initial capital requirements</a:t>
            </a:r>
            <a:endParaRPr lang="en-US" sz="1100"/>
          </a:p>
        </p:txBody>
      </p:sp>
      <p:sp>
        <p:nvSpPr>
          <p:cNvPr id="17" name="Text 15"/>
          <p:cNvSpPr/>
          <p:nvPr/>
        </p:nvSpPr>
        <p:spPr>
          <a:xfrm>
            <a:off x="4800600" y="2083562"/>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Dependency on Gateway schedule</a:t>
            </a:r>
            <a:endParaRPr lang="en-US" sz="1100"/>
          </a:p>
        </p:txBody>
      </p:sp>
      <p:sp>
        <p:nvSpPr>
          <p:cNvPr id="18" name="Shape 16"/>
          <p:cNvSpPr/>
          <p:nvPr/>
        </p:nvSpPr>
        <p:spPr>
          <a:xfrm>
            <a:off x="457200" y="2926080"/>
            <a:ext cx="3977640" cy="182880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9" name="Shape 17"/>
          <p:cNvSpPr/>
          <p:nvPr/>
        </p:nvSpPr>
        <p:spPr>
          <a:xfrm>
            <a:off x="457200" y="2926080"/>
            <a:ext cx="3977640" cy="45720"/>
          </a:xfrm>
          <a:prstGeom prst="rect">
            <a:avLst/>
          </a:prstGeom>
          <a:solidFill>
            <a:srgbClr val="4D9DE5"/>
          </a:solidFill>
          <a:ln/>
        </p:spPr>
        <p:txBody>
          <a:bodyPr/>
          <a:lstStyle/>
          <a:p>
            <a:endParaRPr lang="en-CH"/>
          </a:p>
        </p:txBody>
      </p:sp>
      <p:sp>
        <p:nvSpPr>
          <p:cNvPr id="20" name="Text 18"/>
          <p:cNvSpPr/>
          <p:nvPr/>
        </p:nvSpPr>
        <p:spPr>
          <a:xfrm>
            <a:off x="594360" y="3035808"/>
            <a:ext cx="3657600" cy="320040"/>
          </a:xfrm>
          <a:prstGeom prst="rect">
            <a:avLst/>
          </a:prstGeom>
          <a:noFill/>
          <a:ln/>
        </p:spPr>
        <p:txBody>
          <a:bodyPr wrap="square" lIns="0" tIns="0" rIns="0" bIns="0" rtlCol="0" anchor="ctr"/>
          <a:lstStyle/>
          <a:p>
            <a:pPr marL="0" indent="0">
              <a:buNone/>
            </a:pPr>
            <a:r>
              <a:rPr lang="en-US" sz="1400">
                <a:solidFill>
                  <a:srgbClr val="4D9DE5"/>
                </a:solidFill>
                <a:latin typeface="Source Sans Pro" pitchFamily="34" charset="0"/>
                <a:ea typeface="Source Sans Pro" pitchFamily="34" charset="-122"/>
                <a:cs typeface="Source Sans Pro" pitchFamily="34" charset="-120"/>
              </a:rPr>
              <a:t>OPPORTUNITIES</a:t>
            </a:r>
            <a:endParaRPr lang="en-US" sz="1400"/>
          </a:p>
        </p:txBody>
      </p:sp>
      <p:sp>
        <p:nvSpPr>
          <p:cNvPr id="21" name="Text 19"/>
          <p:cNvSpPr/>
          <p:nvPr/>
        </p:nvSpPr>
        <p:spPr>
          <a:xfrm>
            <a:off x="594360" y="340156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Growing cislunar economy</a:t>
            </a:r>
            <a:endParaRPr lang="en-US" sz="1100"/>
          </a:p>
        </p:txBody>
      </p:sp>
      <p:sp>
        <p:nvSpPr>
          <p:cNvPr id="22" name="Text 20"/>
          <p:cNvSpPr/>
          <p:nvPr/>
        </p:nvSpPr>
        <p:spPr>
          <a:xfrm>
            <a:off x="594360" y="372160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Defence/intelligence demand rising</a:t>
            </a:r>
            <a:endParaRPr lang="en-US" sz="1100"/>
          </a:p>
        </p:txBody>
      </p:sp>
      <p:sp>
        <p:nvSpPr>
          <p:cNvPr id="23" name="Text 21"/>
          <p:cNvSpPr/>
          <p:nvPr/>
        </p:nvSpPr>
        <p:spPr>
          <a:xfrm>
            <a:off x="594360" y="404164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Artemis program momentum</a:t>
            </a:r>
            <a:endParaRPr lang="en-US" sz="1100"/>
          </a:p>
        </p:txBody>
      </p:sp>
      <p:sp>
        <p:nvSpPr>
          <p:cNvPr id="25" name="Shape 23"/>
          <p:cNvSpPr/>
          <p:nvPr/>
        </p:nvSpPr>
        <p:spPr>
          <a:xfrm>
            <a:off x="4663440" y="2926080"/>
            <a:ext cx="3977640" cy="182880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6" name="Shape 24"/>
          <p:cNvSpPr/>
          <p:nvPr/>
        </p:nvSpPr>
        <p:spPr>
          <a:xfrm>
            <a:off x="4663440" y="2926080"/>
            <a:ext cx="3977640" cy="45720"/>
          </a:xfrm>
          <a:prstGeom prst="rect">
            <a:avLst/>
          </a:prstGeom>
          <a:solidFill>
            <a:srgbClr val="D4A017"/>
          </a:solidFill>
          <a:ln/>
        </p:spPr>
        <p:txBody>
          <a:bodyPr/>
          <a:lstStyle/>
          <a:p>
            <a:endParaRPr lang="en-CH"/>
          </a:p>
        </p:txBody>
      </p:sp>
      <p:sp>
        <p:nvSpPr>
          <p:cNvPr id="27" name="Text 25"/>
          <p:cNvSpPr/>
          <p:nvPr/>
        </p:nvSpPr>
        <p:spPr>
          <a:xfrm>
            <a:off x="4800600" y="3035808"/>
            <a:ext cx="3657600" cy="320040"/>
          </a:xfrm>
          <a:prstGeom prst="rect">
            <a:avLst/>
          </a:prstGeom>
          <a:noFill/>
          <a:ln/>
        </p:spPr>
        <p:txBody>
          <a:bodyPr wrap="square" lIns="0" tIns="0" rIns="0" bIns="0" rtlCol="0" anchor="ctr"/>
          <a:lstStyle/>
          <a:p>
            <a:pPr marL="0" indent="0">
              <a:buNone/>
            </a:pPr>
            <a:r>
              <a:rPr lang="en-US" sz="1400">
                <a:solidFill>
                  <a:srgbClr val="D4A017"/>
                </a:solidFill>
                <a:latin typeface="Source Sans Pro" pitchFamily="34" charset="0"/>
                <a:ea typeface="Source Sans Pro" pitchFamily="34" charset="-122"/>
                <a:cs typeface="Source Sans Pro" pitchFamily="34" charset="-120"/>
              </a:rPr>
              <a:t>THREATS</a:t>
            </a:r>
            <a:endParaRPr lang="en-US" sz="1400"/>
          </a:p>
        </p:txBody>
      </p:sp>
      <p:sp>
        <p:nvSpPr>
          <p:cNvPr id="28" name="Text 26"/>
          <p:cNvSpPr/>
          <p:nvPr/>
        </p:nvSpPr>
        <p:spPr>
          <a:xfrm>
            <a:off x="4800600" y="3401568"/>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Firefly Ocula (lander-supported imaging)</a:t>
            </a:r>
            <a:endParaRPr lang="en-US" sz="1100"/>
          </a:p>
        </p:txBody>
      </p:sp>
      <p:sp>
        <p:nvSpPr>
          <p:cNvPr id="30" name="Text 28"/>
          <p:cNvSpPr/>
          <p:nvPr/>
        </p:nvSpPr>
        <p:spPr>
          <a:xfrm>
            <a:off x="4800600" y="3694176"/>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Gateway delays or cancellation</a:t>
            </a:r>
            <a:endParaRPr lang="en-US" sz="1100"/>
          </a:p>
        </p:txBody>
      </p:sp>
      <p:sp>
        <p:nvSpPr>
          <p:cNvPr id="31" name="Text 29"/>
          <p:cNvSpPr/>
          <p:nvPr/>
        </p:nvSpPr>
        <p:spPr>
          <a:xfrm>
            <a:off x="4800600" y="4014216"/>
            <a:ext cx="3657600" cy="292608"/>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  Regulatory uncertainty</a:t>
            </a:r>
            <a:endParaRPr lang="en-US" sz="1100"/>
          </a:p>
        </p:txBody>
      </p:sp>
      <p:sp>
        <p:nvSpPr>
          <p:cNvPr id="32" name="Shape 30"/>
          <p:cNvSpPr/>
          <p:nvPr/>
        </p:nvSpPr>
        <p:spPr>
          <a:xfrm>
            <a:off x="0" y="4914900"/>
            <a:ext cx="9144000" cy="228600"/>
          </a:xfrm>
          <a:prstGeom prst="rect">
            <a:avLst/>
          </a:prstGeom>
          <a:solidFill>
            <a:srgbClr val="1A1A1A"/>
          </a:solidFill>
          <a:ln/>
        </p:spPr>
        <p:txBody>
          <a:bodyPr/>
          <a:lstStyle/>
          <a:p>
            <a:endParaRPr lang="en-CH"/>
          </a:p>
        </p:txBody>
      </p:sp>
      <p:sp>
        <p:nvSpPr>
          <p:cNvPr id="33" name="Text 31"/>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097280"/>
            <a:ext cx="1828800" cy="914400"/>
          </a:xfrm>
          <a:prstGeom prst="rect">
            <a:avLst/>
          </a:prstGeom>
          <a:noFill/>
          <a:ln/>
        </p:spPr>
        <p:txBody>
          <a:bodyPr wrap="square" lIns="0" tIns="0" rIns="0" bIns="0" rtlCol="0" anchor="ctr"/>
          <a:lstStyle/>
          <a:p>
            <a:pPr marL="0" indent="0" algn="l">
              <a:buNone/>
            </a:pPr>
            <a:r>
              <a:rPr lang="en-US" sz="6000">
                <a:solidFill>
                  <a:srgbClr val="4D9DE5"/>
                </a:solidFill>
                <a:latin typeface="Source Sans Pro" pitchFamily="34" charset="0"/>
                <a:ea typeface="Source Sans Pro" pitchFamily="34" charset="-122"/>
                <a:cs typeface="Source Sans Pro" pitchFamily="34" charset="-120"/>
              </a:rPr>
              <a:t>03</a:t>
            </a:r>
            <a:endParaRPr lang="en-US" sz="6000"/>
          </a:p>
        </p:txBody>
      </p:sp>
      <p:sp>
        <p:nvSpPr>
          <p:cNvPr id="4" name="Text 2"/>
          <p:cNvSpPr/>
          <p:nvPr/>
        </p:nvSpPr>
        <p:spPr>
          <a:xfrm>
            <a:off x="731520" y="2011680"/>
            <a:ext cx="7315200" cy="731520"/>
          </a:xfrm>
          <a:prstGeom prst="rect">
            <a:avLst/>
          </a:prstGeom>
          <a:noFill/>
          <a:ln/>
        </p:spPr>
        <p:txBody>
          <a:bodyPr wrap="square" lIns="0" tIns="0" rIns="0" bIns="0" rtlCol="0" anchor="ctr"/>
          <a:lstStyle/>
          <a:p>
            <a:pPr marL="0" indent="0" algn="l">
              <a:buNone/>
            </a:pPr>
            <a:r>
              <a:rPr lang="en-US" sz="3800" b="1">
                <a:solidFill>
                  <a:srgbClr val="FFFFFF"/>
                </a:solidFill>
                <a:latin typeface="Source Sans Pro" pitchFamily="34" charset="0"/>
                <a:ea typeface="Source Sans Pro" pitchFamily="34" charset="-122"/>
                <a:cs typeface="Source Sans Pro" pitchFamily="34" charset="-120"/>
              </a:rPr>
              <a:t>Our Constellation</a:t>
            </a:r>
            <a:endParaRPr lang="en-US" sz="3800"/>
          </a:p>
        </p:txBody>
      </p:sp>
      <p:sp>
        <p:nvSpPr>
          <p:cNvPr id="5" name="Text 3"/>
          <p:cNvSpPr/>
          <p:nvPr/>
        </p:nvSpPr>
        <p:spPr>
          <a:xfrm>
            <a:off x="731520" y="2834640"/>
            <a:ext cx="7315200" cy="457200"/>
          </a:xfrm>
          <a:prstGeom prst="rect">
            <a:avLst/>
          </a:prstGeom>
          <a:noFill/>
          <a:ln/>
        </p:spPr>
        <p:txBody>
          <a:bodyPr wrap="square" lIns="0" tIns="0" rIns="0" bIns="0" rtlCol="0" anchor="ctr"/>
          <a:lstStyle/>
          <a:p>
            <a:pPr marL="0" indent="0" algn="l">
              <a:buNone/>
            </a:pPr>
            <a:r>
              <a:rPr lang="en-US" sz="1600">
                <a:solidFill>
                  <a:srgbClr val="AAAAAA"/>
                </a:solidFill>
                <a:latin typeface="Source Sans Pro" pitchFamily="34" charset="0"/>
                <a:ea typeface="Source Sans Pro" pitchFamily="34" charset="-122"/>
                <a:cs typeface="Source Sans Pro" pitchFamily="34" charset="-120"/>
              </a:rPr>
              <a:t>Architecture, data pipeline, and TRL timeline</a:t>
            </a:r>
            <a:endParaRPr lang="en-US" sz="1600"/>
          </a:p>
        </p:txBody>
      </p:sp>
      <p:sp>
        <p:nvSpPr>
          <p:cNvPr id="6" name="Shape 4"/>
          <p:cNvSpPr/>
          <p:nvPr/>
        </p:nvSpPr>
        <p:spPr>
          <a:xfrm>
            <a:off x="731520" y="3474720"/>
            <a:ext cx="1828800" cy="27432"/>
          </a:xfrm>
          <a:prstGeom prst="rect">
            <a:avLst/>
          </a:prstGeom>
          <a:solidFill>
            <a:srgbClr val="D4A017"/>
          </a:solidFill>
          <a:ln/>
        </p:spPr>
        <p:txBody>
          <a:bodyPr/>
          <a:lstStyle/>
          <a:p>
            <a:endParaRPr lang="en-CH"/>
          </a:p>
        </p:txBody>
      </p:sp>
      <p:sp>
        <p:nvSpPr>
          <p:cNvPr id="7" name="Shape 5"/>
          <p:cNvSpPr/>
          <p:nvPr/>
        </p:nvSpPr>
        <p:spPr>
          <a:xfrm>
            <a:off x="0" y="4914900"/>
            <a:ext cx="9144000" cy="228600"/>
          </a:xfrm>
          <a:prstGeom prst="rect">
            <a:avLst/>
          </a:prstGeom>
          <a:solidFill>
            <a:srgbClr val="1A1A1A"/>
          </a:solidFill>
          <a:ln/>
        </p:spPr>
        <p:txBody>
          <a:bodyPr/>
          <a:lstStyle/>
          <a:p>
            <a:endParaRPr lang="en-CH"/>
          </a:p>
        </p:txBody>
      </p:sp>
      <p:sp>
        <p:nvSpPr>
          <p:cNvPr id="8" name="Text 6"/>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Source Sans Pro" pitchFamily="34" charset="0"/>
                <a:ea typeface="Source Sans Pro" pitchFamily="34" charset="-122"/>
                <a:cs typeface="Source Sans Pro" pitchFamily="34" charset="-120"/>
              </a:rPr>
              <a:t>Architecture</a:t>
            </a:r>
            <a:endParaRPr lang="en-US" sz="3200"/>
          </a:p>
        </p:txBody>
      </p:sp>
      <p:sp>
        <p:nvSpPr>
          <p:cNvPr id="4" name="Shape 2"/>
          <p:cNvSpPr/>
          <p:nvPr/>
        </p:nvSpPr>
        <p:spPr>
          <a:xfrm>
            <a:off x="365760" y="1051560"/>
            <a:ext cx="2697480" cy="25603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365760" y="1097280"/>
            <a:ext cx="64008" cy="2560320"/>
          </a:xfrm>
          <a:prstGeom prst="rect">
            <a:avLst/>
          </a:prstGeom>
          <a:solidFill>
            <a:srgbClr val="4D9DE5"/>
          </a:solidFill>
          <a:ln/>
        </p:spPr>
        <p:txBody>
          <a:bodyPr/>
          <a:lstStyle/>
          <a:p>
            <a:endParaRPr lang="en-CH"/>
          </a:p>
        </p:txBody>
      </p:sp>
      <p:pic>
        <p:nvPicPr>
          <p:cNvPr id="6" name="Image 0" descr="preencoded.png"/>
          <p:cNvPicPr>
            <a:picLocks noChangeAspect="1"/>
          </p:cNvPicPr>
          <p:nvPr/>
        </p:nvPicPr>
        <p:blipFill>
          <a:blip r:embed="rId3"/>
          <a:stretch>
            <a:fillRect/>
          </a:stretch>
        </p:blipFill>
        <p:spPr>
          <a:xfrm>
            <a:off x="594360" y="1325880"/>
            <a:ext cx="457200" cy="457200"/>
          </a:xfrm>
          <a:prstGeom prst="rect">
            <a:avLst/>
          </a:prstGeom>
        </p:spPr>
      </p:pic>
      <p:sp>
        <p:nvSpPr>
          <p:cNvPr id="7" name="Text 4"/>
          <p:cNvSpPr/>
          <p:nvPr/>
        </p:nvSpPr>
        <p:spPr>
          <a:xfrm>
            <a:off x="1188720" y="1325880"/>
            <a:ext cx="1645920" cy="457200"/>
          </a:xfrm>
          <a:prstGeom prst="rect">
            <a:avLst/>
          </a:prstGeom>
          <a:noFill/>
          <a:ln/>
        </p:spPr>
        <p:txBody>
          <a:bodyPr wrap="square" lIns="0" tIns="0" rIns="0" bIns="0" rtlCol="0" anchor="ctr"/>
          <a:lstStyle/>
          <a:p>
            <a:pPr marL="0" indent="0">
              <a:buNone/>
            </a:pPr>
            <a:r>
              <a:rPr lang="en-US" sz="1600">
                <a:solidFill>
                  <a:srgbClr val="4D9DE5"/>
                </a:solidFill>
                <a:latin typeface="Source Sans Pro" pitchFamily="34" charset="0"/>
                <a:ea typeface="Source Sans Pro" pitchFamily="34" charset="-122"/>
                <a:cs typeface="Source Sans Pro" pitchFamily="34" charset="-120"/>
              </a:rPr>
              <a:t>Imaging Sats</a:t>
            </a:r>
            <a:endParaRPr lang="en-US" sz="1600"/>
          </a:p>
        </p:txBody>
      </p:sp>
      <p:sp>
        <p:nvSpPr>
          <p:cNvPr id="8" name="Text 5"/>
          <p:cNvSpPr/>
          <p:nvPr/>
        </p:nvSpPr>
        <p:spPr>
          <a:xfrm>
            <a:off x="626364" y="1965960"/>
            <a:ext cx="2240280" cy="13716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High-resolution optical and infrared sensors capturing lunar surface data.</a:t>
            </a:r>
            <a:endParaRPr lang="en-US" sz="1200"/>
          </a:p>
        </p:txBody>
      </p:sp>
      <p:sp>
        <p:nvSpPr>
          <p:cNvPr id="9" name="Shape 6"/>
          <p:cNvSpPr/>
          <p:nvPr/>
        </p:nvSpPr>
        <p:spPr>
          <a:xfrm>
            <a:off x="3246120" y="1097280"/>
            <a:ext cx="2697480" cy="25603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0" name="Shape 7"/>
          <p:cNvSpPr/>
          <p:nvPr/>
        </p:nvSpPr>
        <p:spPr>
          <a:xfrm>
            <a:off x="3246120" y="1097280"/>
            <a:ext cx="64008" cy="2560320"/>
          </a:xfrm>
          <a:prstGeom prst="rect">
            <a:avLst/>
          </a:prstGeom>
          <a:solidFill>
            <a:srgbClr val="4CAF50"/>
          </a:solidFill>
          <a:ln/>
        </p:spPr>
        <p:txBody>
          <a:bodyPr/>
          <a:lstStyle/>
          <a:p>
            <a:endParaRPr lang="en-CH"/>
          </a:p>
        </p:txBody>
      </p:sp>
      <p:pic>
        <p:nvPicPr>
          <p:cNvPr id="11" name="Image 1" descr="preencoded.png"/>
          <p:cNvPicPr>
            <a:picLocks noChangeAspect="1"/>
          </p:cNvPicPr>
          <p:nvPr/>
        </p:nvPicPr>
        <p:blipFill>
          <a:blip r:embed="rId4"/>
          <a:stretch>
            <a:fillRect/>
          </a:stretch>
        </p:blipFill>
        <p:spPr>
          <a:xfrm>
            <a:off x="3474720" y="1325880"/>
            <a:ext cx="457200" cy="457200"/>
          </a:xfrm>
          <a:prstGeom prst="rect">
            <a:avLst/>
          </a:prstGeom>
        </p:spPr>
      </p:pic>
      <p:sp>
        <p:nvSpPr>
          <p:cNvPr id="12" name="Text 8"/>
          <p:cNvSpPr/>
          <p:nvPr/>
        </p:nvSpPr>
        <p:spPr>
          <a:xfrm>
            <a:off x="4069080" y="1325880"/>
            <a:ext cx="1645920" cy="457200"/>
          </a:xfrm>
          <a:prstGeom prst="rect">
            <a:avLst/>
          </a:prstGeom>
          <a:noFill/>
          <a:ln/>
        </p:spPr>
        <p:txBody>
          <a:bodyPr wrap="square" lIns="0" tIns="0" rIns="0" bIns="0" rtlCol="0" anchor="ctr"/>
          <a:lstStyle/>
          <a:p>
            <a:pPr marL="0" indent="0">
              <a:buNone/>
            </a:pPr>
            <a:r>
              <a:rPr lang="en-US" sz="1600">
                <a:solidFill>
                  <a:srgbClr val="4CAF50"/>
                </a:solidFill>
                <a:latin typeface="Source Sans Pro" pitchFamily="34" charset="0"/>
                <a:ea typeface="Source Sans Pro" pitchFamily="34" charset="-122"/>
                <a:cs typeface="Source Sans Pro" pitchFamily="34" charset="-120"/>
              </a:rPr>
              <a:t>Relay Sats</a:t>
            </a:r>
            <a:endParaRPr lang="en-US" sz="1600"/>
          </a:p>
        </p:txBody>
      </p:sp>
      <p:sp>
        <p:nvSpPr>
          <p:cNvPr id="13" name="Text 9"/>
          <p:cNvSpPr/>
          <p:nvPr/>
        </p:nvSpPr>
        <p:spPr>
          <a:xfrm>
            <a:off x="3506724" y="1965960"/>
            <a:ext cx="2240280" cy="13716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Link the imaging constellation to the Lunar Gateway for low-latency, high-bandwidth data downlink to Earth.</a:t>
            </a:r>
            <a:endParaRPr lang="en-US" sz="1200"/>
          </a:p>
        </p:txBody>
      </p:sp>
      <p:sp>
        <p:nvSpPr>
          <p:cNvPr id="14" name="Shape 10"/>
          <p:cNvSpPr/>
          <p:nvPr/>
        </p:nvSpPr>
        <p:spPr>
          <a:xfrm>
            <a:off x="6126480" y="1097280"/>
            <a:ext cx="2697480" cy="25603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5" name="Shape 11"/>
          <p:cNvSpPr/>
          <p:nvPr/>
        </p:nvSpPr>
        <p:spPr>
          <a:xfrm>
            <a:off x="6126480" y="1097280"/>
            <a:ext cx="64008" cy="2560320"/>
          </a:xfrm>
          <a:prstGeom prst="rect">
            <a:avLst/>
          </a:prstGeom>
          <a:solidFill>
            <a:srgbClr val="FFB300"/>
          </a:solidFill>
          <a:ln/>
        </p:spPr>
        <p:txBody>
          <a:bodyPr/>
          <a:lstStyle/>
          <a:p>
            <a:endParaRPr lang="en-CH"/>
          </a:p>
        </p:txBody>
      </p:sp>
      <p:pic>
        <p:nvPicPr>
          <p:cNvPr id="16" name="Image 2" descr="preencoded.png"/>
          <p:cNvPicPr>
            <a:picLocks noChangeAspect="1"/>
          </p:cNvPicPr>
          <p:nvPr/>
        </p:nvPicPr>
        <p:blipFill>
          <a:blip r:embed="rId5"/>
          <a:stretch>
            <a:fillRect/>
          </a:stretch>
        </p:blipFill>
        <p:spPr>
          <a:xfrm>
            <a:off x="6355080" y="1325880"/>
            <a:ext cx="457200" cy="457200"/>
          </a:xfrm>
          <a:prstGeom prst="rect">
            <a:avLst/>
          </a:prstGeom>
        </p:spPr>
      </p:pic>
      <p:sp>
        <p:nvSpPr>
          <p:cNvPr id="17" name="Text 12"/>
          <p:cNvSpPr/>
          <p:nvPr/>
        </p:nvSpPr>
        <p:spPr>
          <a:xfrm>
            <a:off x="6949440" y="1325880"/>
            <a:ext cx="1645920" cy="457200"/>
          </a:xfrm>
          <a:prstGeom prst="rect">
            <a:avLst/>
          </a:prstGeom>
          <a:noFill/>
          <a:ln/>
        </p:spPr>
        <p:txBody>
          <a:bodyPr wrap="square" lIns="0" tIns="0" rIns="0" bIns="0" rtlCol="0" anchor="ctr"/>
          <a:lstStyle/>
          <a:p>
            <a:pPr marL="0" indent="0">
              <a:buNone/>
            </a:pPr>
            <a:r>
              <a:rPr lang="en-US" sz="1600">
                <a:solidFill>
                  <a:srgbClr val="FFB300"/>
                </a:solidFill>
                <a:latin typeface="Source Sans Pro" pitchFamily="34" charset="0"/>
                <a:ea typeface="Source Sans Pro" pitchFamily="34" charset="-122"/>
                <a:cs typeface="Source Sans Pro" pitchFamily="34" charset="-120"/>
              </a:rPr>
              <a:t>Power Sats</a:t>
            </a:r>
            <a:endParaRPr lang="en-US" sz="1600"/>
          </a:p>
        </p:txBody>
      </p:sp>
      <p:sp>
        <p:nvSpPr>
          <p:cNvPr id="18" name="Text 13"/>
          <p:cNvSpPr/>
          <p:nvPr/>
        </p:nvSpPr>
        <p:spPr>
          <a:xfrm>
            <a:off x="6355080" y="1965960"/>
            <a:ext cx="2240280" cy="1371600"/>
          </a:xfrm>
          <a:prstGeom prst="rect">
            <a:avLst/>
          </a:prstGeom>
          <a:noFill/>
          <a:ln/>
        </p:spPr>
        <p:txBody>
          <a:bodyPr wrap="square" lIns="0" tIns="0" rIns="0" bIns="0" rtlCol="0" anchor="ctr"/>
          <a:lstStyle/>
          <a:p>
            <a:pPr marL="0" indent="0">
              <a:buNone/>
            </a:pPr>
            <a:r>
              <a:rPr lang="en-US" sz="1200">
                <a:solidFill>
                  <a:srgbClr val="AAAAAA"/>
                </a:solidFill>
                <a:latin typeface="Source Sans Pro" pitchFamily="34" charset="0"/>
                <a:ea typeface="Source Sans Pro" pitchFamily="34" charset="-122"/>
                <a:cs typeface="Source Sans Pro" pitchFamily="34" charset="-120"/>
              </a:rPr>
              <a:t>Supply microwave wireless power to nearby satellites, extending operational lifetime and capability in lunar orbit.</a:t>
            </a:r>
            <a:endParaRPr lang="en-US" sz="1200"/>
          </a:p>
        </p:txBody>
      </p:sp>
      <p:sp>
        <p:nvSpPr>
          <p:cNvPr id="19" name="Shape 14"/>
          <p:cNvSpPr/>
          <p:nvPr/>
        </p:nvSpPr>
        <p:spPr>
          <a:xfrm>
            <a:off x="365760" y="3840480"/>
            <a:ext cx="8412480" cy="77724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0" name="Shape 15"/>
          <p:cNvSpPr/>
          <p:nvPr/>
        </p:nvSpPr>
        <p:spPr>
          <a:xfrm>
            <a:off x="365760" y="3840480"/>
            <a:ext cx="8412480" cy="45720"/>
          </a:xfrm>
          <a:prstGeom prst="rect">
            <a:avLst/>
          </a:prstGeom>
          <a:solidFill>
            <a:srgbClr val="4D9DE5"/>
          </a:solidFill>
          <a:ln/>
        </p:spPr>
        <p:txBody>
          <a:bodyPr/>
          <a:lstStyle/>
          <a:p>
            <a:endParaRPr lang="en-CH"/>
          </a:p>
        </p:txBody>
      </p:sp>
      <p:sp>
        <p:nvSpPr>
          <p:cNvPr id="21" name="Text 16"/>
          <p:cNvSpPr/>
          <p:nvPr/>
        </p:nvSpPr>
        <p:spPr>
          <a:xfrm>
            <a:off x="640080" y="3931920"/>
            <a:ext cx="7863840" cy="594360"/>
          </a:xfrm>
          <a:prstGeom prst="rect">
            <a:avLst/>
          </a:prstGeom>
          <a:noFill/>
          <a:ln/>
        </p:spPr>
        <p:txBody>
          <a:bodyPr wrap="square" lIns="0" tIns="0" rIns="0" bIns="0" rtlCol="0" anchor="ctr"/>
          <a:lstStyle/>
          <a:p>
            <a:pPr marL="0" indent="0">
              <a:buNone/>
            </a:pPr>
            <a:r>
              <a:rPr lang="en-US" sz="1400" b="1">
                <a:solidFill>
                  <a:srgbClr val="4D9DE5"/>
                </a:solidFill>
                <a:latin typeface="Source Sans Pro" pitchFamily="34" charset="0"/>
                <a:ea typeface="Source Sans Pro" pitchFamily="34" charset="-122"/>
                <a:cs typeface="Source Sans Pro" pitchFamily="34" charset="-120"/>
              </a:rPr>
              <a:t>Data Flow:  </a:t>
            </a:r>
            <a:r>
              <a:rPr lang="en-US" sz="1400">
                <a:solidFill>
                  <a:srgbClr val="AAAAAA"/>
                </a:solidFill>
                <a:latin typeface="Source Sans Pro" pitchFamily="34" charset="0"/>
                <a:ea typeface="Source Sans Pro" pitchFamily="34" charset="-122"/>
                <a:cs typeface="Source Sans Pro" pitchFamily="34" charset="-120"/>
              </a:rPr>
              <a:t>Imaging Sats  →  Relay Sats  →  Lunar Gateway  →  Earth Ground Station  →  </a:t>
            </a:r>
            <a:r>
              <a:rPr lang="en-US" sz="1400" b="1">
                <a:solidFill>
                  <a:srgbClr val="FFFFFF"/>
                </a:solidFill>
                <a:latin typeface="Source Sans Pro" pitchFamily="34" charset="0"/>
                <a:ea typeface="Source Sans Pro" pitchFamily="34" charset="-122"/>
                <a:cs typeface="Source Sans Pro" pitchFamily="34" charset="-120"/>
              </a:rPr>
              <a:t>Rion Portal</a:t>
            </a:r>
            <a:endParaRPr lang="en-US" sz="1400"/>
          </a:p>
        </p:txBody>
      </p:sp>
      <p:sp>
        <p:nvSpPr>
          <p:cNvPr id="22" name="Shape 17"/>
          <p:cNvSpPr/>
          <p:nvPr/>
        </p:nvSpPr>
        <p:spPr>
          <a:xfrm>
            <a:off x="0" y="4914900"/>
            <a:ext cx="9144000" cy="228600"/>
          </a:xfrm>
          <a:prstGeom prst="rect">
            <a:avLst/>
          </a:prstGeom>
          <a:solidFill>
            <a:srgbClr val="1A1A1A"/>
          </a:solidFill>
          <a:ln/>
        </p:spPr>
        <p:txBody>
          <a:bodyPr/>
          <a:lstStyle/>
          <a:p>
            <a:endParaRPr lang="en-CH"/>
          </a:p>
        </p:txBody>
      </p:sp>
      <p:sp>
        <p:nvSpPr>
          <p:cNvPr id="23" name="Text 18"/>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a:effectLst/>
      </p:bgPr>
    </p:bg>
    <p:spTree>
      <p:nvGrpSpPr>
        <p:cNvPr id="1" name=""/>
        <p:cNvGrpSpPr/>
        <p:nvPr/>
      </p:nvGrpSpPr>
      <p:grpSpPr>
        <a:xfrm>
          <a:off x="0" y="0"/>
          <a:ext cx="0" cy="0"/>
          <a:chOff x="0" y="0"/>
          <a:chExt cx="0" cy="0"/>
        </a:xfrm>
      </p:grpSpPr>
      <p:sp>
        <p:nvSpPr>
          <p:cNvPr id="6" name="Shape 5">
            <a:extLst>
              <a:ext uri="{FF2B5EF4-FFF2-40B4-BE49-F238E27FC236}">
                <a16:creationId xmlns:a16="http://schemas.microsoft.com/office/drawing/2014/main" id="{1A4FF53F-AF2E-FFA8-03B7-C28BDEF58293}"/>
              </a:ext>
            </a:extLst>
          </p:cNvPr>
          <p:cNvSpPr/>
          <p:nvPr/>
        </p:nvSpPr>
        <p:spPr>
          <a:xfrm>
            <a:off x="4389696" y="896149"/>
            <a:ext cx="4618872" cy="3910597"/>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r>
              <a:rPr lang="en-US" sz="3200" b="1">
                <a:solidFill>
                  <a:srgbClr val="FFFFFF"/>
                </a:solidFill>
                <a:latin typeface="Source Sans Pro"/>
                <a:ea typeface="Source Sans Pro"/>
              </a:rPr>
              <a:t>Rational and Specifications</a:t>
            </a:r>
          </a:p>
        </p:txBody>
      </p:sp>
      <p:sp>
        <p:nvSpPr>
          <p:cNvPr id="4" name="Text 2"/>
          <p:cNvSpPr/>
          <p:nvPr/>
        </p:nvSpPr>
        <p:spPr>
          <a:xfrm>
            <a:off x="304096" y="832565"/>
            <a:ext cx="7315200" cy="365760"/>
          </a:xfrm>
          <a:prstGeom prst="rect">
            <a:avLst/>
          </a:prstGeom>
          <a:noFill/>
          <a:ln/>
        </p:spPr>
        <p:txBody>
          <a:bodyPr wrap="square" lIns="0" tIns="0" rIns="0" bIns="0" rtlCol="0" anchor="ctr"/>
          <a:lstStyle/>
          <a:p>
            <a:pPr marL="0" indent="0">
              <a:buNone/>
            </a:pPr>
            <a:r>
              <a:rPr lang="en-US" sz="1600" i="1">
                <a:solidFill>
                  <a:srgbClr val="4D9DE5"/>
                </a:solidFill>
                <a:latin typeface="Source Sans Pro" pitchFamily="34" charset="0"/>
                <a:ea typeface="Source Sans Pro" pitchFamily="34" charset="-122"/>
                <a:cs typeface="Source Sans Pro" pitchFamily="34" charset="-120"/>
              </a:rPr>
              <a:t>How we will do it</a:t>
            </a:r>
            <a:endParaRPr lang="en-US" sz="1600"/>
          </a:p>
        </p:txBody>
      </p:sp>
      <p:sp>
        <p:nvSpPr>
          <p:cNvPr id="8" name="Shape 6"/>
          <p:cNvSpPr/>
          <p:nvPr/>
        </p:nvSpPr>
        <p:spPr>
          <a:xfrm>
            <a:off x="4389696" y="896150"/>
            <a:ext cx="88020" cy="3900991"/>
          </a:xfrm>
          <a:prstGeom prst="rect">
            <a:avLst/>
          </a:prstGeom>
          <a:solidFill>
            <a:srgbClr val="4D9DE5"/>
          </a:solidFill>
          <a:ln/>
        </p:spPr>
        <p:txBody>
          <a:bodyPr/>
          <a:lstStyle/>
          <a:p>
            <a:endParaRPr lang="en-CH"/>
          </a:p>
        </p:txBody>
      </p:sp>
      <p:sp>
        <p:nvSpPr>
          <p:cNvPr id="9" name="Text 7"/>
          <p:cNvSpPr/>
          <p:nvPr/>
        </p:nvSpPr>
        <p:spPr>
          <a:xfrm>
            <a:off x="4572768" y="894037"/>
            <a:ext cx="3474720" cy="320040"/>
          </a:xfrm>
          <a:prstGeom prst="rect">
            <a:avLst/>
          </a:prstGeom>
          <a:noFill/>
          <a:ln/>
        </p:spPr>
        <p:txBody>
          <a:bodyPr wrap="square" lIns="0" tIns="0" rIns="0" bIns="0" rtlCol="0" anchor="ctr"/>
          <a:lstStyle/>
          <a:p>
            <a:pPr marL="0" indent="0">
              <a:buNone/>
            </a:pPr>
            <a:r>
              <a:rPr lang="en-US" sz="1500">
                <a:solidFill>
                  <a:srgbClr val="4D9DE5"/>
                </a:solidFill>
                <a:latin typeface="Source Sans Pro" pitchFamily="34" charset="0"/>
                <a:ea typeface="Source Sans Pro" pitchFamily="34" charset="-122"/>
                <a:cs typeface="Source Sans Pro" pitchFamily="34" charset="-120"/>
              </a:rPr>
              <a:t>Constellation Specifications</a:t>
            </a:r>
            <a:endParaRPr lang="en-US" sz="1500"/>
          </a:p>
        </p:txBody>
      </p:sp>
      <p:sp>
        <p:nvSpPr>
          <p:cNvPr id="10" name="Text 8"/>
          <p:cNvSpPr/>
          <p:nvPr/>
        </p:nvSpPr>
        <p:spPr>
          <a:xfrm>
            <a:off x="4572768" y="1202358"/>
            <a:ext cx="1463040" cy="274320"/>
          </a:xfrm>
          <a:prstGeom prst="rect">
            <a:avLst/>
          </a:prstGeom>
          <a:noFill/>
          <a:ln/>
        </p:spPr>
        <p:txBody>
          <a:bodyPr wrap="square" lIns="0" tIns="0" rIns="0" bIns="0" rtlCol="0" anchor="ctr"/>
          <a:lstStyle/>
          <a:p>
            <a:pPr marL="0" indent="0">
              <a:buNone/>
            </a:pPr>
            <a:r>
              <a:rPr lang="en-US" sz="1100" b="1">
                <a:solidFill>
                  <a:srgbClr val="FFFFFF"/>
                </a:solidFill>
                <a:latin typeface="Source Sans Pro"/>
                <a:ea typeface="Source Sans Pro"/>
                <a:cs typeface="Source Sans Pro" pitchFamily="34" charset="-120"/>
              </a:rPr>
              <a:t>No. of 2U CubeSats</a:t>
            </a:r>
            <a:endParaRPr lang="en-US" sz="1100"/>
          </a:p>
        </p:txBody>
      </p:sp>
      <p:sp>
        <p:nvSpPr>
          <p:cNvPr id="11" name="Text 9"/>
          <p:cNvSpPr/>
          <p:nvPr/>
        </p:nvSpPr>
        <p:spPr>
          <a:xfrm>
            <a:off x="5858116" y="1231087"/>
            <a:ext cx="3178884" cy="221493"/>
          </a:xfrm>
          <a:prstGeom prst="rect">
            <a:avLst/>
          </a:prstGeom>
          <a:noFill/>
          <a:ln/>
        </p:spPr>
        <p:txBody>
          <a:bodyPr wrap="square" lIns="0" tIns="0" rIns="0" bIns="0" rtlCol="0" anchor="ctr"/>
          <a:lstStyle/>
          <a:p>
            <a:r>
              <a:rPr lang="en-US" sz="1100">
                <a:solidFill>
                  <a:srgbClr val="AAAAAA"/>
                </a:solidFill>
                <a:latin typeface="Source Sans Pro"/>
                <a:ea typeface="Source Sans Pro"/>
              </a:rPr>
              <a:t>30 x 2U Imagin CubeSats and 4 x 2U Relay CubeSats</a:t>
            </a:r>
          </a:p>
        </p:txBody>
      </p:sp>
      <p:sp>
        <p:nvSpPr>
          <p:cNvPr id="12" name="Text 10"/>
          <p:cNvSpPr/>
          <p:nvPr/>
        </p:nvSpPr>
        <p:spPr>
          <a:xfrm>
            <a:off x="4572768" y="1452789"/>
            <a:ext cx="1731981" cy="303134"/>
          </a:xfrm>
          <a:prstGeom prst="rect">
            <a:avLst/>
          </a:prstGeom>
          <a:noFill/>
          <a:ln/>
        </p:spPr>
        <p:txBody>
          <a:bodyPr wrap="square" lIns="0" tIns="0" rIns="0" bIns="0" rtlCol="0" anchor="ctr"/>
          <a:lstStyle/>
          <a:p>
            <a:pPr marL="0" indent="0">
              <a:buNone/>
            </a:pPr>
            <a:r>
              <a:rPr lang="en-US" sz="1100" b="1">
                <a:solidFill>
                  <a:srgbClr val="FFFFFF"/>
                </a:solidFill>
                <a:latin typeface="Source Sans Pro" pitchFamily="34" charset="0"/>
                <a:ea typeface="Source Sans Pro" pitchFamily="34" charset="-122"/>
              </a:rPr>
              <a:t>Number of orbital planes</a:t>
            </a:r>
            <a:endParaRPr lang="en-US" sz="1100"/>
          </a:p>
        </p:txBody>
      </p:sp>
      <p:sp>
        <p:nvSpPr>
          <p:cNvPr id="13" name="Text 11"/>
          <p:cNvSpPr/>
          <p:nvPr/>
        </p:nvSpPr>
        <p:spPr>
          <a:xfrm>
            <a:off x="6232714" y="1453007"/>
            <a:ext cx="2780273" cy="442409"/>
          </a:xfrm>
          <a:prstGeom prst="rect">
            <a:avLst/>
          </a:prstGeom>
          <a:noFill/>
          <a:ln/>
        </p:spPr>
        <p:txBody>
          <a:bodyPr wrap="square" lIns="0" tIns="0" rIns="0" bIns="0" rtlCol="0" anchor="ctr"/>
          <a:lstStyle/>
          <a:p>
            <a:r>
              <a:rPr lang="en-US" sz="1100">
                <a:solidFill>
                  <a:srgbClr val="AAAAAA"/>
                </a:solidFill>
                <a:latin typeface="Source Sans Pro"/>
                <a:ea typeface="Source Sans Pro"/>
              </a:rPr>
              <a:t>30  for Primary Imaging layer </a:t>
            </a:r>
            <a:endParaRPr lang="en-US">
              <a:solidFill>
                <a:srgbClr val="000000"/>
              </a:solidFill>
              <a:latin typeface="Calibri" panose="020F0502020204030204"/>
              <a:ea typeface="Calibri" panose="020F0502020204030204"/>
              <a:cs typeface="Calibri" panose="020F0502020204030204"/>
            </a:endParaRPr>
          </a:p>
          <a:p>
            <a:r>
              <a:rPr lang="en-US" sz="1100">
                <a:solidFill>
                  <a:srgbClr val="AAAAAA"/>
                </a:solidFill>
                <a:latin typeface="Source Sans Pro"/>
                <a:ea typeface="Source Sans Pro"/>
              </a:rPr>
              <a:t>4 planes for Secondary Support Layer</a:t>
            </a:r>
            <a:endParaRPr lang="en-US">
              <a:ea typeface="Calibri"/>
              <a:cs typeface="Calibri"/>
            </a:endParaRPr>
          </a:p>
        </p:txBody>
      </p:sp>
      <p:sp>
        <p:nvSpPr>
          <p:cNvPr id="14" name="Text 12"/>
          <p:cNvSpPr/>
          <p:nvPr/>
        </p:nvSpPr>
        <p:spPr>
          <a:xfrm>
            <a:off x="4572768" y="1893962"/>
            <a:ext cx="1463040" cy="274320"/>
          </a:xfrm>
          <a:prstGeom prst="rect">
            <a:avLst/>
          </a:prstGeom>
          <a:noFill/>
          <a:ln/>
        </p:spPr>
        <p:txBody>
          <a:bodyPr wrap="square" lIns="0" tIns="0" rIns="0" bIns="0" rtlCol="0" anchor="ctr"/>
          <a:lstStyle/>
          <a:p>
            <a:pPr marL="0" indent="0">
              <a:buNone/>
            </a:pPr>
            <a:r>
              <a:rPr lang="en-US" sz="1100" b="1">
                <a:solidFill>
                  <a:srgbClr val="FFFFFF"/>
                </a:solidFill>
                <a:latin typeface="Source Sans Pro" pitchFamily="34" charset="0"/>
                <a:ea typeface="Source Sans Pro" pitchFamily="34" charset="-122"/>
                <a:cs typeface="Source Sans Pro" pitchFamily="34" charset="-120"/>
              </a:rPr>
              <a:t>Lunar coverage</a:t>
            </a:r>
            <a:endParaRPr lang="en-US" sz="1100"/>
          </a:p>
        </p:txBody>
      </p:sp>
      <p:sp>
        <p:nvSpPr>
          <p:cNvPr id="15" name="Text 13"/>
          <p:cNvSpPr/>
          <p:nvPr/>
        </p:nvSpPr>
        <p:spPr>
          <a:xfrm>
            <a:off x="6232712" y="1893962"/>
            <a:ext cx="2103120" cy="274320"/>
          </a:xfrm>
          <a:prstGeom prst="rect">
            <a:avLst/>
          </a:prstGeom>
          <a:noFill/>
          <a:ln/>
        </p:spPr>
        <p:txBody>
          <a:bodyPr wrap="square" lIns="0" tIns="0" rIns="0" bIns="0" rtlCol="0" anchor="ctr"/>
          <a:lstStyle/>
          <a:p>
            <a:pPr marL="0" indent="0">
              <a:buNone/>
            </a:pPr>
            <a:r>
              <a:rPr lang="en-US" sz="1100">
                <a:solidFill>
                  <a:srgbClr val="AAAAAA"/>
                </a:solidFill>
                <a:latin typeface="Source Sans Pro"/>
                <a:ea typeface="Source Sans Pro"/>
              </a:rPr>
              <a:t>99%</a:t>
            </a:r>
            <a:endParaRPr lang="en-US" sz="1100"/>
          </a:p>
        </p:txBody>
      </p:sp>
      <p:sp>
        <p:nvSpPr>
          <p:cNvPr id="16" name="Text 14"/>
          <p:cNvSpPr/>
          <p:nvPr/>
        </p:nvSpPr>
        <p:spPr>
          <a:xfrm>
            <a:off x="4572768" y="2157227"/>
            <a:ext cx="1463040" cy="274320"/>
          </a:xfrm>
          <a:prstGeom prst="rect">
            <a:avLst/>
          </a:prstGeom>
          <a:noFill/>
          <a:ln/>
        </p:spPr>
        <p:txBody>
          <a:bodyPr wrap="square" lIns="0" tIns="0" rIns="0" bIns="0" rtlCol="0" anchor="ctr"/>
          <a:lstStyle/>
          <a:p>
            <a:pPr marL="0" indent="0">
              <a:buNone/>
            </a:pPr>
            <a:r>
              <a:rPr lang="en-US" sz="1100" b="1">
                <a:solidFill>
                  <a:srgbClr val="FFFFFF"/>
                </a:solidFill>
                <a:latin typeface="Source Sans Pro" pitchFamily="34" charset="0"/>
                <a:ea typeface="Source Sans Pro" pitchFamily="34" charset="-122"/>
              </a:rPr>
              <a:t>Time to full renewal</a:t>
            </a:r>
            <a:endParaRPr lang="en-US" sz="1100"/>
          </a:p>
        </p:txBody>
      </p:sp>
      <p:sp>
        <p:nvSpPr>
          <p:cNvPr id="17" name="Text 15"/>
          <p:cNvSpPr/>
          <p:nvPr/>
        </p:nvSpPr>
        <p:spPr>
          <a:xfrm>
            <a:off x="6232713" y="2166832"/>
            <a:ext cx="2103120" cy="274320"/>
          </a:xfrm>
          <a:prstGeom prst="rect">
            <a:avLst/>
          </a:prstGeom>
          <a:noFill/>
          <a:ln/>
        </p:spPr>
        <p:txBody>
          <a:bodyPr wrap="square" lIns="0" tIns="0" rIns="0" bIns="0" rtlCol="0" anchor="ctr"/>
          <a:lstStyle/>
          <a:p>
            <a:r>
              <a:rPr lang="en-US" sz="1100">
                <a:solidFill>
                  <a:srgbClr val="AAAAAA"/>
                </a:solidFill>
                <a:latin typeface="Source Sans Pro"/>
                <a:ea typeface="Source Sans Pro"/>
              </a:rPr>
              <a:t>8-10 Years</a:t>
            </a:r>
          </a:p>
        </p:txBody>
      </p:sp>
      <p:sp>
        <p:nvSpPr>
          <p:cNvPr id="18" name="Text 16"/>
          <p:cNvSpPr/>
          <p:nvPr/>
        </p:nvSpPr>
        <p:spPr>
          <a:xfrm>
            <a:off x="4572768" y="2442364"/>
            <a:ext cx="1463040" cy="274320"/>
          </a:xfrm>
          <a:prstGeom prst="rect">
            <a:avLst/>
          </a:prstGeom>
          <a:noFill/>
          <a:ln/>
        </p:spPr>
        <p:txBody>
          <a:bodyPr wrap="square" lIns="0" tIns="0" rIns="0" bIns="0" rtlCol="0" anchor="ctr"/>
          <a:lstStyle/>
          <a:p>
            <a:pPr marL="0" indent="0">
              <a:buNone/>
            </a:pPr>
            <a:r>
              <a:rPr lang="en-US" sz="1100" b="1">
                <a:solidFill>
                  <a:srgbClr val="FFFFFF"/>
                </a:solidFill>
                <a:latin typeface="Source Sans Pro" pitchFamily="34" charset="0"/>
                <a:ea typeface="Source Sans Pro" pitchFamily="34" charset="-122"/>
                <a:cs typeface="Source Sans Pro" pitchFamily="34" charset="-120"/>
              </a:rPr>
              <a:t>Imaging Res.</a:t>
            </a:r>
            <a:endParaRPr lang="en-US" sz="1100"/>
          </a:p>
        </p:txBody>
      </p:sp>
      <p:sp>
        <p:nvSpPr>
          <p:cNvPr id="19" name="Text 17"/>
          <p:cNvSpPr/>
          <p:nvPr/>
        </p:nvSpPr>
        <p:spPr>
          <a:xfrm>
            <a:off x="6232712" y="2432758"/>
            <a:ext cx="3178883" cy="240703"/>
          </a:xfrm>
          <a:prstGeom prst="rect">
            <a:avLst/>
          </a:prstGeom>
          <a:noFill/>
          <a:ln/>
        </p:spPr>
        <p:txBody>
          <a:bodyPr wrap="square" lIns="0" tIns="0" rIns="0" bIns="0" rtlCol="0" anchor="ctr"/>
          <a:lstStyle/>
          <a:p>
            <a:pPr marL="0" indent="0">
              <a:buNone/>
            </a:pPr>
            <a:r>
              <a:rPr lang="en-US" sz="1100">
                <a:solidFill>
                  <a:srgbClr val="AAAAAA"/>
                </a:solidFill>
                <a:latin typeface="Source Sans Pro"/>
                <a:ea typeface="Source Sans Pro"/>
                <a:cs typeface="Source Sans Pro" pitchFamily="34" charset="-120"/>
              </a:rPr>
              <a:t>8 m/pixel optical, 16 m IR (with current tech)</a:t>
            </a:r>
            <a:endParaRPr lang="en-US" sz="1100">
              <a:latin typeface="Source Sans Pro"/>
              <a:ea typeface="Source Sans Pro"/>
            </a:endParaRPr>
          </a:p>
        </p:txBody>
      </p:sp>
      <p:sp>
        <p:nvSpPr>
          <p:cNvPr id="22" name="Text 20"/>
          <p:cNvSpPr/>
          <p:nvPr/>
        </p:nvSpPr>
        <p:spPr>
          <a:xfrm>
            <a:off x="4937760" y="3831336"/>
            <a:ext cx="1463040" cy="274320"/>
          </a:xfrm>
          <a:prstGeom prst="rect">
            <a:avLst/>
          </a:prstGeom>
          <a:noFill/>
          <a:ln/>
        </p:spPr>
        <p:txBody>
          <a:bodyPr wrap="square" lIns="0" tIns="0" rIns="0" bIns="0" rtlCol="0" anchor="ctr"/>
          <a:lstStyle/>
          <a:p>
            <a:pPr marL="0" indent="0">
              <a:buNone/>
            </a:pPr>
            <a:endParaRPr lang="en-US" sz="1100"/>
          </a:p>
        </p:txBody>
      </p:sp>
      <p:sp>
        <p:nvSpPr>
          <p:cNvPr id="24" name="Shape 22"/>
          <p:cNvSpPr/>
          <p:nvPr/>
        </p:nvSpPr>
        <p:spPr>
          <a:xfrm>
            <a:off x="0" y="4914900"/>
            <a:ext cx="9144000" cy="228600"/>
          </a:xfrm>
          <a:prstGeom prst="rect">
            <a:avLst/>
          </a:prstGeom>
          <a:solidFill>
            <a:srgbClr val="1A1A1A"/>
          </a:solidFill>
          <a:ln/>
        </p:spPr>
        <p:txBody>
          <a:bodyPr/>
          <a:lstStyle/>
          <a:p>
            <a:endParaRPr lang="en-CH"/>
          </a:p>
        </p:txBody>
      </p:sp>
      <p:sp>
        <p:nvSpPr>
          <p:cNvPr id="25" name="Text 23"/>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
        <p:nvSpPr>
          <p:cNvPr id="23" name="Text 7">
            <a:extLst>
              <a:ext uri="{FF2B5EF4-FFF2-40B4-BE49-F238E27FC236}">
                <a16:creationId xmlns:a16="http://schemas.microsoft.com/office/drawing/2014/main" id="{9E5DFDE3-4594-52F4-6265-B1348989EB3F}"/>
              </a:ext>
            </a:extLst>
          </p:cNvPr>
          <p:cNvSpPr/>
          <p:nvPr/>
        </p:nvSpPr>
        <p:spPr>
          <a:xfrm>
            <a:off x="4574383" y="2714235"/>
            <a:ext cx="3474720" cy="320040"/>
          </a:xfrm>
          <a:prstGeom prst="rect">
            <a:avLst/>
          </a:prstGeom>
          <a:noFill/>
          <a:ln/>
        </p:spPr>
        <p:txBody>
          <a:bodyPr wrap="square" lIns="0" tIns="0" rIns="0" bIns="0" rtlCol="0" anchor="ctr"/>
          <a:lstStyle/>
          <a:p>
            <a:r>
              <a:rPr lang="en-US" sz="1500">
                <a:solidFill>
                  <a:srgbClr val="4D9DE5"/>
                </a:solidFill>
                <a:latin typeface="Source Sans Pro"/>
                <a:ea typeface="Source Sans Pro"/>
              </a:rPr>
              <a:t>Design Rational </a:t>
            </a:r>
          </a:p>
        </p:txBody>
      </p:sp>
      <p:sp>
        <p:nvSpPr>
          <p:cNvPr id="29" name="Text 8">
            <a:extLst>
              <a:ext uri="{FF2B5EF4-FFF2-40B4-BE49-F238E27FC236}">
                <a16:creationId xmlns:a16="http://schemas.microsoft.com/office/drawing/2014/main" id="{B47B2CBB-AD56-EC35-D1B9-2EF766E42AEC}"/>
              </a:ext>
            </a:extLst>
          </p:cNvPr>
          <p:cNvSpPr/>
          <p:nvPr/>
        </p:nvSpPr>
        <p:spPr>
          <a:xfrm>
            <a:off x="4574382" y="3036440"/>
            <a:ext cx="1883871" cy="305492"/>
          </a:xfrm>
          <a:prstGeom prst="rect">
            <a:avLst/>
          </a:prstGeom>
          <a:noFill/>
          <a:ln/>
        </p:spPr>
        <p:txBody>
          <a:bodyPr wrap="square" lIns="0" tIns="0" rIns="0" bIns="0" rtlCol="0" anchor="ctr"/>
          <a:lstStyle/>
          <a:p>
            <a:r>
              <a:rPr lang="en-US" sz="1100" b="1">
                <a:solidFill>
                  <a:srgbClr val="FFFFFF"/>
                </a:solidFill>
                <a:latin typeface="Source Sans Pro"/>
                <a:ea typeface="Source Sans Pro"/>
              </a:rPr>
              <a:t>Coverage and Orbit selection:</a:t>
            </a:r>
          </a:p>
        </p:txBody>
      </p:sp>
      <p:sp>
        <p:nvSpPr>
          <p:cNvPr id="30" name="Text 9">
            <a:extLst>
              <a:ext uri="{FF2B5EF4-FFF2-40B4-BE49-F238E27FC236}">
                <a16:creationId xmlns:a16="http://schemas.microsoft.com/office/drawing/2014/main" id="{02703814-CD43-BD98-F5F1-8CAB1E0F72EE}"/>
              </a:ext>
            </a:extLst>
          </p:cNvPr>
          <p:cNvSpPr/>
          <p:nvPr/>
        </p:nvSpPr>
        <p:spPr>
          <a:xfrm>
            <a:off x="4573003" y="3261327"/>
            <a:ext cx="3579021" cy="1142484"/>
          </a:xfrm>
          <a:prstGeom prst="rect">
            <a:avLst/>
          </a:prstGeom>
          <a:noFill/>
          <a:ln/>
        </p:spPr>
        <p:txBody>
          <a:bodyPr wrap="square" lIns="0" tIns="0" rIns="0" bIns="0" rtlCol="0" anchor="ctr"/>
          <a:lstStyle/>
          <a:p>
            <a:pPr marL="171450" indent="-171450">
              <a:buFont typeface="Arial"/>
              <a:buChar char="•"/>
            </a:pPr>
            <a:r>
              <a:rPr lang="en-US" sz="1100">
                <a:solidFill>
                  <a:srgbClr val="AAAAAA"/>
                </a:solidFill>
                <a:ea typeface="+mn-lt"/>
                <a:cs typeface="+mn-lt"/>
              </a:rPr>
              <a:t>93° inclination selected from GMAT trade study.</a:t>
            </a:r>
            <a:endParaRPr lang="en-US" sz="1100">
              <a:solidFill>
                <a:srgbClr val="AAAAAA"/>
              </a:solidFill>
              <a:ea typeface="Calibri"/>
              <a:cs typeface="Calibri"/>
            </a:endParaRPr>
          </a:p>
          <a:p>
            <a:pPr marL="171450" indent="-171450">
              <a:buFont typeface="Arial"/>
              <a:buChar char="•"/>
            </a:pPr>
            <a:r>
              <a:rPr lang="en-US" sz="1100">
                <a:solidFill>
                  <a:srgbClr val="AAAAAA"/>
                </a:solidFill>
                <a:ea typeface="+mn-lt"/>
                <a:cs typeface="+mn-lt"/>
              </a:rPr>
              <a:t>Walker-style distributed plane spacing.</a:t>
            </a:r>
            <a:endParaRPr lang="en-US" sz="1100">
              <a:solidFill>
                <a:srgbClr val="AAAAAA"/>
              </a:solidFill>
              <a:ea typeface="Calibri"/>
              <a:cs typeface="Calibri"/>
            </a:endParaRPr>
          </a:p>
          <a:p>
            <a:pPr marL="171450" indent="-171450">
              <a:buFont typeface="Arial"/>
              <a:buChar char="•"/>
            </a:pPr>
            <a:r>
              <a:rPr lang="en-US" sz="1100">
                <a:solidFill>
                  <a:srgbClr val="AAAAAA"/>
                </a:solidFill>
                <a:ea typeface="+mn-lt"/>
                <a:cs typeface="+mn-lt"/>
              </a:rPr>
              <a:t>Even RAAN separation to avoid coverage clustering.</a:t>
            </a:r>
            <a:endParaRPr lang="en-US" sz="1100">
              <a:solidFill>
                <a:srgbClr val="AAAAAA"/>
              </a:solidFill>
              <a:ea typeface="Calibri"/>
              <a:cs typeface="Calibri"/>
            </a:endParaRPr>
          </a:p>
          <a:p>
            <a:endParaRPr lang="en-US" sz="1100">
              <a:solidFill>
                <a:srgbClr val="AAAAAA"/>
              </a:solidFill>
              <a:ea typeface="Calibri"/>
              <a:cs typeface="Calibri"/>
            </a:endParaRPr>
          </a:p>
          <a:p>
            <a:pPr marL="171450" indent="-171450">
              <a:buFont typeface="Arial"/>
              <a:buChar char="•"/>
            </a:pPr>
            <a:endParaRPr lang="en-US" sz="1100">
              <a:solidFill>
                <a:srgbClr val="AAAAAA"/>
              </a:solidFill>
              <a:ea typeface="Calibri"/>
              <a:cs typeface="Calibri"/>
            </a:endParaRPr>
          </a:p>
          <a:p>
            <a:endParaRPr lang="en-US" sz="1100">
              <a:solidFill>
                <a:srgbClr val="AAAAAA"/>
              </a:solidFill>
              <a:ea typeface="Calibri"/>
              <a:cs typeface="Calibri"/>
            </a:endParaRPr>
          </a:p>
        </p:txBody>
      </p:sp>
      <p:sp>
        <p:nvSpPr>
          <p:cNvPr id="31" name="Text 8">
            <a:extLst>
              <a:ext uri="{FF2B5EF4-FFF2-40B4-BE49-F238E27FC236}">
                <a16:creationId xmlns:a16="http://schemas.microsoft.com/office/drawing/2014/main" id="{1C1BC0B1-8657-5F1A-06B8-2417F85B6C28}"/>
              </a:ext>
            </a:extLst>
          </p:cNvPr>
          <p:cNvSpPr/>
          <p:nvPr/>
        </p:nvSpPr>
        <p:spPr>
          <a:xfrm>
            <a:off x="4574381" y="3914428"/>
            <a:ext cx="1883871" cy="305492"/>
          </a:xfrm>
          <a:prstGeom prst="rect">
            <a:avLst/>
          </a:prstGeom>
          <a:noFill/>
          <a:ln/>
        </p:spPr>
        <p:txBody>
          <a:bodyPr wrap="square" lIns="0" tIns="0" rIns="0" bIns="0" rtlCol="0" anchor="ctr"/>
          <a:lstStyle/>
          <a:p>
            <a:r>
              <a:rPr lang="en-US" sz="1100" b="1">
                <a:solidFill>
                  <a:srgbClr val="FFFFFF"/>
                </a:solidFill>
                <a:latin typeface="Source Sans Pro"/>
                <a:ea typeface="Source Sans Pro"/>
              </a:rPr>
              <a:t>Renewal Strategy:</a:t>
            </a:r>
          </a:p>
        </p:txBody>
      </p:sp>
      <p:sp>
        <p:nvSpPr>
          <p:cNvPr id="32" name="Text 9">
            <a:extLst>
              <a:ext uri="{FF2B5EF4-FFF2-40B4-BE49-F238E27FC236}">
                <a16:creationId xmlns:a16="http://schemas.microsoft.com/office/drawing/2014/main" id="{F46B2542-5554-23A5-A6EB-90DA237D7F0F}"/>
              </a:ext>
            </a:extLst>
          </p:cNvPr>
          <p:cNvSpPr/>
          <p:nvPr/>
        </p:nvSpPr>
        <p:spPr>
          <a:xfrm>
            <a:off x="4573003" y="4105877"/>
            <a:ext cx="3391591" cy="809451"/>
          </a:xfrm>
          <a:prstGeom prst="rect">
            <a:avLst/>
          </a:prstGeom>
          <a:noFill/>
          <a:ln/>
        </p:spPr>
        <p:txBody>
          <a:bodyPr wrap="square" lIns="0" tIns="0" rIns="0" bIns="0" rtlCol="0" anchor="ctr"/>
          <a:lstStyle/>
          <a:p>
            <a:pPr marL="171450" indent="-171450">
              <a:buFont typeface="Arial"/>
              <a:buChar char="•"/>
            </a:pPr>
            <a:r>
              <a:rPr lang="en-US" sz="1100">
                <a:solidFill>
                  <a:srgbClr val="AAAAAA"/>
                </a:solidFill>
                <a:ea typeface="+mn-lt"/>
                <a:cs typeface="+mn-lt"/>
              </a:rPr>
              <a:t>Gradual replenishment model.</a:t>
            </a:r>
          </a:p>
          <a:p>
            <a:pPr marL="171450" indent="-171450">
              <a:buFont typeface="Arial"/>
              <a:buChar char="•"/>
            </a:pPr>
            <a:r>
              <a:rPr lang="en-US" sz="1100">
                <a:solidFill>
                  <a:srgbClr val="AAAAAA"/>
                </a:solidFill>
                <a:ea typeface="+mn-lt"/>
                <a:cs typeface="+mn-lt"/>
              </a:rPr>
              <a:t>Replace 1 plane per 2 years.</a:t>
            </a:r>
          </a:p>
          <a:p>
            <a:pPr marL="171450" indent="-171450">
              <a:buFont typeface="Arial"/>
              <a:buChar char="•"/>
            </a:pPr>
            <a:r>
              <a:rPr lang="en-US" sz="1100">
                <a:solidFill>
                  <a:srgbClr val="AAAAAA"/>
                </a:solidFill>
                <a:ea typeface="+mn-lt"/>
                <a:cs typeface="+mn-lt"/>
              </a:rPr>
              <a:t>Avoid full constellation replacement at end-of-life.</a:t>
            </a:r>
          </a:p>
          <a:p>
            <a:pPr marL="171450" indent="-171450">
              <a:buFont typeface="Arial"/>
              <a:buChar char="•"/>
            </a:pPr>
            <a:endParaRPr lang="en-US" sz="1100">
              <a:solidFill>
                <a:srgbClr val="AAAAAA"/>
              </a:solidFill>
              <a:ea typeface="+mn-lt"/>
              <a:cs typeface="+mn-lt"/>
            </a:endParaRPr>
          </a:p>
        </p:txBody>
      </p:sp>
      <p:pic>
        <p:nvPicPr>
          <p:cNvPr id="5" name="Picture 4" descr="A screen shot of a moon&#10;&#10;AI-generated content may be incorrect.">
            <a:extLst>
              <a:ext uri="{FF2B5EF4-FFF2-40B4-BE49-F238E27FC236}">
                <a16:creationId xmlns:a16="http://schemas.microsoft.com/office/drawing/2014/main" id="{C5809061-8131-3244-2D7C-B96624751788}"/>
              </a:ext>
            </a:extLst>
          </p:cNvPr>
          <p:cNvPicPr>
            <a:picLocks noChangeAspect="1"/>
          </p:cNvPicPr>
          <p:nvPr/>
        </p:nvPicPr>
        <p:blipFill>
          <a:blip r:embed="rId3"/>
          <a:srcRect l="7308" t="10718" r="7821" b="23150"/>
          <a:stretch>
            <a:fillRect/>
          </a:stretch>
        </p:blipFill>
        <p:spPr>
          <a:xfrm>
            <a:off x="382621" y="1580109"/>
            <a:ext cx="3186418" cy="3077182"/>
          </a:xfrm>
          <a:prstGeom prst="rect">
            <a:avLst/>
          </a:prstGeom>
        </p:spPr>
      </p:pic>
      <p:sp>
        <p:nvSpPr>
          <p:cNvPr id="7" name="Text 9">
            <a:extLst>
              <a:ext uri="{FF2B5EF4-FFF2-40B4-BE49-F238E27FC236}">
                <a16:creationId xmlns:a16="http://schemas.microsoft.com/office/drawing/2014/main" id="{D5AF42D4-6B8F-5FBB-0BC3-A826EECBA29F}"/>
              </a:ext>
            </a:extLst>
          </p:cNvPr>
          <p:cNvSpPr/>
          <p:nvPr/>
        </p:nvSpPr>
        <p:spPr>
          <a:xfrm>
            <a:off x="306401" y="1173456"/>
            <a:ext cx="3178884" cy="221493"/>
          </a:xfrm>
          <a:prstGeom prst="rect">
            <a:avLst/>
          </a:prstGeom>
          <a:noFill/>
          <a:ln/>
        </p:spPr>
        <p:txBody>
          <a:bodyPr wrap="square" lIns="0" tIns="0" rIns="0" bIns="0" rtlCol="0" anchor="ctr"/>
          <a:lstStyle/>
          <a:p>
            <a:r>
              <a:rPr lang="en-US" sz="1100">
                <a:solidFill>
                  <a:srgbClr val="AAAAAA"/>
                </a:solidFill>
                <a:latin typeface="Source Sans Pro"/>
                <a:ea typeface="Source Sans Pro"/>
              </a:rPr>
              <a:t>Primary Imaging Layer – 350km Altitude</a:t>
            </a:r>
          </a:p>
        </p:txBody>
      </p:sp>
      <p:sp>
        <p:nvSpPr>
          <p:cNvPr id="20" name="Text 9">
            <a:extLst>
              <a:ext uri="{FF2B5EF4-FFF2-40B4-BE49-F238E27FC236}">
                <a16:creationId xmlns:a16="http://schemas.microsoft.com/office/drawing/2014/main" id="{E434E364-37F3-4073-F3F0-EBEC7C52D9BF}"/>
              </a:ext>
            </a:extLst>
          </p:cNvPr>
          <p:cNvSpPr/>
          <p:nvPr/>
        </p:nvSpPr>
        <p:spPr>
          <a:xfrm>
            <a:off x="1843208" y="1375162"/>
            <a:ext cx="2727448" cy="207086"/>
          </a:xfrm>
          <a:prstGeom prst="rect">
            <a:avLst/>
          </a:prstGeom>
          <a:noFill/>
          <a:ln/>
        </p:spPr>
        <p:txBody>
          <a:bodyPr wrap="square" lIns="0" tIns="0" rIns="0" bIns="0" rtlCol="0" anchor="ctr"/>
          <a:lstStyle/>
          <a:p>
            <a:r>
              <a:rPr lang="en-US" sz="1100">
                <a:solidFill>
                  <a:srgbClr val="AAAAAA"/>
                </a:solidFill>
                <a:latin typeface="Source Sans Pro"/>
                <a:ea typeface="Source Sans Pro"/>
              </a:rPr>
              <a:t>Secondary Support Layer – 100km Altitude</a:t>
            </a:r>
          </a:p>
        </p:txBody>
      </p:sp>
      <p:cxnSp>
        <p:nvCxnSpPr>
          <p:cNvPr id="21" name="Straight Arrow Connector 20">
            <a:extLst>
              <a:ext uri="{FF2B5EF4-FFF2-40B4-BE49-F238E27FC236}">
                <a16:creationId xmlns:a16="http://schemas.microsoft.com/office/drawing/2014/main" id="{7B945770-4886-1A98-9545-3CC876FE06DC}"/>
              </a:ext>
            </a:extLst>
          </p:cNvPr>
          <p:cNvCxnSpPr/>
          <p:nvPr/>
        </p:nvCxnSpPr>
        <p:spPr>
          <a:xfrm>
            <a:off x="1155560" y="1423208"/>
            <a:ext cx="1131825" cy="298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F26598-8AAB-48C5-3995-FB838CC257FD}"/>
              </a:ext>
            </a:extLst>
          </p:cNvPr>
          <p:cNvCxnSpPr/>
          <p:nvPr/>
        </p:nvCxnSpPr>
        <p:spPr>
          <a:xfrm flipH="1">
            <a:off x="2999173" y="1595636"/>
            <a:ext cx="800451" cy="971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15F8FF2D-F4A4-03A7-419F-1FA8487E14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E858D7-EDA4-1560-60CD-FB7941B77B9E}"/>
              </a:ext>
            </a:extLst>
          </p:cNvPr>
          <p:cNvSpPr/>
          <p:nvPr/>
        </p:nvSpPr>
        <p:spPr>
          <a:xfrm>
            <a:off x="0" y="0"/>
            <a:ext cx="9144000" cy="45720"/>
          </a:xfrm>
          <a:prstGeom prst="rect">
            <a:avLst/>
          </a:prstGeom>
          <a:solidFill>
            <a:srgbClr val="4D9DE5"/>
          </a:solidFill>
          <a:ln/>
        </p:spPr>
        <p:txBody>
          <a:bodyPr/>
          <a:lstStyle/>
          <a:p>
            <a:endParaRPr lang="en-CH"/>
          </a:p>
        </p:txBody>
      </p:sp>
      <p:sp>
        <p:nvSpPr>
          <p:cNvPr id="3" name="Text 1">
            <a:extLst>
              <a:ext uri="{FF2B5EF4-FFF2-40B4-BE49-F238E27FC236}">
                <a16:creationId xmlns:a16="http://schemas.microsoft.com/office/drawing/2014/main" id="{3FE0744E-9E4E-9951-8E73-9059D505AF60}"/>
              </a:ext>
            </a:extLst>
          </p:cNvPr>
          <p:cNvSpPr/>
          <p:nvPr/>
        </p:nvSpPr>
        <p:spPr>
          <a:xfrm>
            <a:off x="711734" y="167583"/>
            <a:ext cx="7315200" cy="640080"/>
          </a:xfrm>
          <a:prstGeom prst="rect">
            <a:avLst/>
          </a:prstGeom>
          <a:noFill/>
          <a:ln/>
        </p:spPr>
        <p:txBody>
          <a:bodyPr wrap="square" lIns="0" tIns="0" rIns="0" bIns="0" rtlCol="0" anchor="ctr"/>
          <a:lstStyle/>
          <a:p>
            <a:r>
              <a:rPr lang="en-US" sz="3200" b="1">
                <a:solidFill>
                  <a:srgbClr val="FFFFFF"/>
                </a:solidFill>
                <a:latin typeface="Source Sans Pro"/>
                <a:ea typeface="Source Sans Pro"/>
              </a:rPr>
              <a:t>Inclination and Altitude Trade study</a:t>
            </a:r>
          </a:p>
        </p:txBody>
      </p:sp>
      <p:sp>
        <p:nvSpPr>
          <p:cNvPr id="22" name="Text 20">
            <a:extLst>
              <a:ext uri="{FF2B5EF4-FFF2-40B4-BE49-F238E27FC236}">
                <a16:creationId xmlns:a16="http://schemas.microsoft.com/office/drawing/2014/main" id="{073C9159-ADE9-8D0A-A6D4-D07CE24E76BA}"/>
              </a:ext>
            </a:extLst>
          </p:cNvPr>
          <p:cNvSpPr/>
          <p:nvPr/>
        </p:nvSpPr>
        <p:spPr>
          <a:xfrm>
            <a:off x="4937760" y="3831336"/>
            <a:ext cx="1463040" cy="274320"/>
          </a:xfrm>
          <a:prstGeom prst="rect">
            <a:avLst/>
          </a:prstGeom>
          <a:noFill/>
          <a:ln/>
        </p:spPr>
        <p:txBody>
          <a:bodyPr wrap="square" lIns="0" tIns="0" rIns="0" bIns="0" rtlCol="0" anchor="ctr"/>
          <a:lstStyle/>
          <a:p>
            <a:pPr marL="0" indent="0">
              <a:buNone/>
            </a:pPr>
            <a:endParaRPr lang="en-US" sz="1100"/>
          </a:p>
        </p:txBody>
      </p:sp>
      <p:sp>
        <p:nvSpPr>
          <p:cNvPr id="24" name="Shape 22">
            <a:extLst>
              <a:ext uri="{FF2B5EF4-FFF2-40B4-BE49-F238E27FC236}">
                <a16:creationId xmlns:a16="http://schemas.microsoft.com/office/drawing/2014/main" id="{4835B9B4-57EB-9E24-B661-6D583C93E2D8}"/>
              </a:ext>
            </a:extLst>
          </p:cNvPr>
          <p:cNvSpPr/>
          <p:nvPr/>
        </p:nvSpPr>
        <p:spPr>
          <a:xfrm>
            <a:off x="0" y="4914900"/>
            <a:ext cx="9144000" cy="228600"/>
          </a:xfrm>
          <a:prstGeom prst="rect">
            <a:avLst/>
          </a:prstGeom>
          <a:solidFill>
            <a:srgbClr val="1A1A1A"/>
          </a:solidFill>
          <a:ln/>
        </p:spPr>
        <p:txBody>
          <a:bodyPr/>
          <a:lstStyle/>
          <a:p>
            <a:endParaRPr lang="en-CH"/>
          </a:p>
        </p:txBody>
      </p:sp>
      <p:sp>
        <p:nvSpPr>
          <p:cNvPr id="25" name="Text 23">
            <a:extLst>
              <a:ext uri="{FF2B5EF4-FFF2-40B4-BE49-F238E27FC236}">
                <a16:creationId xmlns:a16="http://schemas.microsoft.com/office/drawing/2014/main" id="{0DAB41A1-41EE-1BC4-9208-8E813F81F657}"/>
              </a:ext>
            </a:extLst>
          </p:cNvPr>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
        <p:nvSpPr>
          <p:cNvPr id="36" name="Shape 3">
            <a:extLst>
              <a:ext uri="{FF2B5EF4-FFF2-40B4-BE49-F238E27FC236}">
                <a16:creationId xmlns:a16="http://schemas.microsoft.com/office/drawing/2014/main" id="{615AED76-54CD-1B6E-6451-FB615276AC0F}"/>
              </a:ext>
            </a:extLst>
          </p:cNvPr>
          <p:cNvSpPr/>
          <p:nvPr/>
        </p:nvSpPr>
        <p:spPr>
          <a:xfrm>
            <a:off x="3314332" y="792341"/>
            <a:ext cx="2514268" cy="1946024"/>
          </a:xfrm>
          <a:prstGeom prst="rect">
            <a:avLst/>
          </a:prstGeom>
          <a:solidFill>
            <a:srgbClr val="1A1A1A"/>
          </a:solidFill>
          <a:ln/>
          <a:effectLst>
            <a:outerShdw blurRad="101600" dist="25400" dir="8100000" algn="bl" rotWithShape="0">
              <a:srgbClr val="000000">
                <a:alpha val="40000"/>
              </a:srgbClr>
            </a:outerShdw>
          </a:effectLst>
        </p:spPr>
        <p:txBody>
          <a:bodyPr lIns="91440" tIns="45720" rIns="91440" bIns="45720" anchor="t"/>
          <a:lstStyle/>
          <a:p>
            <a:endParaRPr lang="en-US">
              <a:ea typeface="Calibri"/>
              <a:cs typeface="Calibri"/>
            </a:endParaRPr>
          </a:p>
        </p:txBody>
      </p:sp>
      <p:sp>
        <p:nvSpPr>
          <p:cNvPr id="5" name="Text 8">
            <a:extLst>
              <a:ext uri="{FF2B5EF4-FFF2-40B4-BE49-F238E27FC236}">
                <a16:creationId xmlns:a16="http://schemas.microsoft.com/office/drawing/2014/main" id="{DD00329C-7B32-C903-D811-41AB03AF976D}"/>
              </a:ext>
            </a:extLst>
          </p:cNvPr>
          <p:cNvSpPr/>
          <p:nvPr/>
        </p:nvSpPr>
        <p:spPr>
          <a:xfrm>
            <a:off x="3457106" y="933049"/>
            <a:ext cx="1463040" cy="274320"/>
          </a:xfrm>
          <a:prstGeom prst="rect">
            <a:avLst/>
          </a:prstGeom>
          <a:noFill/>
          <a:ln/>
        </p:spPr>
        <p:txBody>
          <a:bodyPr wrap="square" lIns="0" tIns="0" rIns="0" bIns="0" rtlCol="0" anchor="ctr"/>
          <a:lstStyle/>
          <a:p>
            <a:r>
              <a:rPr lang="en-US" sz="1100" b="1">
                <a:solidFill>
                  <a:srgbClr val="FFFFFF"/>
                </a:solidFill>
                <a:latin typeface="Source Sans Pro"/>
                <a:ea typeface="Source Sans Pro"/>
              </a:rPr>
              <a:t>Selected Orbit</a:t>
            </a:r>
          </a:p>
        </p:txBody>
      </p:sp>
      <p:sp>
        <p:nvSpPr>
          <p:cNvPr id="7" name="Text 9">
            <a:extLst>
              <a:ext uri="{FF2B5EF4-FFF2-40B4-BE49-F238E27FC236}">
                <a16:creationId xmlns:a16="http://schemas.microsoft.com/office/drawing/2014/main" id="{25D5E833-536F-95B2-0A00-2F12E9C47D74}"/>
              </a:ext>
            </a:extLst>
          </p:cNvPr>
          <p:cNvSpPr/>
          <p:nvPr/>
        </p:nvSpPr>
        <p:spPr>
          <a:xfrm>
            <a:off x="4572518" y="933048"/>
            <a:ext cx="2103120" cy="274320"/>
          </a:xfrm>
          <a:prstGeom prst="rect">
            <a:avLst/>
          </a:prstGeom>
          <a:noFill/>
          <a:ln/>
        </p:spPr>
        <p:txBody>
          <a:bodyPr wrap="square" lIns="0" tIns="0" rIns="0" bIns="0" rtlCol="0" anchor="ctr"/>
          <a:lstStyle/>
          <a:p>
            <a:r>
              <a:rPr lang="en-US" sz="1100">
                <a:solidFill>
                  <a:srgbClr val="AAAAAA"/>
                </a:solidFill>
                <a:latin typeface="Calibri"/>
                <a:ea typeface="Calibri"/>
                <a:cs typeface="+mn-lt"/>
              </a:rPr>
              <a:t>Inclination: [93</a:t>
            </a:r>
            <a:r>
              <a:rPr lang="en-US" sz="1100">
                <a:solidFill>
                  <a:srgbClr val="AAAAAA"/>
                </a:solidFill>
                <a:ea typeface="+mn-lt"/>
                <a:cs typeface="+mn-lt"/>
              </a:rPr>
              <a:t>°</a:t>
            </a:r>
            <a:r>
              <a:rPr lang="en-US" sz="1100">
                <a:solidFill>
                  <a:srgbClr val="AAAAAA"/>
                </a:solidFill>
                <a:latin typeface="Source Sans Pro"/>
                <a:ea typeface="Source Sans Pro"/>
                <a:cs typeface="+mn-lt"/>
              </a:rPr>
              <a:t>]</a:t>
            </a:r>
            <a:endParaRPr lang="en-US" sz="1100" dirty="0">
              <a:solidFill>
                <a:srgbClr val="AAAAAA"/>
              </a:solidFill>
              <a:latin typeface="Source Sans Pro"/>
              <a:ea typeface="Source Sans Pro"/>
              <a:cs typeface="+mn-lt"/>
            </a:endParaRPr>
          </a:p>
          <a:p>
            <a:r>
              <a:rPr lang="en-US" sz="1100">
                <a:solidFill>
                  <a:srgbClr val="AAAAAA"/>
                </a:solidFill>
                <a:latin typeface="Source Sans Pro"/>
                <a:ea typeface="Source Sans Pro"/>
                <a:cs typeface="Calibri"/>
              </a:rPr>
              <a:t>Altitude: [350km]</a:t>
            </a:r>
            <a:endParaRPr lang="en-US" sz="1100" dirty="0">
              <a:solidFill>
                <a:srgbClr val="AAAAAA"/>
              </a:solidFill>
              <a:latin typeface="Source Sans Pro"/>
              <a:ea typeface="Source Sans Pro"/>
              <a:cs typeface="Calibri"/>
            </a:endParaRPr>
          </a:p>
        </p:txBody>
      </p:sp>
      <p:pic>
        <p:nvPicPr>
          <p:cNvPr id="4" name="Picture 3" descr="A graph of a number of points&#10;&#10;AI-generated content may be incorrect.">
            <a:extLst>
              <a:ext uri="{FF2B5EF4-FFF2-40B4-BE49-F238E27FC236}">
                <a16:creationId xmlns:a16="http://schemas.microsoft.com/office/drawing/2014/main" id="{A3233210-F9CE-BA80-617A-A692DD4837AB}"/>
              </a:ext>
            </a:extLst>
          </p:cNvPr>
          <p:cNvPicPr>
            <a:picLocks noChangeAspect="1"/>
          </p:cNvPicPr>
          <p:nvPr/>
        </p:nvPicPr>
        <p:blipFill>
          <a:blip r:embed="rId3"/>
          <a:stretch>
            <a:fillRect/>
          </a:stretch>
        </p:blipFill>
        <p:spPr>
          <a:xfrm>
            <a:off x="231064" y="2984198"/>
            <a:ext cx="3081354" cy="1770286"/>
          </a:xfrm>
          <a:prstGeom prst="rect">
            <a:avLst/>
          </a:prstGeom>
        </p:spPr>
      </p:pic>
      <p:pic>
        <p:nvPicPr>
          <p:cNvPr id="6" name="Picture 5" descr="A graph with a line and a red line&#10;&#10;AI-generated content may be incorrect.">
            <a:extLst>
              <a:ext uri="{FF2B5EF4-FFF2-40B4-BE49-F238E27FC236}">
                <a16:creationId xmlns:a16="http://schemas.microsoft.com/office/drawing/2014/main" id="{E275CA11-AC16-DB2C-6CDB-ACBC71372766}"/>
              </a:ext>
            </a:extLst>
          </p:cNvPr>
          <p:cNvPicPr>
            <a:picLocks noChangeAspect="1"/>
          </p:cNvPicPr>
          <p:nvPr/>
        </p:nvPicPr>
        <p:blipFill>
          <a:blip r:embed="rId4"/>
          <a:stretch>
            <a:fillRect/>
          </a:stretch>
        </p:blipFill>
        <p:spPr>
          <a:xfrm>
            <a:off x="230081" y="781704"/>
            <a:ext cx="3083320" cy="1743686"/>
          </a:xfrm>
          <a:prstGeom prst="rect">
            <a:avLst/>
          </a:prstGeom>
        </p:spPr>
      </p:pic>
      <p:pic>
        <p:nvPicPr>
          <p:cNvPr id="10" name="Picture 9" descr="A graph with blue dots&#10;&#10;AI-generated content may be incorrect.">
            <a:extLst>
              <a:ext uri="{FF2B5EF4-FFF2-40B4-BE49-F238E27FC236}">
                <a16:creationId xmlns:a16="http://schemas.microsoft.com/office/drawing/2014/main" id="{70753E4E-B811-CC8B-3145-DE1B3E8A2AEA}"/>
              </a:ext>
            </a:extLst>
          </p:cNvPr>
          <p:cNvPicPr>
            <a:picLocks noChangeAspect="1"/>
          </p:cNvPicPr>
          <p:nvPr/>
        </p:nvPicPr>
        <p:blipFill>
          <a:blip r:embed="rId5"/>
          <a:stretch>
            <a:fillRect/>
          </a:stretch>
        </p:blipFill>
        <p:spPr>
          <a:xfrm>
            <a:off x="5828600" y="781704"/>
            <a:ext cx="3087743" cy="1735558"/>
          </a:xfrm>
          <a:prstGeom prst="rect">
            <a:avLst/>
          </a:prstGeom>
        </p:spPr>
      </p:pic>
      <p:pic>
        <p:nvPicPr>
          <p:cNvPr id="12" name="Picture 11" descr="A graph with numbers and points&#10;&#10;AI-generated content may be incorrect.">
            <a:extLst>
              <a:ext uri="{FF2B5EF4-FFF2-40B4-BE49-F238E27FC236}">
                <a16:creationId xmlns:a16="http://schemas.microsoft.com/office/drawing/2014/main" id="{C121C6F8-204D-DC91-543E-198F947A7A34}"/>
              </a:ext>
            </a:extLst>
          </p:cNvPr>
          <p:cNvPicPr>
            <a:picLocks noChangeAspect="1"/>
          </p:cNvPicPr>
          <p:nvPr/>
        </p:nvPicPr>
        <p:blipFill>
          <a:blip r:embed="rId6"/>
          <a:stretch>
            <a:fillRect/>
          </a:stretch>
        </p:blipFill>
        <p:spPr>
          <a:xfrm>
            <a:off x="5838986" y="2965535"/>
            <a:ext cx="3081373" cy="1746641"/>
          </a:xfrm>
          <a:prstGeom prst="rect">
            <a:avLst/>
          </a:prstGeom>
        </p:spPr>
      </p:pic>
      <p:graphicFrame>
        <p:nvGraphicFramePr>
          <p:cNvPr id="15" name="Table 14">
            <a:extLst>
              <a:ext uri="{FF2B5EF4-FFF2-40B4-BE49-F238E27FC236}">
                <a16:creationId xmlns:a16="http://schemas.microsoft.com/office/drawing/2014/main" id="{15690249-A18C-7FB9-7757-59589832163D}"/>
              </a:ext>
            </a:extLst>
          </p:cNvPr>
          <p:cNvGraphicFramePr>
            <a:graphicFrameLocks noGrp="1"/>
          </p:cNvGraphicFramePr>
          <p:nvPr>
            <p:extLst>
              <p:ext uri="{D42A27DB-BD31-4B8C-83A1-F6EECF244321}">
                <p14:modId xmlns:p14="http://schemas.microsoft.com/office/powerpoint/2010/main" val="2306805397"/>
              </p:ext>
            </p:extLst>
          </p:nvPr>
        </p:nvGraphicFramePr>
        <p:xfrm>
          <a:off x="3349368" y="2851370"/>
          <a:ext cx="2441913" cy="1967276"/>
        </p:xfrm>
        <a:graphic>
          <a:graphicData uri="http://schemas.openxmlformats.org/drawingml/2006/table">
            <a:tbl>
              <a:tblPr firstRow="1" bandRow="1">
                <a:tableStyleId>{0660B408-B3CF-4A94-85FC-2B1E0A45F4A2}</a:tableStyleId>
              </a:tblPr>
              <a:tblGrid>
                <a:gridCol w="813971">
                  <a:extLst>
                    <a:ext uri="{9D8B030D-6E8A-4147-A177-3AD203B41FA5}">
                      <a16:colId xmlns:a16="http://schemas.microsoft.com/office/drawing/2014/main" val="357835363"/>
                    </a:ext>
                  </a:extLst>
                </a:gridCol>
                <a:gridCol w="813971">
                  <a:extLst>
                    <a:ext uri="{9D8B030D-6E8A-4147-A177-3AD203B41FA5}">
                      <a16:colId xmlns:a16="http://schemas.microsoft.com/office/drawing/2014/main" val="4137976971"/>
                    </a:ext>
                  </a:extLst>
                </a:gridCol>
                <a:gridCol w="813971">
                  <a:extLst>
                    <a:ext uri="{9D8B030D-6E8A-4147-A177-3AD203B41FA5}">
                      <a16:colId xmlns:a16="http://schemas.microsoft.com/office/drawing/2014/main" val="1415634860"/>
                    </a:ext>
                  </a:extLst>
                </a:gridCol>
              </a:tblGrid>
              <a:tr h="431032">
                <a:tc>
                  <a:txBody>
                    <a:bodyPr/>
                    <a:lstStyle/>
                    <a:p>
                      <a:pPr lvl="0">
                        <a:buNone/>
                      </a:pPr>
                      <a:r>
                        <a:rPr lang="en-GB" sz="1000" u="none" strike="noStrike" noProof="0">
                          <a:solidFill>
                            <a:srgbClr val="FFFFFF"/>
                          </a:solidFill>
                        </a:rPr>
                        <a:t>Parameter</a:t>
                      </a:r>
                      <a:endParaRPr lang="en-US" sz="1000"/>
                    </a:p>
                  </a:txBody>
                  <a:tcPr>
                    <a:solidFill>
                      <a:schemeClr val="accent5"/>
                    </a:solidFill>
                  </a:tcPr>
                </a:tc>
                <a:tc>
                  <a:txBody>
                    <a:bodyPr/>
                    <a:lstStyle/>
                    <a:p>
                      <a:pPr lvl="0" algn="l">
                        <a:lnSpc>
                          <a:spcPct val="100000"/>
                        </a:lnSpc>
                        <a:spcBef>
                          <a:spcPts val="0"/>
                        </a:spcBef>
                        <a:spcAft>
                          <a:spcPts val="0"/>
                        </a:spcAft>
                        <a:buNone/>
                      </a:pPr>
                      <a:r>
                        <a:rPr lang="en-GB" sz="1000" u="none" strike="noStrike" noProof="0">
                          <a:solidFill>
                            <a:srgbClr val="FFFFFF"/>
                          </a:solidFill>
                        </a:rPr>
                        <a:t>93°, 250 km</a:t>
                      </a:r>
                    </a:p>
                    <a:p>
                      <a:pPr lvl="0">
                        <a:buNone/>
                      </a:pPr>
                      <a:endParaRPr lang="en-GB" sz="1000" dirty="0"/>
                    </a:p>
                  </a:txBody>
                  <a:tcPr>
                    <a:solidFill>
                      <a:schemeClr val="accent5"/>
                    </a:solidFill>
                  </a:tcPr>
                </a:tc>
                <a:tc>
                  <a:txBody>
                    <a:bodyPr/>
                    <a:lstStyle/>
                    <a:p>
                      <a:pPr lvl="0" algn="l">
                        <a:lnSpc>
                          <a:spcPct val="100000"/>
                        </a:lnSpc>
                        <a:spcBef>
                          <a:spcPts val="0"/>
                        </a:spcBef>
                        <a:spcAft>
                          <a:spcPts val="0"/>
                        </a:spcAft>
                        <a:buNone/>
                      </a:pPr>
                      <a:r>
                        <a:rPr lang="en-GB" sz="1000" u="none" strike="noStrike" noProof="0">
                          <a:solidFill>
                            <a:srgbClr val="FFFFFF"/>
                          </a:solidFill>
                        </a:rPr>
                        <a:t>93°, 350 km</a:t>
                      </a:r>
                    </a:p>
                    <a:p>
                      <a:pPr lvl="0">
                        <a:buNone/>
                      </a:pPr>
                      <a:endParaRPr lang="en-GB" sz="1000" dirty="0"/>
                    </a:p>
                  </a:txBody>
                  <a:tcPr>
                    <a:solidFill>
                      <a:schemeClr val="accent5"/>
                    </a:solidFill>
                  </a:tcPr>
                </a:tc>
                <a:extLst>
                  <a:ext uri="{0D108BD9-81ED-4DB2-BD59-A6C34878D82A}">
                    <a16:rowId xmlns:a16="http://schemas.microsoft.com/office/drawing/2014/main" val="1040765800"/>
                  </a:ext>
                </a:extLst>
              </a:tr>
              <a:tr h="552606">
                <a:tc>
                  <a:txBody>
                    <a:bodyPr/>
                    <a:lstStyle/>
                    <a:p>
                      <a:pPr lvl="0" algn="l">
                        <a:lnSpc>
                          <a:spcPct val="100000"/>
                        </a:lnSpc>
                        <a:spcBef>
                          <a:spcPts val="0"/>
                        </a:spcBef>
                        <a:spcAft>
                          <a:spcPts val="0"/>
                        </a:spcAft>
                        <a:buNone/>
                      </a:pPr>
                      <a:r>
                        <a:rPr lang="en-GB" sz="1000" u="none" strike="noStrike" noProof="0">
                          <a:solidFill>
                            <a:srgbClr val="000000"/>
                          </a:solidFill>
                        </a:rPr>
                        <a:t>Net SMA drift (m)</a:t>
                      </a:r>
                    </a:p>
                    <a:p>
                      <a:pPr lvl="0">
                        <a:buNone/>
                      </a:pPr>
                      <a:endParaRPr lang="en-GB" sz="1000" dirty="0"/>
                    </a:p>
                  </a:txBody>
                  <a:tcPr/>
                </a:tc>
                <a:tc>
                  <a:txBody>
                    <a:bodyPr/>
                    <a:lstStyle/>
                    <a:p>
                      <a:pPr lvl="0" algn="l">
                        <a:lnSpc>
                          <a:spcPct val="100000"/>
                        </a:lnSpc>
                        <a:spcBef>
                          <a:spcPts val="0"/>
                        </a:spcBef>
                        <a:spcAft>
                          <a:spcPts val="0"/>
                        </a:spcAft>
                        <a:buNone/>
                      </a:pPr>
                      <a:r>
                        <a:rPr lang="en-GB" sz="1000" u="none" strike="noStrike" noProof="0">
                          <a:solidFill>
                            <a:srgbClr val="000000"/>
                          </a:solidFill>
                        </a:rPr>
                        <a:t>+195 m</a:t>
                      </a:r>
                    </a:p>
                    <a:p>
                      <a:pPr lvl="0">
                        <a:buNone/>
                      </a:pPr>
                      <a:endParaRPr lang="en-GB" sz="1000" dirty="0"/>
                    </a:p>
                  </a:txBody>
                  <a:tcPr/>
                </a:tc>
                <a:tc>
                  <a:txBody>
                    <a:bodyPr/>
                    <a:lstStyle/>
                    <a:p>
                      <a:pPr lvl="0" algn="l">
                        <a:lnSpc>
                          <a:spcPct val="100000"/>
                        </a:lnSpc>
                        <a:spcBef>
                          <a:spcPts val="0"/>
                        </a:spcBef>
                        <a:spcAft>
                          <a:spcPts val="0"/>
                        </a:spcAft>
                        <a:buNone/>
                      </a:pPr>
                      <a:r>
                        <a:rPr lang="en-GB" sz="1000" u="none" strike="noStrike" noProof="0">
                          <a:solidFill>
                            <a:srgbClr val="000000"/>
                          </a:solidFill>
                        </a:rPr>
                        <a:t>-70 m</a:t>
                      </a:r>
                    </a:p>
                    <a:p>
                      <a:pPr lvl="0">
                        <a:buNone/>
                      </a:pPr>
                      <a:endParaRPr lang="en-GB" sz="1000" dirty="0"/>
                    </a:p>
                  </a:txBody>
                  <a:tcPr/>
                </a:tc>
                <a:extLst>
                  <a:ext uri="{0D108BD9-81ED-4DB2-BD59-A6C34878D82A}">
                    <a16:rowId xmlns:a16="http://schemas.microsoft.com/office/drawing/2014/main" val="98753187"/>
                  </a:ext>
                </a:extLst>
              </a:tr>
              <a:tr h="552606">
                <a:tc>
                  <a:txBody>
                    <a:bodyPr/>
                    <a:lstStyle/>
                    <a:p>
                      <a:pPr lvl="0">
                        <a:buNone/>
                      </a:pPr>
                      <a:r>
                        <a:rPr lang="en-GB" sz="1000" u="none" strike="noStrike" noProof="0">
                          <a:solidFill>
                            <a:srgbClr val="000000"/>
                          </a:solidFill>
                        </a:rPr>
                        <a:t>Peak-to-peak SMA drift (m)</a:t>
                      </a:r>
                      <a:endParaRPr lang="en-US" sz="1000"/>
                    </a:p>
                  </a:txBody>
                  <a:tcPr/>
                </a:tc>
                <a:tc>
                  <a:txBody>
                    <a:bodyPr/>
                    <a:lstStyle/>
                    <a:p>
                      <a:pPr lvl="0">
                        <a:buNone/>
                      </a:pPr>
                      <a:r>
                        <a:rPr lang="en-GB" sz="1000" u="none" strike="noStrike" noProof="0">
                          <a:solidFill>
                            <a:srgbClr val="000000"/>
                          </a:solidFill>
                        </a:rPr>
                        <a:t>150 m</a:t>
                      </a:r>
                      <a:endParaRPr lang="en-US" sz="1000"/>
                    </a:p>
                  </a:txBody>
                  <a:tcPr/>
                </a:tc>
                <a:tc>
                  <a:txBody>
                    <a:bodyPr/>
                    <a:lstStyle/>
                    <a:p>
                      <a:pPr lvl="0">
                        <a:buNone/>
                      </a:pPr>
                      <a:r>
                        <a:rPr lang="en-GB" sz="1000" u="none" strike="noStrike" noProof="0">
                          <a:solidFill>
                            <a:srgbClr val="000000"/>
                          </a:solidFill>
                        </a:rPr>
                        <a:t>135 m</a:t>
                      </a:r>
                      <a:endParaRPr lang="en-US" sz="1000"/>
                    </a:p>
                  </a:txBody>
                  <a:tcPr/>
                </a:tc>
                <a:extLst>
                  <a:ext uri="{0D108BD9-81ED-4DB2-BD59-A6C34878D82A}">
                    <a16:rowId xmlns:a16="http://schemas.microsoft.com/office/drawing/2014/main" val="607400081"/>
                  </a:ext>
                </a:extLst>
              </a:tr>
              <a:tr h="431032">
                <a:tc>
                  <a:txBody>
                    <a:bodyPr/>
                    <a:lstStyle/>
                    <a:p>
                      <a:pPr lvl="0">
                        <a:buNone/>
                      </a:pPr>
                      <a:r>
                        <a:rPr lang="en-GB" sz="1000" u="none" strike="noStrike" noProof="0">
                          <a:solidFill>
                            <a:srgbClr val="000000"/>
                          </a:solidFill>
                        </a:rPr>
                        <a:t>RAAN drift (°/day)</a:t>
                      </a:r>
                      <a:endParaRPr lang="en-US" sz="1000"/>
                    </a:p>
                  </a:txBody>
                  <a:tcPr/>
                </a:tc>
                <a:tc>
                  <a:txBody>
                    <a:bodyPr/>
                    <a:lstStyle/>
                    <a:p>
                      <a:pPr lvl="0">
                        <a:buNone/>
                      </a:pPr>
                      <a:r>
                        <a:rPr lang="en-GB" sz="1000" u="none" strike="noStrike" noProof="0">
                          <a:solidFill>
                            <a:srgbClr val="000000"/>
                          </a:solidFill>
                        </a:rPr>
                        <a:t>-0.276</a:t>
                      </a:r>
                      <a:endParaRPr lang="en-US" sz="1000"/>
                    </a:p>
                  </a:txBody>
                  <a:tcPr/>
                </a:tc>
                <a:tc>
                  <a:txBody>
                    <a:bodyPr/>
                    <a:lstStyle/>
                    <a:p>
                      <a:pPr lvl="0">
                        <a:buNone/>
                      </a:pPr>
                      <a:r>
                        <a:rPr lang="en-GB" sz="1000" u="none" strike="noStrike" noProof="0">
                          <a:solidFill>
                            <a:srgbClr val="000000"/>
                          </a:solidFill>
                        </a:rPr>
                        <a:t>-0.238</a:t>
                      </a:r>
                      <a:endParaRPr lang="en-US" sz="1000"/>
                    </a:p>
                  </a:txBody>
                  <a:tcPr/>
                </a:tc>
                <a:extLst>
                  <a:ext uri="{0D108BD9-81ED-4DB2-BD59-A6C34878D82A}">
                    <a16:rowId xmlns:a16="http://schemas.microsoft.com/office/drawing/2014/main" val="3800538222"/>
                  </a:ext>
                </a:extLst>
              </a:tr>
            </a:tbl>
          </a:graphicData>
        </a:graphic>
      </p:graphicFrame>
      <p:sp>
        <p:nvSpPr>
          <p:cNvPr id="17" name="Text 9">
            <a:extLst>
              <a:ext uri="{FF2B5EF4-FFF2-40B4-BE49-F238E27FC236}">
                <a16:creationId xmlns:a16="http://schemas.microsoft.com/office/drawing/2014/main" id="{D9C7B3FC-22AC-687F-6A43-350B2B8FD6D9}"/>
              </a:ext>
            </a:extLst>
          </p:cNvPr>
          <p:cNvSpPr/>
          <p:nvPr/>
        </p:nvSpPr>
        <p:spPr>
          <a:xfrm>
            <a:off x="3448359" y="1404064"/>
            <a:ext cx="2511332" cy="1455001"/>
          </a:xfrm>
          <a:prstGeom prst="rect">
            <a:avLst/>
          </a:prstGeom>
          <a:noFill/>
          <a:ln/>
        </p:spPr>
        <p:txBody>
          <a:bodyPr wrap="square" lIns="0" tIns="0" rIns="0" bIns="0" rtlCol="0" anchor="ctr"/>
          <a:lstStyle/>
          <a:p>
            <a:pPr marL="171450" indent="-171450">
              <a:buFont typeface="Wingdings"/>
              <a:buChar char="ü"/>
            </a:pPr>
            <a:r>
              <a:rPr lang="en-US" sz="1100">
                <a:solidFill>
                  <a:srgbClr val="AAAAAA"/>
                </a:solidFill>
                <a:latin typeface="Calibri"/>
                <a:ea typeface="Calibri"/>
                <a:cs typeface="Calibri"/>
              </a:rPr>
              <a:t>Stable side of SMA transition.</a:t>
            </a:r>
            <a:endParaRPr lang="en-US">
              <a:ea typeface="Calibri" panose="020F0502020204030204"/>
              <a:cs typeface="Calibri" panose="020F0502020204030204"/>
            </a:endParaRPr>
          </a:p>
          <a:p>
            <a:pPr marL="171450" indent="-171450">
              <a:buFont typeface="Wingdings"/>
              <a:buChar char="ü"/>
            </a:pPr>
            <a:r>
              <a:rPr lang="en-US" sz="1100">
                <a:solidFill>
                  <a:srgbClr val="AAAAAA"/>
                </a:solidFill>
                <a:latin typeface="Calibri"/>
                <a:ea typeface="Calibri"/>
                <a:cs typeface="Calibri"/>
              </a:rPr>
              <a:t>Low eccentricity growth.</a:t>
            </a:r>
          </a:p>
          <a:p>
            <a:pPr marL="171450" indent="-171450">
              <a:buFont typeface="Wingdings"/>
              <a:buChar char="ü"/>
            </a:pPr>
            <a:r>
              <a:rPr lang="en-US" sz="1100" dirty="0">
                <a:solidFill>
                  <a:srgbClr val="AAAAAA"/>
                </a:solidFill>
                <a:latin typeface="Calibri"/>
                <a:ea typeface="Calibri"/>
                <a:cs typeface="Calibri"/>
              </a:rPr>
              <a:t>Reduced RAAN drift magnitude. </a:t>
            </a:r>
          </a:p>
          <a:p>
            <a:pPr marL="171450" indent="-171450">
              <a:buFont typeface="Wingdings"/>
              <a:buChar char="ü"/>
            </a:pPr>
            <a:r>
              <a:rPr lang="en-US" sz="1100" dirty="0">
                <a:solidFill>
                  <a:srgbClr val="AAAAAA"/>
                </a:solidFill>
                <a:latin typeface="Calibri"/>
                <a:ea typeface="Calibri"/>
                <a:cs typeface="Calibri"/>
              </a:rPr>
              <a:t>Lower peak-to-peak </a:t>
            </a:r>
            <a:r>
              <a:rPr lang="en-US" sz="1100">
                <a:solidFill>
                  <a:srgbClr val="AAAAAA"/>
                </a:solidFill>
                <a:latin typeface="Calibri"/>
                <a:ea typeface="Calibri"/>
                <a:cs typeface="Calibri"/>
              </a:rPr>
              <a:t>perturbation at higher altitude.</a:t>
            </a:r>
            <a:endParaRPr lang="en-US" sz="1100" dirty="0">
              <a:solidFill>
                <a:srgbClr val="AAAAAA"/>
              </a:solidFill>
              <a:latin typeface="Calibri"/>
              <a:ea typeface="Calibri"/>
              <a:cs typeface="Calibri"/>
            </a:endParaRPr>
          </a:p>
          <a:p>
            <a:pPr marL="171450" indent="-171450">
              <a:buFont typeface="Wingdings"/>
              <a:buChar char="ü"/>
            </a:pPr>
            <a:r>
              <a:rPr lang="en-US" sz="1100" dirty="0">
                <a:solidFill>
                  <a:srgbClr val="AAAAAA"/>
                </a:solidFill>
                <a:latin typeface="Calibri"/>
                <a:ea typeface="Calibri"/>
                <a:cs typeface="Calibri"/>
              </a:rPr>
              <a:t>Improved long-term constellation </a:t>
            </a:r>
            <a:r>
              <a:rPr lang="en-US" sz="1100">
                <a:solidFill>
                  <a:srgbClr val="AAAAAA"/>
                </a:solidFill>
                <a:latin typeface="Calibri"/>
                <a:ea typeface="Calibri"/>
                <a:cs typeface="Calibri"/>
              </a:rPr>
              <a:t>predictability.</a:t>
            </a:r>
            <a:endParaRPr lang="en-US" sz="1100" dirty="0">
              <a:solidFill>
                <a:srgbClr val="AAAAAA"/>
              </a:solidFill>
              <a:latin typeface="Calibri"/>
              <a:ea typeface="Calibri"/>
              <a:cs typeface="Calibri"/>
            </a:endParaRPr>
          </a:p>
          <a:p>
            <a:endParaRPr lang="en-US" sz="1100" dirty="0">
              <a:solidFill>
                <a:srgbClr val="AAAAAA"/>
              </a:solidFill>
              <a:latin typeface="Calibri"/>
              <a:ea typeface="Calibri"/>
              <a:cs typeface="Calibri"/>
            </a:endParaRPr>
          </a:p>
        </p:txBody>
      </p:sp>
    </p:spTree>
    <p:extLst>
      <p:ext uri="{BB962C8B-B14F-4D97-AF65-F5344CB8AC3E}">
        <p14:creationId xmlns:p14="http://schemas.microsoft.com/office/powerpoint/2010/main" val="1020834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F42BAC2C-C145-3A88-F05F-EF65E6DB33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FEA415-ECA5-BA85-6E91-6A1377CEF988}"/>
              </a:ext>
            </a:extLst>
          </p:cNvPr>
          <p:cNvSpPr/>
          <p:nvPr/>
        </p:nvSpPr>
        <p:spPr>
          <a:xfrm>
            <a:off x="0" y="0"/>
            <a:ext cx="9144000" cy="45720"/>
          </a:xfrm>
          <a:prstGeom prst="rect">
            <a:avLst/>
          </a:prstGeom>
          <a:solidFill>
            <a:srgbClr val="4D9DE5"/>
          </a:solidFill>
          <a:ln/>
        </p:spPr>
        <p:txBody>
          <a:bodyPr/>
          <a:lstStyle/>
          <a:p>
            <a:endParaRPr lang="en-CH"/>
          </a:p>
        </p:txBody>
      </p:sp>
      <p:sp>
        <p:nvSpPr>
          <p:cNvPr id="3" name="Text 1">
            <a:extLst>
              <a:ext uri="{FF2B5EF4-FFF2-40B4-BE49-F238E27FC236}">
                <a16:creationId xmlns:a16="http://schemas.microsoft.com/office/drawing/2014/main" id="{F6728F87-7684-E5BB-0933-F9CE78BFF3D1}"/>
              </a:ext>
            </a:extLst>
          </p:cNvPr>
          <p:cNvSpPr/>
          <p:nvPr/>
        </p:nvSpPr>
        <p:spPr>
          <a:xfrm>
            <a:off x="731520" y="274320"/>
            <a:ext cx="7315200" cy="640080"/>
          </a:xfrm>
          <a:prstGeom prst="rect">
            <a:avLst/>
          </a:prstGeom>
          <a:noFill/>
          <a:ln/>
        </p:spPr>
        <p:txBody>
          <a:bodyPr wrap="square" lIns="0" tIns="0" rIns="0" bIns="0" rtlCol="0" anchor="ctr"/>
          <a:lstStyle/>
          <a:p>
            <a:r>
              <a:rPr lang="en-US" sz="3200" b="1">
                <a:solidFill>
                  <a:srgbClr val="FFFFFF"/>
                </a:solidFill>
                <a:latin typeface="Source Sans Pro"/>
                <a:ea typeface="Source Sans Pro"/>
              </a:rPr>
              <a:t>End Of Life Strategy</a:t>
            </a:r>
          </a:p>
        </p:txBody>
      </p:sp>
      <p:sp>
        <p:nvSpPr>
          <p:cNvPr id="22" name="Text 20">
            <a:extLst>
              <a:ext uri="{FF2B5EF4-FFF2-40B4-BE49-F238E27FC236}">
                <a16:creationId xmlns:a16="http://schemas.microsoft.com/office/drawing/2014/main" id="{B8295A7E-AD4F-D6E0-92D8-BE027D54ED2E}"/>
              </a:ext>
            </a:extLst>
          </p:cNvPr>
          <p:cNvSpPr/>
          <p:nvPr/>
        </p:nvSpPr>
        <p:spPr>
          <a:xfrm>
            <a:off x="4937760" y="3831336"/>
            <a:ext cx="1463040" cy="274320"/>
          </a:xfrm>
          <a:prstGeom prst="rect">
            <a:avLst/>
          </a:prstGeom>
          <a:noFill/>
          <a:ln/>
        </p:spPr>
        <p:txBody>
          <a:bodyPr wrap="square" lIns="0" tIns="0" rIns="0" bIns="0" rtlCol="0" anchor="ctr"/>
          <a:lstStyle/>
          <a:p>
            <a:pPr marL="0" indent="0">
              <a:buNone/>
            </a:pPr>
            <a:endParaRPr lang="en-US" sz="1100"/>
          </a:p>
        </p:txBody>
      </p:sp>
      <p:sp>
        <p:nvSpPr>
          <p:cNvPr id="24" name="Shape 22">
            <a:extLst>
              <a:ext uri="{FF2B5EF4-FFF2-40B4-BE49-F238E27FC236}">
                <a16:creationId xmlns:a16="http://schemas.microsoft.com/office/drawing/2014/main" id="{01F80EEA-3F78-8DC6-0515-7A0E7D2B42DA}"/>
              </a:ext>
            </a:extLst>
          </p:cNvPr>
          <p:cNvSpPr/>
          <p:nvPr/>
        </p:nvSpPr>
        <p:spPr>
          <a:xfrm>
            <a:off x="0" y="4914900"/>
            <a:ext cx="9144000" cy="228600"/>
          </a:xfrm>
          <a:prstGeom prst="rect">
            <a:avLst/>
          </a:prstGeom>
          <a:solidFill>
            <a:srgbClr val="1A1A1A"/>
          </a:solidFill>
          <a:ln/>
        </p:spPr>
        <p:txBody>
          <a:bodyPr/>
          <a:lstStyle/>
          <a:p>
            <a:endParaRPr lang="en-CH"/>
          </a:p>
        </p:txBody>
      </p:sp>
      <p:sp>
        <p:nvSpPr>
          <p:cNvPr id="25" name="Text 23">
            <a:extLst>
              <a:ext uri="{FF2B5EF4-FFF2-40B4-BE49-F238E27FC236}">
                <a16:creationId xmlns:a16="http://schemas.microsoft.com/office/drawing/2014/main" id="{F8C4EEA1-8666-7AF6-2A5F-81AE27F736AB}"/>
              </a:ext>
            </a:extLst>
          </p:cNvPr>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
        <p:nvSpPr>
          <p:cNvPr id="5" name="Shape 6">
            <a:extLst>
              <a:ext uri="{FF2B5EF4-FFF2-40B4-BE49-F238E27FC236}">
                <a16:creationId xmlns:a16="http://schemas.microsoft.com/office/drawing/2014/main" id="{D6DABD85-9867-49D2-FF92-E688CDDF83B4}"/>
              </a:ext>
            </a:extLst>
          </p:cNvPr>
          <p:cNvSpPr/>
          <p:nvPr/>
        </p:nvSpPr>
        <p:spPr>
          <a:xfrm>
            <a:off x="4527861" y="914991"/>
            <a:ext cx="88020" cy="3900991"/>
          </a:xfrm>
          <a:prstGeom prst="rect">
            <a:avLst/>
          </a:prstGeom>
          <a:solidFill>
            <a:srgbClr val="4D9DE5"/>
          </a:solidFill>
          <a:ln/>
        </p:spPr>
        <p:txBody>
          <a:bodyPr/>
          <a:lstStyle/>
          <a:p>
            <a:endParaRPr lang="en-CH"/>
          </a:p>
        </p:txBody>
      </p:sp>
      <p:sp>
        <p:nvSpPr>
          <p:cNvPr id="7" name="Text 16">
            <a:extLst>
              <a:ext uri="{FF2B5EF4-FFF2-40B4-BE49-F238E27FC236}">
                <a16:creationId xmlns:a16="http://schemas.microsoft.com/office/drawing/2014/main" id="{FB186020-BE86-313C-F27C-742847DC7AF8}"/>
              </a:ext>
            </a:extLst>
          </p:cNvPr>
          <p:cNvSpPr/>
          <p:nvPr/>
        </p:nvSpPr>
        <p:spPr>
          <a:xfrm>
            <a:off x="423632" y="4346839"/>
            <a:ext cx="4208753" cy="475036"/>
          </a:xfrm>
          <a:prstGeom prst="rect">
            <a:avLst/>
          </a:prstGeom>
          <a:noFill/>
          <a:ln/>
        </p:spPr>
        <p:txBody>
          <a:bodyPr wrap="square" lIns="0" tIns="0" rIns="0" bIns="0" rtlCol="0" anchor="ctr"/>
          <a:lstStyle/>
          <a:p>
            <a:r>
              <a:rPr lang="en-US" sz="1400" b="1" dirty="0">
                <a:solidFill>
                  <a:srgbClr val="4D9DE5"/>
                </a:solidFill>
                <a:latin typeface="Source Sans Pro"/>
                <a:ea typeface="Source Sans Pro"/>
                <a:cs typeface="Source Sans Pro" pitchFamily="34" charset="-120"/>
              </a:rPr>
              <a:t>Flow: </a:t>
            </a:r>
            <a:r>
              <a:rPr lang="en-US" sz="1400" dirty="0">
                <a:solidFill>
                  <a:srgbClr val="AAAAAA"/>
                </a:solidFill>
                <a:latin typeface="Source Sans Pro"/>
                <a:ea typeface="Source Sans Pro"/>
                <a:cs typeface="Source Sans Pro" pitchFamily="34" charset="-120"/>
              </a:rPr>
              <a:t>Operate  → EOM mode  →  </a:t>
            </a:r>
            <a:r>
              <a:rPr lang="en-US" sz="1400" b="1" dirty="0">
                <a:solidFill>
                  <a:srgbClr val="FFFFFF"/>
                </a:solidFill>
                <a:latin typeface="Source Sans Pro"/>
                <a:ea typeface="Source Sans Pro"/>
                <a:cs typeface="Source Sans Pro" pitchFamily="34" charset="-120"/>
              </a:rPr>
              <a:t>Controlled </a:t>
            </a:r>
            <a:r>
              <a:rPr lang="en-US" sz="1400" b="1">
                <a:solidFill>
                  <a:srgbClr val="FFFFFF"/>
                </a:solidFill>
                <a:latin typeface="Source Sans Pro"/>
                <a:ea typeface="Source Sans Pro"/>
                <a:cs typeface="Source Sans Pro" pitchFamily="34" charset="-120"/>
              </a:rPr>
              <a:t>Impact</a:t>
            </a:r>
            <a:endParaRPr lang="en-US" sz="1400">
              <a:latin typeface="Source Sans Pro"/>
              <a:ea typeface="Source Sans Pro"/>
            </a:endParaRPr>
          </a:p>
        </p:txBody>
      </p:sp>
      <p:sp>
        <p:nvSpPr>
          <p:cNvPr id="9" name="Text 4">
            <a:extLst>
              <a:ext uri="{FF2B5EF4-FFF2-40B4-BE49-F238E27FC236}">
                <a16:creationId xmlns:a16="http://schemas.microsoft.com/office/drawing/2014/main" id="{9EB026EF-78C0-904C-3E46-BFF70345B2A8}"/>
              </a:ext>
            </a:extLst>
          </p:cNvPr>
          <p:cNvSpPr/>
          <p:nvPr/>
        </p:nvSpPr>
        <p:spPr>
          <a:xfrm>
            <a:off x="1125169" y="849234"/>
            <a:ext cx="2116936" cy="457200"/>
          </a:xfrm>
          <a:prstGeom prst="rect">
            <a:avLst/>
          </a:prstGeom>
          <a:noFill/>
          <a:ln/>
        </p:spPr>
        <p:txBody>
          <a:bodyPr wrap="square" lIns="0" tIns="0" rIns="0" bIns="0" rtlCol="0" anchor="ctr"/>
          <a:lstStyle/>
          <a:p>
            <a:r>
              <a:rPr lang="en-US" sz="1600" dirty="0">
                <a:solidFill>
                  <a:srgbClr val="4D9DE5"/>
                </a:solidFill>
                <a:latin typeface="Source Sans Pro"/>
                <a:ea typeface="Source Sans Pro"/>
              </a:rPr>
              <a:t>Primary Imaging Layer</a:t>
            </a:r>
          </a:p>
        </p:txBody>
      </p:sp>
      <p:pic>
        <p:nvPicPr>
          <p:cNvPr id="4" name="Picture 3" descr="A grey planet with blue lines around it&#10;&#10;AI-generated content may be incorrect.">
            <a:extLst>
              <a:ext uri="{FF2B5EF4-FFF2-40B4-BE49-F238E27FC236}">
                <a16:creationId xmlns:a16="http://schemas.microsoft.com/office/drawing/2014/main" id="{DD8D6FD7-9113-E134-F5C2-E32E8257C860}"/>
              </a:ext>
            </a:extLst>
          </p:cNvPr>
          <p:cNvPicPr>
            <a:picLocks noChangeAspect="1"/>
          </p:cNvPicPr>
          <p:nvPr/>
        </p:nvPicPr>
        <p:blipFill>
          <a:blip r:embed="rId3"/>
          <a:stretch>
            <a:fillRect/>
          </a:stretch>
        </p:blipFill>
        <p:spPr>
          <a:xfrm>
            <a:off x="988675" y="1634760"/>
            <a:ext cx="2367153" cy="2478102"/>
          </a:xfrm>
          <a:prstGeom prst="rect">
            <a:avLst/>
          </a:prstGeom>
        </p:spPr>
      </p:pic>
      <p:pic>
        <p:nvPicPr>
          <p:cNvPr id="6" name="Picture 5">
            <a:extLst>
              <a:ext uri="{FF2B5EF4-FFF2-40B4-BE49-F238E27FC236}">
                <a16:creationId xmlns:a16="http://schemas.microsoft.com/office/drawing/2014/main" id="{77604D41-B10D-C15E-983A-159BF11EE1B3}"/>
              </a:ext>
            </a:extLst>
          </p:cNvPr>
          <p:cNvPicPr>
            <a:picLocks noChangeAspect="1"/>
          </p:cNvPicPr>
          <p:nvPr/>
        </p:nvPicPr>
        <p:blipFill>
          <a:blip r:embed="rId4"/>
          <a:stretch>
            <a:fillRect/>
          </a:stretch>
        </p:blipFill>
        <p:spPr>
          <a:xfrm>
            <a:off x="4936669" y="1532006"/>
            <a:ext cx="2718874" cy="2732636"/>
          </a:xfrm>
          <a:prstGeom prst="rect">
            <a:avLst/>
          </a:prstGeom>
        </p:spPr>
      </p:pic>
      <p:sp>
        <p:nvSpPr>
          <p:cNvPr id="8" name="Text 4">
            <a:extLst>
              <a:ext uri="{FF2B5EF4-FFF2-40B4-BE49-F238E27FC236}">
                <a16:creationId xmlns:a16="http://schemas.microsoft.com/office/drawing/2014/main" id="{1541A8AB-E8D8-6277-5E06-F6B750B55368}"/>
              </a:ext>
            </a:extLst>
          </p:cNvPr>
          <p:cNvSpPr/>
          <p:nvPr/>
        </p:nvSpPr>
        <p:spPr>
          <a:xfrm>
            <a:off x="5548647" y="830051"/>
            <a:ext cx="2337851" cy="457200"/>
          </a:xfrm>
          <a:prstGeom prst="rect">
            <a:avLst/>
          </a:prstGeom>
          <a:noFill/>
          <a:ln/>
        </p:spPr>
        <p:txBody>
          <a:bodyPr wrap="square" lIns="0" tIns="0" rIns="0" bIns="0" rtlCol="0" anchor="ctr"/>
          <a:lstStyle/>
          <a:p>
            <a:r>
              <a:rPr lang="en-US" sz="1600" dirty="0">
                <a:solidFill>
                  <a:srgbClr val="4D9DE5"/>
                </a:solidFill>
                <a:latin typeface="Source Sans Pro"/>
                <a:ea typeface="Source Sans Pro"/>
              </a:rPr>
              <a:t>Secondary Support Layer</a:t>
            </a:r>
          </a:p>
        </p:txBody>
      </p:sp>
      <p:sp>
        <p:nvSpPr>
          <p:cNvPr id="10" name="Text 16">
            <a:extLst>
              <a:ext uri="{FF2B5EF4-FFF2-40B4-BE49-F238E27FC236}">
                <a16:creationId xmlns:a16="http://schemas.microsoft.com/office/drawing/2014/main" id="{DB9F18C4-F3A5-A31B-3D92-C03D07CA0060}"/>
              </a:ext>
            </a:extLst>
          </p:cNvPr>
          <p:cNvSpPr/>
          <p:nvPr/>
        </p:nvSpPr>
        <p:spPr>
          <a:xfrm>
            <a:off x="4773203" y="4340133"/>
            <a:ext cx="4208753" cy="475036"/>
          </a:xfrm>
          <a:prstGeom prst="rect">
            <a:avLst/>
          </a:prstGeom>
          <a:noFill/>
          <a:ln/>
        </p:spPr>
        <p:txBody>
          <a:bodyPr wrap="square" lIns="0" tIns="0" rIns="0" bIns="0" rtlCol="0" anchor="ctr"/>
          <a:lstStyle/>
          <a:p>
            <a:r>
              <a:rPr lang="en-US" sz="1400" b="1" dirty="0">
                <a:solidFill>
                  <a:srgbClr val="4D9DE5"/>
                </a:solidFill>
                <a:latin typeface="Source Sans Pro"/>
                <a:ea typeface="Source Sans Pro"/>
                <a:cs typeface="Source Sans Pro" pitchFamily="34" charset="-120"/>
              </a:rPr>
              <a:t>Flow: </a:t>
            </a:r>
            <a:r>
              <a:rPr lang="en-US" sz="1400">
                <a:solidFill>
                  <a:srgbClr val="AAAAAA"/>
                </a:solidFill>
                <a:latin typeface="Source Sans Pro"/>
                <a:ea typeface="Source Sans Pro"/>
                <a:cs typeface="Source Sans Pro" pitchFamily="34" charset="-120"/>
              </a:rPr>
              <a:t>Life-long Orbit → Selective Recovery  →  </a:t>
            </a:r>
            <a:r>
              <a:rPr lang="en-US" sz="1400" b="1">
                <a:solidFill>
                  <a:srgbClr val="FFFFFF"/>
                </a:solidFill>
                <a:latin typeface="Source Sans Pro"/>
                <a:ea typeface="Source Sans Pro"/>
                <a:cs typeface="Source Sans Pro" pitchFamily="34" charset="-120"/>
              </a:rPr>
              <a:t>Gateway</a:t>
            </a:r>
            <a:r>
              <a:rPr lang="en-US" sz="1400" b="1" dirty="0">
                <a:solidFill>
                  <a:srgbClr val="FFFFFF"/>
                </a:solidFill>
                <a:latin typeface="Source Sans Pro"/>
                <a:ea typeface="Source Sans Pro"/>
                <a:cs typeface="Source Sans Pro" pitchFamily="34" charset="-120"/>
              </a:rPr>
              <a:t> Return</a:t>
            </a:r>
            <a:endParaRPr lang="en-US" sz="1400" b="1" dirty="0">
              <a:solidFill>
                <a:srgbClr val="FFFFFF"/>
              </a:solidFill>
              <a:latin typeface="Source Sans Pro"/>
              <a:ea typeface="Source Sans Pro"/>
            </a:endParaRPr>
          </a:p>
        </p:txBody>
      </p:sp>
      <p:sp>
        <p:nvSpPr>
          <p:cNvPr id="12" name="Text 9">
            <a:extLst>
              <a:ext uri="{FF2B5EF4-FFF2-40B4-BE49-F238E27FC236}">
                <a16:creationId xmlns:a16="http://schemas.microsoft.com/office/drawing/2014/main" id="{1440D2C1-AA6A-E0AD-70D7-BD3E7FE3F53E}"/>
              </a:ext>
            </a:extLst>
          </p:cNvPr>
          <p:cNvSpPr/>
          <p:nvPr/>
        </p:nvSpPr>
        <p:spPr>
          <a:xfrm>
            <a:off x="211863" y="4138514"/>
            <a:ext cx="2727448" cy="207086"/>
          </a:xfrm>
          <a:prstGeom prst="rect">
            <a:avLst/>
          </a:prstGeom>
          <a:noFill/>
          <a:ln/>
        </p:spPr>
        <p:txBody>
          <a:bodyPr wrap="square" lIns="0" tIns="0" rIns="0" bIns="0" rtlCol="0" anchor="ctr"/>
          <a:lstStyle/>
          <a:p>
            <a:r>
              <a:rPr lang="en-US" sz="1200">
                <a:solidFill>
                  <a:srgbClr val="AAAAAA"/>
                </a:solidFill>
                <a:latin typeface="Source Sans Pro"/>
                <a:ea typeface="Source Sans Pro"/>
              </a:rPr>
              <a:t>Imaging CubeSat in 350km, 93</a:t>
            </a:r>
            <a:r>
              <a:rPr lang="en-US" sz="1200" dirty="0">
                <a:solidFill>
                  <a:srgbClr val="AAAAAA"/>
                </a:solidFill>
                <a:latin typeface="Calibri"/>
                <a:ea typeface="Calibri"/>
                <a:cs typeface="Calibri"/>
              </a:rPr>
              <a:t>° orbit</a:t>
            </a:r>
            <a:endParaRPr lang="en-US" sz="1100" dirty="0">
              <a:solidFill>
                <a:srgbClr val="AAAAAA"/>
              </a:solidFill>
              <a:latin typeface="Source Sans Pro"/>
              <a:ea typeface="Source Sans Pro"/>
            </a:endParaRPr>
          </a:p>
        </p:txBody>
      </p:sp>
      <p:cxnSp>
        <p:nvCxnSpPr>
          <p:cNvPr id="13" name="Straight Arrow Connector 12">
            <a:extLst>
              <a:ext uri="{FF2B5EF4-FFF2-40B4-BE49-F238E27FC236}">
                <a16:creationId xmlns:a16="http://schemas.microsoft.com/office/drawing/2014/main" id="{6121E358-C52A-A86C-A437-96E95C3A520D}"/>
              </a:ext>
            </a:extLst>
          </p:cNvPr>
          <p:cNvCxnSpPr/>
          <p:nvPr/>
        </p:nvCxnSpPr>
        <p:spPr>
          <a:xfrm flipV="1">
            <a:off x="654193" y="3590861"/>
            <a:ext cx="1295294" cy="565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 9">
            <a:extLst>
              <a:ext uri="{FF2B5EF4-FFF2-40B4-BE49-F238E27FC236}">
                <a16:creationId xmlns:a16="http://schemas.microsoft.com/office/drawing/2014/main" id="{E618EF12-A89C-7C37-8612-C90F4F1CD93D}"/>
              </a:ext>
            </a:extLst>
          </p:cNvPr>
          <p:cNvSpPr/>
          <p:nvPr/>
        </p:nvSpPr>
        <p:spPr>
          <a:xfrm>
            <a:off x="211862" y="1290619"/>
            <a:ext cx="3130859" cy="207086"/>
          </a:xfrm>
          <a:prstGeom prst="rect">
            <a:avLst/>
          </a:prstGeom>
          <a:noFill/>
          <a:ln/>
        </p:spPr>
        <p:txBody>
          <a:bodyPr wrap="square" lIns="0" tIns="0" rIns="0" bIns="0" rtlCol="0" anchor="ctr"/>
          <a:lstStyle/>
          <a:p>
            <a:r>
              <a:rPr lang="en-US" sz="1100" dirty="0">
                <a:solidFill>
                  <a:srgbClr val="AAAAAA"/>
                </a:solidFill>
                <a:latin typeface="Source Sans Pro"/>
                <a:ea typeface="Source Sans Pro"/>
                <a:cs typeface="Calibri"/>
              </a:rPr>
              <a:t>Controlled deorbit burn into non-sensitive corridor</a:t>
            </a:r>
          </a:p>
        </p:txBody>
      </p:sp>
      <p:sp>
        <p:nvSpPr>
          <p:cNvPr id="15" name="Text 9">
            <a:extLst>
              <a:ext uri="{FF2B5EF4-FFF2-40B4-BE49-F238E27FC236}">
                <a16:creationId xmlns:a16="http://schemas.microsoft.com/office/drawing/2014/main" id="{8844D395-F967-4B8D-09CE-B23E47148724}"/>
              </a:ext>
            </a:extLst>
          </p:cNvPr>
          <p:cNvSpPr/>
          <p:nvPr/>
        </p:nvSpPr>
        <p:spPr>
          <a:xfrm>
            <a:off x="3429550" y="2116651"/>
            <a:ext cx="1022553" cy="624905"/>
          </a:xfrm>
          <a:prstGeom prst="rect">
            <a:avLst/>
          </a:prstGeom>
          <a:noFill/>
          <a:ln/>
        </p:spPr>
        <p:txBody>
          <a:bodyPr wrap="square" lIns="0" tIns="0" rIns="0" bIns="0" rtlCol="0" anchor="ctr"/>
          <a:lstStyle/>
          <a:p>
            <a:r>
              <a:rPr lang="en-US" sz="1100" dirty="0">
                <a:solidFill>
                  <a:srgbClr val="AAAAAA"/>
                </a:solidFill>
                <a:latin typeface="Source Sans Pro"/>
                <a:ea typeface="Source Sans Pro"/>
                <a:cs typeface="Calibri"/>
              </a:rPr>
              <a:t>Potential non-</a:t>
            </a:r>
            <a:r>
              <a:rPr lang="en-US" sz="1100">
                <a:solidFill>
                  <a:srgbClr val="AAAAAA"/>
                </a:solidFill>
                <a:latin typeface="Source Sans Pro"/>
                <a:ea typeface="Source Sans Pro"/>
                <a:cs typeface="Calibri"/>
              </a:rPr>
              <a:t>sensitive</a:t>
            </a:r>
            <a:r>
              <a:rPr lang="en-US" sz="1100" dirty="0">
                <a:solidFill>
                  <a:srgbClr val="AAAAAA"/>
                </a:solidFill>
                <a:latin typeface="Source Sans Pro"/>
                <a:ea typeface="Source Sans Pro"/>
                <a:cs typeface="Calibri"/>
              </a:rPr>
              <a:t> corridor </a:t>
            </a:r>
          </a:p>
        </p:txBody>
      </p:sp>
      <p:cxnSp>
        <p:nvCxnSpPr>
          <p:cNvPr id="16" name="Straight Arrow Connector 15">
            <a:extLst>
              <a:ext uri="{FF2B5EF4-FFF2-40B4-BE49-F238E27FC236}">
                <a16:creationId xmlns:a16="http://schemas.microsoft.com/office/drawing/2014/main" id="{24B83116-14C4-5601-E6E5-1CF65614973B}"/>
              </a:ext>
            </a:extLst>
          </p:cNvPr>
          <p:cNvCxnSpPr/>
          <p:nvPr/>
        </p:nvCxnSpPr>
        <p:spPr>
          <a:xfrm>
            <a:off x="638769" y="1530304"/>
            <a:ext cx="1106703" cy="1015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36D6F45-FC1D-1CE0-122D-672D85B3F88E}"/>
              </a:ext>
            </a:extLst>
          </p:cNvPr>
          <p:cNvCxnSpPr/>
          <p:nvPr/>
        </p:nvCxnSpPr>
        <p:spPr>
          <a:xfrm flipH="1">
            <a:off x="2683535" y="2600988"/>
            <a:ext cx="1117140" cy="186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 9">
            <a:extLst>
              <a:ext uri="{FF2B5EF4-FFF2-40B4-BE49-F238E27FC236}">
                <a16:creationId xmlns:a16="http://schemas.microsoft.com/office/drawing/2014/main" id="{777AA779-A7AA-A2FC-4061-DD06B1B6A6C6}"/>
              </a:ext>
            </a:extLst>
          </p:cNvPr>
          <p:cNvSpPr/>
          <p:nvPr/>
        </p:nvSpPr>
        <p:spPr>
          <a:xfrm>
            <a:off x="7759913" y="2109948"/>
            <a:ext cx="1272285" cy="610499"/>
          </a:xfrm>
          <a:prstGeom prst="rect">
            <a:avLst/>
          </a:prstGeom>
          <a:noFill/>
          <a:ln/>
        </p:spPr>
        <p:txBody>
          <a:bodyPr wrap="square" lIns="0" tIns="0" rIns="0" bIns="0" rtlCol="0" anchor="ctr"/>
          <a:lstStyle/>
          <a:p>
            <a:r>
              <a:rPr lang="en-US" sz="1200" dirty="0">
                <a:solidFill>
                  <a:srgbClr val="AAAAAA"/>
                </a:solidFill>
                <a:latin typeface="Source Sans Pro"/>
                <a:ea typeface="Source Sans Pro"/>
                <a:cs typeface="Calibri"/>
              </a:rPr>
              <a:t>Relay CubeSat </a:t>
            </a:r>
            <a:r>
              <a:rPr lang="en-US" sz="1200">
                <a:solidFill>
                  <a:srgbClr val="AAAAAA"/>
                </a:solidFill>
                <a:latin typeface="Source Sans Pro"/>
                <a:ea typeface="Source Sans Pro"/>
                <a:cs typeface="Calibri"/>
              </a:rPr>
              <a:t>in frozen</a:t>
            </a:r>
            <a:r>
              <a:rPr lang="en-US" sz="1200" dirty="0">
                <a:solidFill>
                  <a:srgbClr val="AAAAAA"/>
                </a:solidFill>
                <a:latin typeface="Source Sans Pro"/>
                <a:ea typeface="Source Sans Pro"/>
                <a:cs typeface="Calibri"/>
              </a:rPr>
              <a:t> long-term orbit at 86</a:t>
            </a:r>
            <a:r>
              <a:rPr lang="en-US" sz="1200" dirty="0">
                <a:solidFill>
                  <a:srgbClr val="AAAAAA"/>
                </a:solidFill>
                <a:latin typeface="Calibri"/>
                <a:ea typeface="Calibri"/>
                <a:cs typeface="Calibri"/>
              </a:rPr>
              <a:t>°, 100km</a:t>
            </a:r>
            <a:endParaRPr lang="en-US" sz="1200" dirty="0">
              <a:solidFill>
                <a:srgbClr val="AAAAAA"/>
              </a:solidFill>
              <a:latin typeface="Source Sans Pro"/>
              <a:ea typeface="Source Sans Pro"/>
              <a:cs typeface="Calibri"/>
            </a:endParaRPr>
          </a:p>
        </p:txBody>
      </p:sp>
      <p:sp>
        <p:nvSpPr>
          <p:cNvPr id="20" name="Text 9">
            <a:extLst>
              <a:ext uri="{FF2B5EF4-FFF2-40B4-BE49-F238E27FC236}">
                <a16:creationId xmlns:a16="http://schemas.microsoft.com/office/drawing/2014/main" id="{75767952-BD1F-A1A3-8F02-123E4AAB85D5}"/>
              </a:ext>
            </a:extLst>
          </p:cNvPr>
          <p:cNvSpPr/>
          <p:nvPr/>
        </p:nvSpPr>
        <p:spPr>
          <a:xfrm>
            <a:off x="4724719" y="1168653"/>
            <a:ext cx="3985709" cy="365570"/>
          </a:xfrm>
          <a:prstGeom prst="rect">
            <a:avLst/>
          </a:prstGeom>
          <a:noFill/>
          <a:ln/>
        </p:spPr>
        <p:txBody>
          <a:bodyPr wrap="square" lIns="0" tIns="0" rIns="0" bIns="0" rtlCol="0" anchor="ctr"/>
          <a:lstStyle/>
          <a:p>
            <a:r>
              <a:rPr lang="en-US" sz="1100" dirty="0">
                <a:solidFill>
                  <a:srgbClr val="AAAAAA"/>
                </a:solidFill>
                <a:latin typeface="Source Sans Pro"/>
                <a:ea typeface="Source Sans Pro"/>
                <a:cs typeface="Calibri"/>
              </a:rPr>
              <a:t>Small servicing vehicle approaching satellite from </a:t>
            </a:r>
            <a:r>
              <a:rPr lang="en-US" sz="1100">
                <a:solidFill>
                  <a:srgbClr val="AAAAAA"/>
                </a:solidFill>
                <a:latin typeface="Source Sans Pro"/>
                <a:ea typeface="Source Sans Pro"/>
                <a:cs typeface="Calibri"/>
              </a:rPr>
              <a:t>Gateway</a:t>
            </a:r>
            <a:endParaRPr lang="en-US" sz="1100" dirty="0" err="1">
              <a:solidFill>
                <a:srgbClr val="AAAAAA"/>
              </a:solidFill>
              <a:latin typeface="Calibri"/>
              <a:ea typeface="Calibri"/>
              <a:cs typeface="Calibri"/>
            </a:endParaRPr>
          </a:p>
        </p:txBody>
      </p:sp>
      <p:sp>
        <p:nvSpPr>
          <p:cNvPr id="21" name="Text 9">
            <a:extLst>
              <a:ext uri="{FF2B5EF4-FFF2-40B4-BE49-F238E27FC236}">
                <a16:creationId xmlns:a16="http://schemas.microsoft.com/office/drawing/2014/main" id="{5EB0CF3B-2E86-C1D2-226E-4E633BE10098}"/>
              </a:ext>
            </a:extLst>
          </p:cNvPr>
          <p:cNvSpPr/>
          <p:nvPr/>
        </p:nvSpPr>
        <p:spPr>
          <a:xfrm>
            <a:off x="7759911" y="1447198"/>
            <a:ext cx="1272285" cy="610499"/>
          </a:xfrm>
          <a:prstGeom prst="rect">
            <a:avLst/>
          </a:prstGeom>
          <a:noFill/>
          <a:ln/>
        </p:spPr>
        <p:txBody>
          <a:bodyPr wrap="square" lIns="0" tIns="0" rIns="0" bIns="0" rtlCol="0" anchor="ctr"/>
          <a:lstStyle/>
          <a:p>
            <a:endParaRPr lang="en-US" sz="1100">
              <a:solidFill>
                <a:srgbClr val="AAAAAA"/>
              </a:solidFill>
              <a:latin typeface="Source Sans Pro"/>
              <a:ea typeface="Source Sans Pro"/>
              <a:cs typeface="Calibri"/>
            </a:endParaRPr>
          </a:p>
        </p:txBody>
      </p:sp>
      <p:cxnSp>
        <p:nvCxnSpPr>
          <p:cNvPr id="26" name="Straight Arrow Connector 25">
            <a:extLst>
              <a:ext uri="{FF2B5EF4-FFF2-40B4-BE49-F238E27FC236}">
                <a16:creationId xmlns:a16="http://schemas.microsoft.com/office/drawing/2014/main" id="{03544BBD-DB05-0303-3ED5-B48EC512D584}"/>
              </a:ext>
            </a:extLst>
          </p:cNvPr>
          <p:cNvCxnSpPr/>
          <p:nvPr/>
        </p:nvCxnSpPr>
        <p:spPr>
          <a:xfrm>
            <a:off x="5864524" y="1455902"/>
            <a:ext cx="219345" cy="302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C9E5F19-01A7-D543-644A-6F3097059D3B}"/>
              </a:ext>
            </a:extLst>
          </p:cNvPr>
          <p:cNvCxnSpPr>
            <a:cxnSpLocks/>
          </p:cNvCxnSpPr>
          <p:nvPr/>
        </p:nvCxnSpPr>
        <p:spPr>
          <a:xfrm flipH="1">
            <a:off x="6146302" y="2757384"/>
            <a:ext cx="2009023" cy="893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99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274320"/>
            <a:ext cx="7315200" cy="640080"/>
          </a:xfrm>
          <a:prstGeom prst="rect">
            <a:avLst/>
          </a:prstGeom>
          <a:noFill/>
          <a:ln/>
        </p:spPr>
        <p:txBody>
          <a:bodyPr wrap="square" lIns="0" tIns="0" rIns="0" bIns="0" rtlCol="0" anchor="ctr"/>
          <a:lstStyle/>
          <a:p>
            <a:pPr marL="0" indent="0">
              <a:buNone/>
            </a:pPr>
            <a:r>
              <a:rPr lang="en-US" sz="2800" b="1">
                <a:solidFill>
                  <a:srgbClr val="FFFFFF"/>
                </a:solidFill>
                <a:latin typeface="Source Sans Pro" pitchFamily="34" charset="0"/>
                <a:ea typeface="Source Sans Pro" pitchFamily="34" charset="-122"/>
                <a:cs typeface="Source Sans Pro" pitchFamily="34" charset="-120"/>
              </a:rPr>
              <a:t>Mission Architecture &amp; Data Pipeline</a:t>
            </a:r>
            <a:endParaRPr lang="en-US" sz="2800"/>
          </a:p>
        </p:txBody>
      </p:sp>
      <p:sp>
        <p:nvSpPr>
          <p:cNvPr id="4" name="Shape 2"/>
          <p:cNvSpPr/>
          <p:nvPr/>
        </p:nvSpPr>
        <p:spPr>
          <a:xfrm>
            <a:off x="274320" y="1188720"/>
            <a:ext cx="1600200" cy="21945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p:cNvSpPr/>
          <p:nvPr/>
        </p:nvSpPr>
        <p:spPr>
          <a:xfrm>
            <a:off x="274320" y="1188720"/>
            <a:ext cx="1600200" cy="45720"/>
          </a:xfrm>
          <a:prstGeom prst="rect">
            <a:avLst/>
          </a:prstGeom>
          <a:solidFill>
            <a:srgbClr val="4D9DE5"/>
          </a:solidFill>
          <a:ln/>
        </p:spPr>
        <p:txBody>
          <a:bodyPr/>
          <a:lstStyle/>
          <a:p>
            <a:endParaRPr lang="en-CH"/>
          </a:p>
        </p:txBody>
      </p:sp>
      <p:pic>
        <p:nvPicPr>
          <p:cNvPr id="6" name="Image 0" descr="preencoded.png"/>
          <p:cNvPicPr>
            <a:picLocks noChangeAspect="1"/>
          </p:cNvPicPr>
          <p:nvPr/>
        </p:nvPicPr>
        <p:blipFill>
          <a:blip r:embed="rId3"/>
          <a:stretch>
            <a:fillRect/>
          </a:stretch>
        </p:blipFill>
        <p:spPr>
          <a:xfrm>
            <a:off x="777240" y="1417320"/>
            <a:ext cx="502920" cy="502920"/>
          </a:xfrm>
          <a:prstGeom prst="rect">
            <a:avLst/>
          </a:prstGeom>
        </p:spPr>
      </p:pic>
      <p:sp>
        <p:nvSpPr>
          <p:cNvPr id="7" name="Text 4"/>
          <p:cNvSpPr/>
          <p:nvPr/>
        </p:nvSpPr>
        <p:spPr>
          <a:xfrm>
            <a:off x="365760" y="2057400"/>
            <a:ext cx="1417320" cy="365760"/>
          </a:xfrm>
          <a:prstGeom prst="rect">
            <a:avLst/>
          </a:prstGeom>
          <a:noFill/>
          <a:ln/>
        </p:spPr>
        <p:txBody>
          <a:bodyPr wrap="square" lIns="0" tIns="0" rIns="0" bIns="0" rtlCol="0" anchor="ctr"/>
          <a:lstStyle/>
          <a:p>
            <a:pPr marL="0" indent="0" algn="ctr">
              <a:buNone/>
            </a:pPr>
            <a:r>
              <a:rPr lang="en-US" sz="1400">
                <a:solidFill>
                  <a:srgbClr val="FFFFFF"/>
                </a:solidFill>
                <a:latin typeface="Source Sans Pro" pitchFamily="34" charset="0"/>
                <a:ea typeface="Source Sans Pro" pitchFamily="34" charset="-122"/>
                <a:cs typeface="Source Sans Pro" pitchFamily="34" charset="-120"/>
              </a:rPr>
              <a:t>Capture</a:t>
            </a:r>
            <a:endParaRPr lang="en-US" sz="1400"/>
          </a:p>
        </p:txBody>
      </p:sp>
      <p:sp>
        <p:nvSpPr>
          <p:cNvPr id="8" name="Text 5"/>
          <p:cNvSpPr/>
          <p:nvPr/>
        </p:nvSpPr>
        <p:spPr>
          <a:xfrm>
            <a:off x="365760" y="2468880"/>
            <a:ext cx="1417320" cy="731520"/>
          </a:xfrm>
          <a:prstGeom prst="rect">
            <a:avLst/>
          </a:prstGeom>
          <a:noFill/>
          <a:ln/>
        </p:spPr>
        <p:txBody>
          <a:bodyPr wrap="square" lIns="0" tIns="0" rIns="0" bIns="0" rtlCol="0" anchor="ctr"/>
          <a:lstStyle/>
          <a:p>
            <a:pPr marL="0" indent="0" algn="ctr">
              <a:buNone/>
            </a:pPr>
            <a:r>
              <a:rPr lang="en-US" sz="1000">
                <a:solidFill>
                  <a:srgbClr val="AAAAAA"/>
                </a:solidFill>
                <a:latin typeface="Source Sans Pro" pitchFamily="34" charset="0"/>
                <a:ea typeface="Source Sans Pro" pitchFamily="34" charset="-122"/>
                <a:cs typeface="Source Sans Pro" pitchFamily="34" charset="-120"/>
              </a:rPr>
              <a:t>Imaging sats acquire optical &amp; IR data</a:t>
            </a:r>
            <a:endParaRPr lang="en-US" sz="1000"/>
          </a:p>
        </p:txBody>
      </p:sp>
      <p:pic>
        <p:nvPicPr>
          <p:cNvPr id="9" name="Image 1" descr="preencoded.png"/>
          <p:cNvPicPr>
            <a:picLocks noChangeAspect="1"/>
          </p:cNvPicPr>
          <p:nvPr/>
        </p:nvPicPr>
        <p:blipFill>
          <a:blip r:embed="rId4"/>
          <a:stretch>
            <a:fillRect/>
          </a:stretch>
        </p:blipFill>
        <p:spPr>
          <a:xfrm>
            <a:off x="1847088" y="2011680"/>
            <a:ext cx="256032" cy="256032"/>
          </a:xfrm>
          <a:prstGeom prst="rect">
            <a:avLst/>
          </a:prstGeom>
        </p:spPr>
      </p:pic>
      <p:sp>
        <p:nvSpPr>
          <p:cNvPr id="10" name="Shape 6"/>
          <p:cNvSpPr/>
          <p:nvPr/>
        </p:nvSpPr>
        <p:spPr>
          <a:xfrm>
            <a:off x="2057400" y="1188720"/>
            <a:ext cx="1600200" cy="21945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1" name="Shape 7"/>
          <p:cNvSpPr/>
          <p:nvPr/>
        </p:nvSpPr>
        <p:spPr>
          <a:xfrm>
            <a:off x="2057400" y="1188720"/>
            <a:ext cx="1600200" cy="45720"/>
          </a:xfrm>
          <a:prstGeom prst="rect">
            <a:avLst/>
          </a:prstGeom>
          <a:solidFill>
            <a:srgbClr val="4D9DE5"/>
          </a:solidFill>
          <a:ln/>
        </p:spPr>
        <p:txBody>
          <a:bodyPr/>
          <a:lstStyle/>
          <a:p>
            <a:endParaRPr lang="en-CH"/>
          </a:p>
        </p:txBody>
      </p:sp>
      <p:pic>
        <p:nvPicPr>
          <p:cNvPr id="12" name="Image 2" descr="preencoded.png"/>
          <p:cNvPicPr>
            <a:picLocks noChangeAspect="1"/>
          </p:cNvPicPr>
          <p:nvPr/>
        </p:nvPicPr>
        <p:blipFill>
          <a:blip r:embed="rId5"/>
          <a:stretch>
            <a:fillRect/>
          </a:stretch>
        </p:blipFill>
        <p:spPr>
          <a:xfrm>
            <a:off x="2560320" y="1417320"/>
            <a:ext cx="502920" cy="502920"/>
          </a:xfrm>
          <a:prstGeom prst="rect">
            <a:avLst/>
          </a:prstGeom>
        </p:spPr>
      </p:pic>
      <p:sp>
        <p:nvSpPr>
          <p:cNvPr id="13" name="Text 8"/>
          <p:cNvSpPr/>
          <p:nvPr/>
        </p:nvSpPr>
        <p:spPr>
          <a:xfrm>
            <a:off x="2148840" y="2057400"/>
            <a:ext cx="1417320" cy="365760"/>
          </a:xfrm>
          <a:prstGeom prst="rect">
            <a:avLst/>
          </a:prstGeom>
          <a:noFill/>
          <a:ln/>
        </p:spPr>
        <p:txBody>
          <a:bodyPr wrap="square" lIns="0" tIns="0" rIns="0" bIns="0" rtlCol="0" anchor="ctr"/>
          <a:lstStyle/>
          <a:p>
            <a:pPr marL="0" indent="0" algn="ctr">
              <a:buNone/>
            </a:pPr>
            <a:r>
              <a:rPr lang="en-US" sz="1400">
                <a:solidFill>
                  <a:srgbClr val="FFFFFF"/>
                </a:solidFill>
                <a:latin typeface="Source Sans Pro" pitchFamily="34" charset="0"/>
                <a:ea typeface="Source Sans Pro" pitchFamily="34" charset="-122"/>
                <a:cs typeface="Source Sans Pro" pitchFamily="34" charset="-120"/>
              </a:rPr>
              <a:t>Relay</a:t>
            </a:r>
            <a:endParaRPr lang="en-US" sz="1400"/>
          </a:p>
        </p:txBody>
      </p:sp>
      <p:sp>
        <p:nvSpPr>
          <p:cNvPr id="14" name="Text 9"/>
          <p:cNvSpPr/>
          <p:nvPr/>
        </p:nvSpPr>
        <p:spPr>
          <a:xfrm>
            <a:off x="2148840" y="2468880"/>
            <a:ext cx="1417320" cy="731520"/>
          </a:xfrm>
          <a:prstGeom prst="rect">
            <a:avLst/>
          </a:prstGeom>
          <a:noFill/>
          <a:ln/>
        </p:spPr>
        <p:txBody>
          <a:bodyPr wrap="square" lIns="0" tIns="0" rIns="0" bIns="0" rtlCol="0" anchor="ctr"/>
          <a:lstStyle/>
          <a:p>
            <a:pPr marL="0" indent="0" algn="ctr">
              <a:buNone/>
            </a:pPr>
            <a:r>
              <a:rPr lang="en-US" sz="1000">
                <a:solidFill>
                  <a:srgbClr val="AAAAAA"/>
                </a:solidFill>
                <a:latin typeface="Source Sans Pro" pitchFamily="34" charset="0"/>
                <a:ea typeface="Source Sans Pro" pitchFamily="34" charset="-122"/>
                <a:cs typeface="Source Sans Pro" pitchFamily="34" charset="-120"/>
              </a:rPr>
              <a:t>Data routed to Relay sats</a:t>
            </a:r>
            <a:endParaRPr lang="en-US" sz="1000"/>
          </a:p>
        </p:txBody>
      </p:sp>
      <p:pic>
        <p:nvPicPr>
          <p:cNvPr id="15" name="Image 3" descr="preencoded.png"/>
          <p:cNvPicPr>
            <a:picLocks noChangeAspect="1"/>
          </p:cNvPicPr>
          <p:nvPr/>
        </p:nvPicPr>
        <p:blipFill>
          <a:blip r:embed="rId4"/>
          <a:stretch>
            <a:fillRect/>
          </a:stretch>
        </p:blipFill>
        <p:spPr>
          <a:xfrm>
            <a:off x="3630168" y="2011680"/>
            <a:ext cx="256032" cy="256032"/>
          </a:xfrm>
          <a:prstGeom prst="rect">
            <a:avLst/>
          </a:prstGeom>
        </p:spPr>
      </p:pic>
      <p:sp>
        <p:nvSpPr>
          <p:cNvPr id="16" name="Shape 10"/>
          <p:cNvSpPr/>
          <p:nvPr/>
        </p:nvSpPr>
        <p:spPr>
          <a:xfrm>
            <a:off x="3840480" y="1188720"/>
            <a:ext cx="1600200" cy="21945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7" name="Shape 11"/>
          <p:cNvSpPr/>
          <p:nvPr/>
        </p:nvSpPr>
        <p:spPr>
          <a:xfrm>
            <a:off x="3840480" y="1188720"/>
            <a:ext cx="1600200" cy="45720"/>
          </a:xfrm>
          <a:prstGeom prst="rect">
            <a:avLst/>
          </a:prstGeom>
          <a:solidFill>
            <a:srgbClr val="4D9DE5"/>
          </a:solidFill>
          <a:ln/>
        </p:spPr>
        <p:txBody>
          <a:bodyPr/>
          <a:lstStyle/>
          <a:p>
            <a:endParaRPr lang="en-CH"/>
          </a:p>
        </p:txBody>
      </p:sp>
      <p:pic>
        <p:nvPicPr>
          <p:cNvPr id="18" name="Image 4" descr="preencoded.png"/>
          <p:cNvPicPr>
            <a:picLocks noChangeAspect="1"/>
          </p:cNvPicPr>
          <p:nvPr/>
        </p:nvPicPr>
        <p:blipFill>
          <a:blip r:embed="rId6"/>
          <a:stretch>
            <a:fillRect/>
          </a:stretch>
        </p:blipFill>
        <p:spPr>
          <a:xfrm>
            <a:off x="4343400" y="1417320"/>
            <a:ext cx="502920" cy="502920"/>
          </a:xfrm>
          <a:prstGeom prst="rect">
            <a:avLst/>
          </a:prstGeom>
        </p:spPr>
      </p:pic>
      <p:sp>
        <p:nvSpPr>
          <p:cNvPr id="19" name="Text 12"/>
          <p:cNvSpPr/>
          <p:nvPr/>
        </p:nvSpPr>
        <p:spPr>
          <a:xfrm>
            <a:off x="3931920" y="2057400"/>
            <a:ext cx="1417320" cy="365760"/>
          </a:xfrm>
          <a:prstGeom prst="rect">
            <a:avLst/>
          </a:prstGeom>
          <a:noFill/>
          <a:ln/>
        </p:spPr>
        <p:txBody>
          <a:bodyPr wrap="square" lIns="0" tIns="0" rIns="0" bIns="0" rtlCol="0" anchor="ctr"/>
          <a:lstStyle/>
          <a:p>
            <a:pPr marL="0" indent="0" algn="ctr">
              <a:buNone/>
            </a:pPr>
            <a:r>
              <a:rPr lang="en-US" sz="1400">
                <a:solidFill>
                  <a:srgbClr val="FFFFFF"/>
                </a:solidFill>
                <a:latin typeface="Source Sans Pro" pitchFamily="34" charset="0"/>
                <a:ea typeface="Source Sans Pro" pitchFamily="34" charset="-122"/>
                <a:cs typeface="Source Sans Pro" pitchFamily="34" charset="-120"/>
              </a:rPr>
              <a:t>Gateway</a:t>
            </a:r>
            <a:endParaRPr lang="en-US" sz="1400"/>
          </a:p>
        </p:txBody>
      </p:sp>
      <p:sp>
        <p:nvSpPr>
          <p:cNvPr id="20" name="Text 13"/>
          <p:cNvSpPr/>
          <p:nvPr/>
        </p:nvSpPr>
        <p:spPr>
          <a:xfrm>
            <a:off x="3931920" y="2468880"/>
            <a:ext cx="1417320" cy="731520"/>
          </a:xfrm>
          <a:prstGeom prst="rect">
            <a:avLst/>
          </a:prstGeom>
          <a:noFill/>
          <a:ln/>
        </p:spPr>
        <p:txBody>
          <a:bodyPr wrap="square" lIns="0" tIns="0" rIns="0" bIns="0" rtlCol="0" anchor="ctr"/>
          <a:lstStyle/>
          <a:p>
            <a:pPr marL="0" indent="0" algn="ctr">
              <a:buNone/>
            </a:pPr>
            <a:r>
              <a:rPr lang="en-US" sz="1000">
                <a:solidFill>
                  <a:srgbClr val="AAAAAA"/>
                </a:solidFill>
                <a:latin typeface="Source Sans Pro" pitchFamily="34" charset="0"/>
                <a:ea typeface="Source Sans Pro" pitchFamily="34" charset="-122"/>
                <a:cs typeface="Source Sans Pro" pitchFamily="34" charset="-120"/>
              </a:rPr>
              <a:t>High-bandwidth downlink through Lunar Gateway</a:t>
            </a:r>
            <a:endParaRPr lang="en-US" sz="1000"/>
          </a:p>
        </p:txBody>
      </p:sp>
      <p:pic>
        <p:nvPicPr>
          <p:cNvPr id="21" name="Image 5" descr="preencoded.png"/>
          <p:cNvPicPr>
            <a:picLocks noChangeAspect="1"/>
          </p:cNvPicPr>
          <p:nvPr/>
        </p:nvPicPr>
        <p:blipFill>
          <a:blip r:embed="rId4"/>
          <a:stretch>
            <a:fillRect/>
          </a:stretch>
        </p:blipFill>
        <p:spPr>
          <a:xfrm>
            <a:off x="5413248" y="2011680"/>
            <a:ext cx="256032" cy="256032"/>
          </a:xfrm>
          <a:prstGeom prst="rect">
            <a:avLst/>
          </a:prstGeom>
        </p:spPr>
      </p:pic>
      <p:sp>
        <p:nvSpPr>
          <p:cNvPr id="22" name="Shape 14"/>
          <p:cNvSpPr/>
          <p:nvPr/>
        </p:nvSpPr>
        <p:spPr>
          <a:xfrm>
            <a:off x="5623560" y="1188720"/>
            <a:ext cx="1600200" cy="21945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3" name="Shape 15"/>
          <p:cNvSpPr/>
          <p:nvPr/>
        </p:nvSpPr>
        <p:spPr>
          <a:xfrm>
            <a:off x="5623560" y="1188720"/>
            <a:ext cx="1600200" cy="45720"/>
          </a:xfrm>
          <a:prstGeom prst="rect">
            <a:avLst/>
          </a:prstGeom>
          <a:solidFill>
            <a:srgbClr val="4D9DE5"/>
          </a:solidFill>
          <a:ln/>
        </p:spPr>
        <p:txBody>
          <a:bodyPr/>
          <a:lstStyle/>
          <a:p>
            <a:endParaRPr lang="en-CH"/>
          </a:p>
        </p:txBody>
      </p:sp>
      <p:pic>
        <p:nvPicPr>
          <p:cNvPr id="24" name="Image 6" descr="preencoded.png"/>
          <p:cNvPicPr>
            <a:picLocks noChangeAspect="1"/>
          </p:cNvPicPr>
          <p:nvPr/>
        </p:nvPicPr>
        <p:blipFill>
          <a:blip r:embed="rId7"/>
          <a:stretch>
            <a:fillRect/>
          </a:stretch>
        </p:blipFill>
        <p:spPr>
          <a:xfrm>
            <a:off x="6126480" y="1417320"/>
            <a:ext cx="502920" cy="502920"/>
          </a:xfrm>
          <a:prstGeom prst="rect">
            <a:avLst/>
          </a:prstGeom>
        </p:spPr>
      </p:pic>
      <p:sp>
        <p:nvSpPr>
          <p:cNvPr id="25" name="Text 16"/>
          <p:cNvSpPr/>
          <p:nvPr/>
        </p:nvSpPr>
        <p:spPr>
          <a:xfrm>
            <a:off x="5715000" y="2057400"/>
            <a:ext cx="1417320" cy="365760"/>
          </a:xfrm>
          <a:prstGeom prst="rect">
            <a:avLst/>
          </a:prstGeom>
          <a:noFill/>
          <a:ln/>
        </p:spPr>
        <p:txBody>
          <a:bodyPr wrap="square" lIns="0" tIns="0" rIns="0" bIns="0" rtlCol="0" anchor="ctr"/>
          <a:lstStyle/>
          <a:p>
            <a:pPr marL="0" indent="0" algn="ctr">
              <a:buNone/>
            </a:pPr>
            <a:r>
              <a:rPr lang="en-US" sz="1400">
                <a:solidFill>
                  <a:srgbClr val="FFFFFF"/>
                </a:solidFill>
                <a:latin typeface="Source Sans Pro" pitchFamily="34" charset="0"/>
                <a:ea typeface="Source Sans Pro" pitchFamily="34" charset="-122"/>
                <a:cs typeface="Source Sans Pro" pitchFamily="34" charset="-120"/>
              </a:rPr>
              <a:t>Ground</a:t>
            </a:r>
            <a:endParaRPr lang="en-US" sz="1400"/>
          </a:p>
        </p:txBody>
      </p:sp>
      <p:sp>
        <p:nvSpPr>
          <p:cNvPr id="26" name="Text 17"/>
          <p:cNvSpPr/>
          <p:nvPr/>
        </p:nvSpPr>
        <p:spPr>
          <a:xfrm>
            <a:off x="5715000" y="2468880"/>
            <a:ext cx="1417320" cy="731520"/>
          </a:xfrm>
          <a:prstGeom prst="rect">
            <a:avLst/>
          </a:prstGeom>
          <a:noFill/>
          <a:ln/>
        </p:spPr>
        <p:txBody>
          <a:bodyPr wrap="square" lIns="0" tIns="0" rIns="0" bIns="0" rtlCol="0" anchor="ctr"/>
          <a:lstStyle/>
          <a:p>
            <a:pPr marL="0" indent="0" algn="ctr">
              <a:buNone/>
            </a:pPr>
            <a:r>
              <a:rPr lang="en-US" sz="1000">
                <a:solidFill>
                  <a:srgbClr val="AAAAAA"/>
                </a:solidFill>
                <a:latin typeface="Source Sans Pro" pitchFamily="34" charset="0"/>
                <a:ea typeface="Source Sans Pro" pitchFamily="34" charset="-122"/>
                <a:cs typeface="Source Sans Pro" pitchFamily="34" charset="-120"/>
              </a:rPr>
              <a:t>Data received at Earth ground stations</a:t>
            </a:r>
            <a:endParaRPr lang="en-US" sz="1000"/>
          </a:p>
        </p:txBody>
      </p:sp>
      <p:pic>
        <p:nvPicPr>
          <p:cNvPr id="27" name="Image 7" descr="preencoded.png"/>
          <p:cNvPicPr>
            <a:picLocks noChangeAspect="1"/>
          </p:cNvPicPr>
          <p:nvPr/>
        </p:nvPicPr>
        <p:blipFill>
          <a:blip r:embed="rId4"/>
          <a:stretch>
            <a:fillRect/>
          </a:stretch>
        </p:blipFill>
        <p:spPr>
          <a:xfrm>
            <a:off x="7196328" y="2011680"/>
            <a:ext cx="256032" cy="256032"/>
          </a:xfrm>
          <a:prstGeom prst="rect">
            <a:avLst/>
          </a:prstGeom>
        </p:spPr>
      </p:pic>
      <p:sp>
        <p:nvSpPr>
          <p:cNvPr id="28" name="Shape 18"/>
          <p:cNvSpPr/>
          <p:nvPr/>
        </p:nvSpPr>
        <p:spPr>
          <a:xfrm>
            <a:off x="7406640" y="1188720"/>
            <a:ext cx="1600200" cy="219456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9" name="Shape 19"/>
          <p:cNvSpPr/>
          <p:nvPr/>
        </p:nvSpPr>
        <p:spPr>
          <a:xfrm>
            <a:off x="7406640" y="1188720"/>
            <a:ext cx="1600200" cy="45720"/>
          </a:xfrm>
          <a:prstGeom prst="rect">
            <a:avLst/>
          </a:prstGeom>
          <a:solidFill>
            <a:srgbClr val="4D9DE5"/>
          </a:solidFill>
          <a:ln/>
        </p:spPr>
        <p:txBody>
          <a:bodyPr/>
          <a:lstStyle/>
          <a:p>
            <a:endParaRPr lang="en-CH"/>
          </a:p>
        </p:txBody>
      </p:sp>
      <p:pic>
        <p:nvPicPr>
          <p:cNvPr id="30" name="Image 8" descr="preencoded.png"/>
          <p:cNvPicPr>
            <a:picLocks noChangeAspect="1"/>
          </p:cNvPicPr>
          <p:nvPr/>
        </p:nvPicPr>
        <p:blipFill>
          <a:blip r:embed="rId8"/>
          <a:stretch>
            <a:fillRect/>
          </a:stretch>
        </p:blipFill>
        <p:spPr>
          <a:xfrm>
            <a:off x="7909560" y="1417320"/>
            <a:ext cx="502920" cy="502920"/>
          </a:xfrm>
          <a:prstGeom prst="rect">
            <a:avLst/>
          </a:prstGeom>
        </p:spPr>
      </p:pic>
      <p:sp>
        <p:nvSpPr>
          <p:cNvPr id="31" name="Text 20"/>
          <p:cNvSpPr/>
          <p:nvPr/>
        </p:nvSpPr>
        <p:spPr>
          <a:xfrm>
            <a:off x="7498080" y="2057400"/>
            <a:ext cx="1417320" cy="365760"/>
          </a:xfrm>
          <a:prstGeom prst="rect">
            <a:avLst/>
          </a:prstGeom>
          <a:noFill/>
          <a:ln/>
        </p:spPr>
        <p:txBody>
          <a:bodyPr wrap="square" lIns="0" tIns="0" rIns="0" bIns="0" rtlCol="0" anchor="ctr"/>
          <a:lstStyle/>
          <a:p>
            <a:pPr marL="0" indent="0" algn="ctr">
              <a:buNone/>
            </a:pPr>
            <a:r>
              <a:rPr lang="en-US" sz="1400">
                <a:solidFill>
                  <a:srgbClr val="FFFFFF"/>
                </a:solidFill>
                <a:latin typeface="Source Sans Pro" pitchFamily="34" charset="0"/>
                <a:ea typeface="Source Sans Pro" pitchFamily="34" charset="-122"/>
                <a:cs typeface="Source Sans Pro" pitchFamily="34" charset="-120"/>
              </a:rPr>
              <a:t>Rion Portal</a:t>
            </a:r>
            <a:endParaRPr lang="en-US" sz="1400"/>
          </a:p>
        </p:txBody>
      </p:sp>
      <p:sp>
        <p:nvSpPr>
          <p:cNvPr id="32" name="Text 21"/>
          <p:cNvSpPr/>
          <p:nvPr/>
        </p:nvSpPr>
        <p:spPr>
          <a:xfrm>
            <a:off x="7498080" y="2468880"/>
            <a:ext cx="1417320" cy="731520"/>
          </a:xfrm>
          <a:prstGeom prst="rect">
            <a:avLst/>
          </a:prstGeom>
          <a:noFill/>
          <a:ln/>
        </p:spPr>
        <p:txBody>
          <a:bodyPr wrap="square" lIns="0" tIns="0" rIns="0" bIns="0" rtlCol="0" anchor="ctr"/>
          <a:lstStyle/>
          <a:p>
            <a:pPr marL="0" indent="0" algn="ctr">
              <a:buNone/>
            </a:pPr>
            <a:r>
              <a:rPr lang="en-US" sz="1000">
                <a:solidFill>
                  <a:srgbClr val="AAAAAA"/>
                </a:solidFill>
                <a:latin typeface="Source Sans Pro" pitchFamily="34" charset="0"/>
                <a:ea typeface="Source Sans Pro" pitchFamily="34" charset="-122"/>
                <a:cs typeface="Source Sans Pro" pitchFamily="34" charset="-120"/>
              </a:rPr>
              <a:t>Processed imagery served to customers via API</a:t>
            </a:r>
            <a:endParaRPr lang="en-US" sz="1000"/>
          </a:p>
        </p:txBody>
      </p:sp>
      <p:sp>
        <p:nvSpPr>
          <p:cNvPr id="33" name="Shape 22"/>
          <p:cNvSpPr/>
          <p:nvPr/>
        </p:nvSpPr>
        <p:spPr>
          <a:xfrm>
            <a:off x="274320" y="3657600"/>
            <a:ext cx="8595360" cy="100584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34" name="Shape 23"/>
          <p:cNvSpPr/>
          <p:nvPr/>
        </p:nvSpPr>
        <p:spPr>
          <a:xfrm>
            <a:off x="274320" y="3657600"/>
            <a:ext cx="8595360" cy="45720"/>
          </a:xfrm>
          <a:prstGeom prst="rect">
            <a:avLst/>
          </a:prstGeom>
          <a:solidFill>
            <a:srgbClr val="D4A017"/>
          </a:solidFill>
          <a:ln/>
        </p:spPr>
        <p:txBody>
          <a:bodyPr/>
          <a:lstStyle/>
          <a:p>
            <a:endParaRPr lang="en-CH"/>
          </a:p>
        </p:txBody>
      </p:sp>
      <p:sp>
        <p:nvSpPr>
          <p:cNvPr id="35" name="Text 24"/>
          <p:cNvSpPr/>
          <p:nvPr/>
        </p:nvSpPr>
        <p:spPr>
          <a:xfrm>
            <a:off x="548640" y="3794760"/>
            <a:ext cx="8046720" cy="777240"/>
          </a:xfrm>
          <a:prstGeom prst="rect">
            <a:avLst/>
          </a:prstGeom>
          <a:noFill/>
          <a:ln/>
        </p:spPr>
        <p:txBody>
          <a:bodyPr wrap="square" lIns="0" tIns="0" rIns="0" bIns="0" rtlCol="0" anchor="ctr"/>
          <a:lstStyle/>
          <a:p>
            <a:pPr marL="0" indent="0">
              <a:buNone/>
            </a:pPr>
            <a:r>
              <a:rPr lang="en-US" sz="1400" b="1">
                <a:solidFill>
                  <a:srgbClr val="D4A017"/>
                </a:solidFill>
                <a:latin typeface="Source Sans Pro" pitchFamily="34" charset="0"/>
                <a:ea typeface="Source Sans Pro" pitchFamily="34" charset="-122"/>
                <a:cs typeface="Source Sans Pro" pitchFamily="34" charset="-120"/>
              </a:rPr>
              <a:t>Rion Portal:  </a:t>
            </a:r>
            <a:r>
              <a:rPr lang="en-US" sz="1200">
                <a:solidFill>
                  <a:srgbClr val="AAAAAA"/>
                </a:solidFill>
                <a:latin typeface="Source Sans Pro" pitchFamily="34" charset="0"/>
                <a:ea typeface="Source Sans Pro" pitchFamily="34" charset="-122"/>
                <a:cs typeface="Source Sans Pro" pitchFamily="34" charset="-120"/>
              </a:rPr>
              <a:t>A secure online platform offering live and archived imagery, mission insights, alerts, and API integration. Designed for seamless customer access with future mission extensibility.</a:t>
            </a:r>
            <a:endParaRPr lang="en-US" sz="1400"/>
          </a:p>
        </p:txBody>
      </p:sp>
      <p:sp>
        <p:nvSpPr>
          <p:cNvPr id="36" name="Shape 25"/>
          <p:cNvSpPr/>
          <p:nvPr/>
        </p:nvSpPr>
        <p:spPr>
          <a:xfrm>
            <a:off x="0" y="4914900"/>
            <a:ext cx="9144000" cy="228600"/>
          </a:xfrm>
          <a:prstGeom prst="rect">
            <a:avLst/>
          </a:prstGeom>
          <a:solidFill>
            <a:srgbClr val="1A1A1A"/>
          </a:solidFill>
          <a:ln/>
        </p:spPr>
        <p:txBody>
          <a:bodyPr/>
          <a:lstStyle/>
          <a:p>
            <a:endParaRPr lang="en-CH"/>
          </a:p>
        </p:txBody>
      </p:sp>
      <p:sp>
        <p:nvSpPr>
          <p:cNvPr id="37" name="Text 26"/>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097280"/>
            <a:ext cx="1828800" cy="914400"/>
          </a:xfrm>
          <a:prstGeom prst="rect">
            <a:avLst/>
          </a:prstGeom>
          <a:noFill/>
          <a:ln/>
        </p:spPr>
        <p:txBody>
          <a:bodyPr wrap="square" lIns="0" tIns="0" rIns="0" bIns="0" rtlCol="0" anchor="ctr"/>
          <a:lstStyle/>
          <a:p>
            <a:pPr marL="0" indent="0" algn="l">
              <a:buNone/>
            </a:pPr>
            <a:r>
              <a:rPr lang="en-US" sz="6000">
                <a:solidFill>
                  <a:srgbClr val="4D9DE5"/>
                </a:solidFill>
                <a:latin typeface="Source Sans Pro" pitchFamily="34" charset="0"/>
                <a:ea typeface="Source Sans Pro" pitchFamily="34" charset="-122"/>
                <a:cs typeface="Source Sans Pro" pitchFamily="34" charset="-120"/>
              </a:rPr>
              <a:t>04</a:t>
            </a:r>
            <a:endParaRPr lang="en-US" sz="6000"/>
          </a:p>
        </p:txBody>
      </p:sp>
      <p:sp>
        <p:nvSpPr>
          <p:cNvPr id="4" name="Text 2"/>
          <p:cNvSpPr/>
          <p:nvPr/>
        </p:nvSpPr>
        <p:spPr>
          <a:xfrm>
            <a:off x="731520" y="2011680"/>
            <a:ext cx="7315200" cy="731520"/>
          </a:xfrm>
          <a:prstGeom prst="rect">
            <a:avLst/>
          </a:prstGeom>
          <a:noFill/>
          <a:ln/>
        </p:spPr>
        <p:txBody>
          <a:bodyPr wrap="square" lIns="0" tIns="0" rIns="0" bIns="0" rtlCol="0" anchor="ctr"/>
          <a:lstStyle/>
          <a:p>
            <a:pPr marL="0" indent="0" algn="l">
              <a:buNone/>
            </a:pPr>
            <a:r>
              <a:rPr lang="en-US" sz="3800" b="1">
                <a:solidFill>
                  <a:srgbClr val="FFFFFF"/>
                </a:solidFill>
                <a:latin typeface="Source Sans Pro" pitchFamily="34" charset="0"/>
                <a:ea typeface="Source Sans Pro" pitchFamily="34" charset="-122"/>
                <a:cs typeface="Source Sans Pro" pitchFamily="34" charset="-120"/>
              </a:rPr>
              <a:t>Operational Timeline </a:t>
            </a:r>
            <a:endParaRPr lang="en-US" sz="3800"/>
          </a:p>
        </p:txBody>
      </p:sp>
      <p:sp>
        <p:nvSpPr>
          <p:cNvPr id="5" name="Text 3"/>
          <p:cNvSpPr/>
          <p:nvPr/>
        </p:nvSpPr>
        <p:spPr>
          <a:xfrm>
            <a:off x="731520" y="2834640"/>
            <a:ext cx="7315200" cy="457200"/>
          </a:xfrm>
          <a:prstGeom prst="rect">
            <a:avLst/>
          </a:prstGeom>
          <a:noFill/>
          <a:ln/>
        </p:spPr>
        <p:txBody>
          <a:bodyPr wrap="square" lIns="0" tIns="0" rIns="0" bIns="0" rtlCol="0" anchor="ctr"/>
          <a:lstStyle/>
          <a:p>
            <a:pPr marL="0" indent="0" algn="l">
              <a:buNone/>
            </a:pPr>
            <a:r>
              <a:rPr lang="en-US" sz="1600">
                <a:solidFill>
                  <a:srgbClr val="AAAAAA"/>
                </a:solidFill>
                <a:latin typeface="Source Sans Pro" pitchFamily="34" charset="0"/>
                <a:ea typeface="Source Sans Pro" pitchFamily="34" charset="-122"/>
                <a:cs typeface="Source Sans Pro" pitchFamily="34" charset="-120"/>
              </a:rPr>
              <a:t>Route to 2045</a:t>
            </a:r>
            <a:endParaRPr lang="en-US" sz="1600"/>
          </a:p>
        </p:txBody>
      </p:sp>
      <p:sp>
        <p:nvSpPr>
          <p:cNvPr id="6" name="Shape 4"/>
          <p:cNvSpPr/>
          <p:nvPr/>
        </p:nvSpPr>
        <p:spPr>
          <a:xfrm>
            <a:off x="731520" y="3474720"/>
            <a:ext cx="1828800" cy="27432"/>
          </a:xfrm>
          <a:prstGeom prst="rect">
            <a:avLst/>
          </a:prstGeom>
          <a:solidFill>
            <a:srgbClr val="D4A017"/>
          </a:solidFill>
          <a:ln/>
        </p:spPr>
        <p:txBody>
          <a:bodyPr/>
          <a:lstStyle/>
          <a:p>
            <a:endParaRPr lang="en-CH"/>
          </a:p>
        </p:txBody>
      </p:sp>
      <p:sp>
        <p:nvSpPr>
          <p:cNvPr id="7" name="Shape 5"/>
          <p:cNvSpPr/>
          <p:nvPr/>
        </p:nvSpPr>
        <p:spPr>
          <a:xfrm>
            <a:off x="0" y="4914900"/>
            <a:ext cx="9144000" cy="228600"/>
          </a:xfrm>
          <a:prstGeom prst="rect">
            <a:avLst/>
          </a:prstGeom>
          <a:solidFill>
            <a:srgbClr val="1A1A1A"/>
          </a:solidFill>
          <a:ln/>
        </p:spPr>
        <p:txBody>
          <a:bodyPr/>
          <a:lstStyle/>
          <a:p>
            <a:endParaRPr lang="en-CH"/>
          </a:p>
        </p:txBody>
      </p:sp>
      <p:sp>
        <p:nvSpPr>
          <p:cNvPr id="8" name="Text 6"/>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a:solidFill>
                  <a:srgbClr val="FFFFFF"/>
                </a:solidFill>
                <a:latin typeface="Source Sans Pro" pitchFamily="34" charset="0"/>
                <a:ea typeface="Source Sans Pro" pitchFamily="34" charset="-122"/>
                <a:cs typeface="Source Sans Pro" pitchFamily="34" charset="-120"/>
              </a:rPr>
              <a:t>Technology Readiness Level Timeline</a:t>
            </a:r>
            <a:endParaRPr lang="en-US" sz="2800"/>
          </a:p>
        </p:txBody>
      </p:sp>
      <p:sp>
        <p:nvSpPr>
          <p:cNvPr id="4" name="Shape 2"/>
          <p:cNvSpPr/>
          <p:nvPr/>
        </p:nvSpPr>
        <p:spPr>
          <a:xfrm>
            <a:off x="457200" y="1051560"/>
            <a:ext cx="8229600" cy="36576"/>
          </a:xfrm>
          <a:prstGeom prst="rect">
            <a:avLst/>
          </a:prstGeom>
          <a:solidFill>
            <a:srgbClr val="333333"/>
          </a:solidFill>
          <a:ln/>
        </p:spPr>
        <p:txBody>
          <a:bodyPr/>
          <a:lstStyle/>
          <a:p>
            <a:endParaRPr lang="en-CH"/>
          </a:p>
        </p:txBody>
      </p:sp>
      <p:sp>
        <p:nvSpPr>
          <p:cNvPr id="5" name="Shape 3"/>
          <p:cNvSpPr/>
          <p:nvPr/>
        </p:nvSpPr>
        <p:spPr>
          <a:xfrm>
            <a:off x="457200" y="1005840"/>
            <a:ext cx="1938528" cy="128016"/>
          </a:xfrm>
          <a:prstGeom prst="rect">
            <a:avLst/>
          </a:prstGeom>
          <a:solidFill>
            <a:srgbClr val="D4A017"/>
          </a:solidFill>
          <a:ln/>
        </p:spPr>
        <p:txBody>
          <a:bodyPr/>
          <a:lstStyle/>
          <a:p>
            <a:endParaRPr lang="en-CH"/>
          </a:p>
        </p:txBody>
      </p:sp>
      <p:sp>
        <p:nvSpPr>
          <p:cNvPr id="6" name="Shape 4"/>
          <p:cNvSpPr/>
          <p:nvPr/>
        </p:nvSpPr>
        <p:spPr>
          <a:xfrm>
            <a:off x="457200" y="1325880"/>
            <a:ext cx="1938528" cy="30175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7" name="Shape 5"/>
          <p:cNvSpPr/>
          <p:nvPr/>
        </p:nvSpPr>
        <p:spPr>
          <a:xfrm>
            <a:off x="457200" y="1325880"/>
            <a:ext cx="1938528" cy="45720"/>
          </a:xfrm>
          <a:prstGeom prst="rect">
            <a:avLst/>
          </a:prstGeom>
          <a:solidFill>
            <a:srgbClr val="D4A017"/>
          </a:solidFill>
          <a:ln/>
        </p:spPr>
        <p:txBody>
          <a:bodyPr/>
          <a:lstStyle/>
          <a:p>
            <a:endParaRPr lang="en-CH"/>
          </a:p>
        </p:txBody>
      </p:sp>
      <p:sp>
        <p:nvSpPr>
          <p:cNvPr id="8" name="Text 6"/>
          <p:cNvSpPr/>
          <p:nvPr/>
        </p:nvSpPr>
        <p:spPr>
          <a:xfrm>
            <a:off x="548640" y="1463040"/>
            <a:ext cx="1755648" cy="320040"/>
          </a:xfrm>
          <a:prstGeom prst="rect">
            <a:avLst/>
          </a:prstGeom>
          <a:noFill/>
          <a:ln/>
        </p:spPr>
        <p:txBody>
          <a:bodyPr wrap="square" lIns="0" tIns="0" rIns="0" bIns="0" rtlCol="0" anchor="ctr"/>
          <a:lstStyle/>
          <a:p>
            <a:pPr marL="0" indent="0">
              <a:buNone/>
            </a:pPr>
            <a:r>
              <a:rPr lang="en-US" sz="1300">
                <a:solidFill>
                  <a:srgbClr val="D4A017"/>
                </a:solidFill>
                <a:latin typeface="Source Sans Pro" pitchFamily="34" charset="0"/>
                <a:ea typeface="Source Sans Pro" pitchFamily="34" charset="-122"/>
                <a:cs typeface="Source Sans Pro" pitchFamily="34" charset="-120"/>
              </a:rPr>
              <a:t>2025–2030</a:t>
            </a:r>
            <a:endParaRPr lang="en-US" sz="1300"/>
          </a:p>
        </p:txBody>
      </p:sp>
      <p:sp>
        <p:nvSpPr>
          <p:cNvPr id="9" name="Text 7"/>
          <p:cNvSpPr/>
          <p:nvPr/>
        </p:nvSpPr>
        <p:spPr>
          <a:xfrm>
            <a:off x="548640" y="1783080"/>
            <a:ext cx="1755648" cy="320040"/>
          </a:xfrm>
          <a:prstGeom prst="rect">
            <a:avLst/>
          </a:prstGeom>
          <a:noFill/>
          <a:ln/>
        </p:spPr>
        <p:txBody>
          <a:bodyPr wrap="square" lIns="0" tIns="0" rIns="0" bIns="0" rtlCol="0" anchor="ctr"/>
          <a:lstStyle/>
          <a:p>
            <a:pPr marL="0" indent="0">
              <a:buNone/>
            </a:pPr>
            <a:r>
              <a:rPr lang="en-US" sz="1800">
                <a:solidFill>
                  <a:srgbClr val="FFFFFF"/>
                </a:solidFill>
                <a:latin typeface="Source Sans Pro" pitchFamily="34" charset="0"/>
                <a:ea typeface="Source Sans Pro" pitchFamily="34" charset="-122"/>
                <a:cs typeface="Source Sans Pro" pitchFamily="34" charset="-120"/>
              </a:rPr>
              <a:t>TRL 1–3</a:t>
            </a:r>
            <a:endParaRPr lang="en-US" sz="1800"/>
          </a:p>
        </p:txBody>
      </p:sp>
      <p:sp>
        <p:nvSpPr>
          <p:cNvPr id="10" name="Text 8"/>
          <p:cNvSpPr/>
          <p:nvPr/>
        </p:nvSpPr>
        <p:spPr>
          <a:xfrm>
            <a:off x="548640" y="2148840"/>
            <a:ext cx="1755648" cy="365760"/>
          </a:xfrm>
          <a:prstGeom prst="rect">
            <a:avLst/>
          </a:prstGeom>
          <a:noFill/>
          <a:ln/>
        </p:spPr>
        <p:txBody>
          <a:bodyPr wrap="square" lIns="0" tIns="0" rIns="0" bIns="0" rtlCol="0" anchor="ctr"/>
          <a:lstStyle/>
          <a:p>
            <a:pPr marL="0" indent="0">
              <a:buNone/>
            </a:pPr>
            <a:r>
              <a:rPr lang="en-US" sz="1200" b="1">
                <a:solidFill>
                  <a:srgbClr val="AAAAAA"/>
                </a:solidFill>
                <a:latin typeface="Source Sans Pro" pitchFamily="34" charset="0"/>
                <a:ea typeface="Source Sans Pro" pitchFamily="34" charset="-122"/>
                <a:cs typeface="Source Sans Pro" pitchFamily="34" charset="-120"/>
              </a:rPr>
              <a:t>Research &amp; Concept</a:t>
            </a:r>
            <a:endParaRPr lang="en-US" sz="1200"/>
          </a:p>
        </p:txBody>
      </p:sp>
      <p:sp>
        <p:nvSpPr>
          <p:cNvPr id="11" name="Text 9"/>
          <p:cNvSpPr/>
          <p:nvPr/>
        </p:nvSpPr>
        <p:spPr>
          <a:xfrm>
            <a:off x="548640" y="2560320"/>
            <a:ext cx="1755648" cy="1371600"/>
          </a:xfrm>
          <a:prstGeom prst="rect">
            <a:avLst/>
          </a:prstGeom>
          <a:noFill/>
          <a:ln/>
        </p:spPr>
        <p:txBody>
          <a:bodyPr wrap="square" lIns="0" tIns="0" rIns="0" bIns="0" rtlCol="0" anchor="ctr"/>
          <a:lstStyle/>
          <a:p>
            <a:pPr marL="0" indent="0">
              <a:buNone/>
            </a:pPr>
            <a:r>
              <a:rPr lang="en-US" sz="1100">
                <a:solidFill>
                  <a:srgbClr val="666666"/>
                </a:solidFill>
                <a:latin typeface="Source Sans Pro" pitchFamily="34" charset="0"/>
                <a:ea typeface="Source Sans Pro" pitchFamily="34" charset="-122"/>
                <a:cs typeface="Source Sans Pro" pitchFamily="34" charset="-120"/>
              </a:rPr>
              <a:t>Basic research, concept formulation, proof-of-concept simulations</a:t>
            </a:r>
            <a:endParaRPr lang="en-US" sz="1100"/>
          </a:p>
        </p:txBody>
      </p:sp>
      <p:sp>
        <p:nvSpPr>
          <p:cNvPr id="12" name="Shape 10"/>
          <p:cNvSpPr/>
          <p:nvPr/>
        </p:nvSpPr>
        <p:spPr>
          <a:xfrm>
            <a:off x="2578608" y="1005840"/>
            <a:ext cx="1938528" cy="128016"/>
          </a:xfrm>
          <a:prstGeom prst="rect">
            <a:avLst/>
          </a:prstGeom>
          <a:solidFill>
            <a:srgbClr val="FFB300"/>
          </a:solidFill>
          <a:ln/>
        </p:spPr>
        <p:txBody>
          <a:bodyPr/>
          <a:lstStyle/>
          <a:p>
            <a:endParaRPr lang="en-CH"/>
          </a:p>
        </p:txBody>
      </p:sp>
      <p:sp>
        <p:nvSpPr>
          <p:cNvPr id="13" name="Shape 11"/>
          <p:cNvSpPr/>
          <p:nvPr/>
        </p:nvSpPr>
        <p:spPr>
          <a:xfrm>
            <a:off x="2578608" y="1325880"/>
            <a:ext cx="1938528" cy="30175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4" name="Shape 12"/>
          <p:cNvSpPr/>
          <p:nvPr/>
        </p:nvSpPr>
        <p:spPr>
          <a:xfrm>
            <a:off x="2578608" y="1325880"/>
            <a:ext cx="1938528" cy="45720"/>
          </a:xfrm>
          <a:prstGeom prst="rect">
            <a:avLst/>
          </a:prstGeom>
          <a:solidFill>
            <a:srgbClr val="FFB300"/>
          </a:solidFill>
          <a:ln/>
        </p:spPr>
        <p:txBody>
          <a:bodyPr/>
          <a:lstStyle/>
          <a:p>
            <a:endParaRPr lang="en-CH"/>
          </a:p>
        </p:txBody>
      </p:sp>
      <p:sp>
        <p:nvSpPr>
          <p:cNvPr id="15" name="Text 13"/>
          <p:cNvSpPr/>
          <p:nvPr/>
        </p:nvSpPr>
        <p:spPr>
          <a:xfrm>
            <a:off x="2670048" y="1463040"/>
            <a:ext cx="1755648" cy="320040"/>
          </a:xfrm>
          <a:prstGeom prst="rect">
            <a:avLst/>
          </a:prstGeom>
          <a:noFill/>
          <a:ln/>
        </p:spPr>
        <p:txBody>
          <a:bodyPr wrap="square" lIns="0" tIns="0" rIns="0" bIns="0" rtlCol="0" anchor="ctr"/>
          <a:lstStyle/>
          <a:p>
            <a:pPr marL="0" indent="0">
              <a:buNone/>
            </a:pPr>
            <a:r>
              <a:rPr lang="en-US" sz="1300">
                <a:solidFill>
                  <a:srgbClr val="FFB300"/>
                </a:solidFill>
                <a:latin typeface="Source Sans Pro" pitchFamily="34" charset="0"/>
                <a:ea typeface="Source Sans Pro" pitchFamily="34" charset="-122"/>
                <a:cs typeface="Source Sans Pro" pitchFamily="34" charset="-120"/>
              </a:rPr>
              <a:t>2030–2035</a:t>
            </a:r>
            <a:endParaRPr lang="en-US" sz="1300"/>
          </a:p>
        </p:txBody>
      </p:sp>
      <p:sp>
        <p:nvSpPr>
          <p:cNvPr id="16" name="Text 14"/>
          <p:cNvSpPr/>
          <p:nvPr/>
        </p:nvSpPr>
        <p:spPr>
          <a:xfrm>
            <a:off x="2670048" y="1783080"/>
            <a:ext cx="1755648" cy="320040"/>
          </a:xfrm>
          <a:prstGeom prst="rect">
            <a:avLst/>
          </a:prstGeom>
          <a:noFill/>
          <a:ln/>
        </p:spPr>
        <p:txBody>
          <a:bodyPr wrap="square" lIns="0" tIns="0" rIns="0" bIns="0" rtlCol="0" anchor="ctr"/>
          <a:lstStyle/>
          <a:p>
            <a:pPr marL="0" indent="0">
              <a:buNone/>
            </a:pPr>
            <a:r>
              <a:rPr lang="en-US" sz="1800">
                <a:solidFill>
                  <a:srgbClr val="FFFFFF"/>
                </a:solidFill>
                <a:latin typeface="Source Sans Pro" pitchFamily="34" charset="0"/>
                <a:ea typeface="Source Sans Pro" pitchFamily="34" charset="-122"/>
                <a:cs typeface="Source Sans Pro" pitchFamily="34" charset="-120"/>
              </a:rPr>
              <a:t>TRL 4–5</a:t>
            </a:r>
            <a:endParaRPr lang="en-US" sz="1800"/>
          </a:p>
        </p:txBody>
      </p:sp>
      <p:sp>
        <p:nvSpPr>
          <p:cNvPr id="17" name="Text 15"/>
          <p:cNvSpPr/>
          <p:nvPr/>
        </p:nvSpPr>
        <p:spPr>
          <a:xfrm>
            <a:off x="2670048" y="2148840"/>
            <a:ext cx="1755648" cy="365760"/>
          </a:xfrm>
          <a:prstGeom prst="rect">
            <a:avLst/>
          </a:prstGeom>
          <a:noFill/>
          <a:ln/>
        </p:spPr>
        <p:txBody>
          <a:bodyPr wrap="square" lIns="0" tIns="0" rIns="0" bIns="0" rtlCol="0" anchor="ctr"/>
          <a:lstStyle/>
          <a:p>
            <a:pPr marL="0" indent="0">
              <a:buNone/>
            </a:pPr>
            <a:r>
              <a:rPr lang="en-US" sz="1200" b="1">
                <a:solidFill>
                  <a:srgbClr val="AAAAAA"/>
                </a:solidFill>
                <a:latin typeface="Source Sans Pro" pitchFamily="34" charset="0"/>
                <a:ea typeface="Source Sans Pro" pitchFamily="34" charset="-122"/>
                <a:cs typeface="Source Sans Pro" pitchFamily="34" charset="-120"/>
              </a:rPr>
              <a:t>Component Development</a:t>
            </a:r>
            <a:endParaRPr lang="en-US" sz="1200"/>
          </a:p>
        </p:txBody>
      </p:sp>
      <p:sp>
        <p:nvSpPr>
          <p:cNvPr id="18" name="Text 16"/>
          <p:cNvSpPr/>
          <p:nvPr/>
        </p:nvSpPr>
        <p:spPr>
          <a:xfrm>
            <a:off x="2670048" y="2560320"/>
            <a:ext cx="1755648" cy="1371600"/>
          </a:xfrm>
          <a:prstGeom prst="rect">
            <a:avLst/>
          </a:prstGeom>
          <a:noFill/>
          <a:ln/>
        </p:spPr>
        <p:txBody>
          <a:bodyPr wrap="square" lIns="0" tIns="0" rIns="0" bIns="0" rtlCol="0" anchor="ctr"/>
          <a:lstStyle/>
          <a:p>
            <a:pPr marL="0" indent="0">
              <a:buNone/>
            </a:pPr>
            <a:r>
              <a:rPr lang="en-US" sz="1100">
                <a:solidFill>
                  <a:srgbClr val="666666"/>
                </a:solidFill>
                <a:latin typeface="Source Sans Pro" pitchFamily="34" charset="0"/>
                <a:ea typeface="Source Sans Pro" pitchFamily="34" charset="-122"/>
                <a:cs typeface="Source Sans Pro" pitchFamily="34" charset="-120"/>
              </a:rPr>
              <a:t>Component validation in lab and relevant environment testing</a:t>
            </a:r>
            <a:endParaRPr lang="en-US" sz="1100"/>
          </a:p>
        </p:txBody>
      </p:sp>
      <p:sp>
        <p:nvSpPr>
          <p:cNvPr id="19" name="Shape 17"/>
          <p:cNvSpPr/>
          <p:nvPr/>
        </p:nvSpPr>
        <p:spPr>
          <a:xfrm>
            <a:off x="4700016" y="1005840"/>
            <a:ext cx="1938528" cy="128016"/>
          </a:xfrm>
          <a:prstGeom prst="rect">
            <a:avLst/>
          </a:prstGeom>
          <a:solidFill>
            <a:srgbClr val="4D9DE5"/>
          </a:solidFill>
          <a:ln/>
        </p:spPr>
        <p:txBody>
          <a:bodyPr/>
          <a:lstStyle/>
          <a:p>
            <a:endParaRPr lang="en-CH"/>
          </a:p>
        </p:txBody>
      </p:sp>
      <p:sp>
        <p:nvSpPr>
          <p:cNvPr id="20" name="Shape 18"/>
          <p:cNvSpPr/>
          <p:nvPr/>
        </p:nvSpPr>
        <p:spPr>
          <a:xfrm>
            <a:off x="4700016" y="1325880"/>
            <a:ext cx="1938528" cy="30175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1" name="Shape 19"/>
          <p:cNvSpPr/>
          <p:nvPr/>
        </p:nvSpPr>
        <p:spPr>
          <a:xfrm>
            <a:off x="4700016" y="1325880"/>
            <a:ext cx="1938528" cy="45720"/>
          </a:xfrm>
          <a:prstGeom prst="rect">
            <a:avLst/>
          </a:prstGeom>
          <a:solidFill>
            <a:srgbClr val="4D9DE5"/>
          </a:solidFill>
          <a:ln/>
        </p:spPr>
        <p:txBody>
          <a:bodyPr/>
          <a:lstStyle/>
          <a:p>
            <a:endParaRPr lang="en-CH"/>
          </a:p>
        </p:txBody>
      </p:sp>
      <p:sp>
        <p:nvSpPr>
          <p:cNvPr id="22" name="Text 20"/>
          <p:cNvSpPr/>
          <p:nvPr/>
        </p:nvSpPr>
        <p:spPr>
          <a:xfrm>
            <a:off x="4791456" y="1463040"/>
            <a:ext cx="1755648" cy="320040"/>
          </a:xfrm>
          <a:prstGeom prst="rect">
            <a:avLst/>
          </a:prstGeom>
          <a:noFill/>
          <a:ln/>
        </p:spPr>
        <p:txBody>
          <a:bodyPr wrap="square" lIns="0" tIns="0" rIns="0" bIns="0" rtlCol="0" anchor="ctr"/>
          <a:lstStyle/>
          <a:p>
            <a:pPr marL="0" indent="0">
              <a:buNone/>
            </a:pPr>
            <a:r>
              <a:rPr lang="en-US" sz="1300">
                <a:solidFill>
                  <a:srgbClr val="4D9DE5"/>
                </a:solidFill>
                <a:latin typeface="Source Sans Pro" pitchFamily="34" charset="0"/>
                <a:ea typeface="Source Sans Pro" pitchFamily="34" charset="-122"/>
                <a:cs typeface="Source Sans Pro" pitchFamily="34" charset="-120"/>
              </a:rPr>
              <a:t>2035–2040</a:t>
            </a:r>
            <a:endParaRPr lang="en-US" sz="1300"/>
          </a:p>
        </p:txBody>
      </p:sp>
      <p:sp>
        <p:nvSpPr>
          <p:cNvPr id="23" name="Text 21"/>
          <p:cNvSpPr/>
          <p:nvPr/>
        </p:nvSpPr>
        <p:spPr>
          <a:xfrm>
            <a:off x="4791456" y="1783080"/>
            <a:ext cx="1755648" cy="320040"/>
          </a:xfrm>
          <a:prstGeom prst="rect">
            <a:avLst/>
          </a:prstGeom>
          <a:noFill/>
          <a:ln/>
        </p:spPr>
        <p:txBody>
          <a:bodyPr wrap="square" lIns="0" tIns="0" rIns="0" bIns="0" rtlCol="0" anchor="ctr"/>
          <a:lstStyle/>
          <a:p>
            <a:pPr marL="0" indent="0">
              <a:buNone/>
            </a:pPr>
            <a:r>
              <a:rPr lang="en-US" sz="1800">
                <a:solidFill>
                  <a:srgbClr val="FFFFFF"/>
                </a:solidFill>
                <a:latin typeface="Source Sans Pro" pitchFamily="34" charset="0"/>
                <a:ea typeface="Source Sans Pro" pitchFamily="34" charset="-122"/>
                <a:cs typeface="Source Sans Pro" pitchFamily="34" charset="-120"/>
              </a:rPr>
              <a:t>TRL 6–7</a:t>
            </a:r>
            <a:endParaRPr lang="en-US" sz="1800"/>
          </a:p>
        </p:txBody>
      </p:sp>
      <p:sp>
        <p:nvSpPr>
          <p:cNvPr id="24" name="Text 22"/>
          <p:cNvSpPr/>
          <p:nvPr/>
        </p:nvSpPr>
        <p:spPr>
          <a:xfrm>
            <a:off x="4791456" y="2148840"/>
            <a:ext cx="1755648" cy="365760"/>
          </a:xfrm>
          <a:prstGeom prst="rect">
            <a:avLst/>
          </a:prstGeom>
          <a:noFill/>
          <a:ln/>
        </p:spPr>
        <p:txBody>
          <a:bodyPr wrap="square" lIns="0" tIns="0" rIns="0" bIns="0" rtlCol="0" anchor="ctr"/>
          <a:lstStyle/>
          <a:p>
            <a:pPr marL="0" indent="0">
              <a:buNone/>
            </a:pPr>
            <a:r>
              <a:rPr lang="en-US" sz="1200" b="1">
                <a:solidFill>
                  <a:srgbClr val="AAAAAA"/>
                </a:solidFill>
                <a:latin typeface="Source Sans Pro" pitchFamily="34" charset="0"/>
                <a:ea typeface="Source Sans Pro" pitchFamily="34" charset="-122"/>
                <a:cs typeface="Source Sans Pro" pitchFamily="34" charset="-120"/>
              </a:rPr>
              <a:t>Prototype &amp; Demo</a:t>
            </a:r>
            <a:endParaRPr lang="en-US" sz="1200"/>
          </a:p>
        </p:txBody>
      </p:sp>
      <p:sp>
        <p:nvSpPr>
          <p:cNvPr id="25" name="Text 23"/>
          <p:cNvSpPr/>
          <p:nvPr/>
        </p:nvSpPr>
        <p:spPr>
          <a:xfrm>
            <a:off x="4791456" y="2560320"/>
            <a:ext cx="1755648" cy="1371600"/>
          </a:xfrm>
          <a:prstGeom prst="rect">
            <a:avLst/>
          </a:prstGeom>
          <a:noFill/>
          <a:ln/>
        </p:spPr>
        <p:txBody>
          <a:bodyPr wrap="square" lIns="0" tIns="0" rIns="0" bIns="0" rtlCol="0" anchor="ctr"/>
          <a:lstStyle/>
          <a:p>
            <a:pPr marL="0" indent="0">
              <a:buNone/>
            </a:pPr>
            <a:r>
              <a:rPr lang="en-US" sz="1100">
                <a:solidFill>
                  <a:srgbClr val="666666"/>
                </a:solidFill>
                <a:latin typeface="Source Sans Pro" pitchFamily="34" charset="0"/>
                <a:ea typeface="Source Sans Pro" pitchFamily="34" charset="-122"/>
                <a:cs typeface="Source Sans Pro" pitchFamily="34" charset="-120"/>
              </a:rPr>
              <a:t>System prototype demo in relevant environment, pathfinder mission</a:t>
            </a:r>
            <a:endParaRPr lang="en-US" sz="1100"/>
          </a:p>
        </p:txBody>
      </p:sp>
      <p:sp>
        <p:nvSpPr>
          <p:cNvPr id="26" name="Shape 24"/>
          <p:cNvSpPr/>
          <p:nvPr/>
        </p:nvSpPr>
        <p:spPr>
          <a:xfrm>
            <a:off x="6821424" y="1005840"/>
            <a:ext cx="1938528" cy="128016"/>
          </a:xfrm>
          <a:prstGeom prst="rect">
            <a:avLst/>
          </a:prstGeom>
          <a:solidFill>
            <a:srgbClr val="4CAF50"/>
          </a:solidFill>
          <a:ln/>
        </p:spPr>
        <p:txBody>
          <a:bodyPr/>
          <a:lstStyle/>
          <a:p>
            <a:endParaRPr lang="en-CH"/>
          </a:p>
        </p:txBody>
      </p:sp>
      <p:sp>
        <p:nvSpPr>
          <p:cNvPr id="27" name="Shape 25"/>
          <p:cNvSpPr/>
          <p:nvPr/>
        </p:nvSpPr>
        <p:spPr>
          <a:xfrm>
            <a:off x="6821424" y="1325880"/>
            <a:ext cx="1938528" cy="30175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28" name="Shape 26"/>
          <p:cNvSpPr/>
          <p:nvPr/>
        </p:nvSpPr>
        <p:spPr>
          <a:xfrm>
            <a:off x="6821424" y="1325880"/>
            <a:ext cx="1938528" cy="45720"/>
          </a:xfrm>
          <a:prstGeom prst="rect">
            <a:avLst/>
          </a:prstGeom>
          <a:solidFill>
            <a:srgbClr val="4CAF50"/>
          </a:solidFill>
          <a:ln/>
        </p:spPr>
        <p:txBody>
          <a:bodyPr/>
          <a:lstStyle/>
          <a:p>
            <a:endParaRPr lang="en-CH"/>
          </a:p>
        </p:txBody>
      </p:sp>
      <p:sp>
        <p:nvSpPr>
          <p:cNvPr id="29" name="Text 27"/>
          <p:cNvSpPr/>
          <p:nvPr/>
        </p:nvSpPr>
        <p:spPr>
          <a:xfrm>
            <a:off x="6912864" y="1463040"/>
            <a:ext cx="1755648" cy="320040"/>
          </a:xfrm>
          <a:prstGeom prst="rect">
            <a:avLst/>
          </a:prstGeom>
          <a:noFill/>
          <a:ln/>
        </p:spPr>
        <p:txBody>
          <a:bodyPr wrap="square" lIns="0" tIns="0" rIns="0" bIns="0" rtlCol="0" anchor="ctr"/>
          <a:lstStyle/>
          <a:p>
            <a:pPr marL="0" indent="0">
              <a:buNone/>
            </a:pPr>
            <a:r>
              <a:rPr lang="en-US" sz="1300">
                <a:solidFill>
                  <a:srgbClr val="4CAF50"/>
                </a:solidFill>
                <a:latin typeface="Source Sans Pro" pitchFamily="34" charset="0"/>
                <a:ea typeface="Source Sans Pro" pitchFamily="34" charset="-122"/>
                <a:cs typeface="Source Sans Pro" pitchFamily="34" charset="-120"/>
              </a:rPr>
              <a:t>2040–2045</a:t>
            </a:r>
            <a:endParaRPr lang="en-US" sz="1300"/>
          </a:p>
        </p:txBody>
      </p:sp>
      <p:sp>
        <p:nvSpPr>
          <p:cNvPr id="30" name="Text 28"/>
          <p:cNvSpPr/>
          <p:nvPr/>
        </p:nvSpPr>
        <p:spPr>
          <a:xfrm>
            <a:off x="6912864" y="1783080"/>
            <a:ext cx="1755648" cy="320040"/>
          </a:xfrm>
          <a:prstGeom prst="rect">
            <a:avLst/>
          </a:prstGeom>
          <a:noFill/>
          <a:ln/>
        </p:spPr>
        <p:txBody>
          <a:bodyPr wrap="square" lIns="0" tIns="0" rIns="0" bIns="0" rtlCol="0" anchor="ctr"/>
          <a:lstStyle/>
          <a:p>
            <a:pPr marL="0" indent="0">
              <a:buNone/>
            </a:pPr>
            <a:r>
              <a:rPr lang="en-US" sz="1800">
                <a:solidFill>
                  <a:srgbClr val="FFFFFF"/>
                </a:solidFill>
                <a:latin typeface="Source Sans Pro" pitchFamily="34" charset="0"/>
                <a:ea typeface="Source Sans Pro" pitchFamily="34" charset="-122"/>
                <a:cs typeface="Source Sans Pro" pitchFamily="34" charset="-120"/>
              </a:rPr>
              <a:t>TRL 8–9</a:t>
            </a:r>
            <a:endParaRPr lang="en-US" sz="1800"/>
          </a:p>
        </p:txBody>
      </p:sp>
      <p:sp>
        <p:nvSpPr>
          <p:cNvPr id="31" name="Text 29"/>
          <p:cNvSpPr/>
          <p:nvPr/>
        </p:nvSpPr>
        <p:spPr>
          <a:xfrm>
            <a:off x="6912864" y="2148840"/>
            <a:ext cx="1755648" cy="365760"/>
          </a:xfrm>
          <a:prstGeom prst="rect">
            <a:avLst/>
          </a:prstGeom>
          <a:noFill/>
          <a:ln/>
        </p:spPr>
        <p:txBody>
          <a:bodyPr wrap="square" lIns="0" tIns="0" rIns="0" bIns="0" rtlCol="0" anchor="ctr"/>
          <a:lstStyle/>
          <a:p>
            <a:pPr marL="0" indent="0">
              <a:buNone/>
            </a:pPr>
            <a:r>
              <a:rPr lang="en-US" sz="1200" b="1">
                <a:solidFill>
                  <a:srgbClr val="AAAAAA"/>
                </a:solidFill>
                <a:latin typeface="Source Sans Pro" pitchFamily="34" charset="0"/>
                <a:ea typeface="Source Sans Pro" pitchFamily="34" charset="-122"/>
                <a:cs typeface="Source Sans Pro" pitchFamily="34" charset="-120"/>
              </a:rPr>
              <a:t>Qualification &amp; Launch</a:t>
            </a:r>
            <a:endParaRPr lang="en-US" sz="1200"/>
          </a:p>
        </p:txBody>
      </p:sp>
      <p:sp>
        <p:nvSpPr>
          <p:cNvPr id="32" name="Text 30"/>
          <p:cNvSpPr/>
          <p:nvPr/>
        </p:nvSpPr>
        <p:spPr>
          <a:xfrm>
            <a:off x="6912864" y="2560320"/>
            <a:ext cx="1755648" cy="1371600"/>
          </a:xfrm>
          <a:prstGeom prst="rect">
            <a:avLst/>
          </a:prstGeom>
          <a:noFill/>
          <a:ln/>
        </p:spPr>
        <p:txBody>
          <a:bodyPr wrap="square" lIns="0" tIns="0" rIns="0" bIns="0" rtlCol="0" anchor="ctr"/>
          <a:lstStyle/>
          <a:p>
            <a:pPr marL="0" indent="0">
              <a:buNone/>
            </a:pPr>
            <a:r>
              <a:rPr lang="en-US" sz="1100">
                <a:solidFill>
                  <a:srgbClr val="666666"/>
                </a:solidFill>
                <a:latin typeface="Source Sans Pro" pitchFamily="34" charset="0"/>
                <a:ea typeface="Source Sans Pro" pitchFamily="34" charset="-122"/>
                <a:cs typeface="Source Sans Pro" pitchFamily="34" charset="-120"/>
              </a:rPr>
              <a:t>Flight qualification, constellation deployment, full operational capability</a:t>
            </a:r>
            <a:endParaRPr lang="en-US" sz="1100"/>
          </a:p>
        </p:txBody>
      </p:sp>
      <p:sp>
        <p:nvSpPr>
          <p:cNvPr id="33" name="Text 31"/>
          <p:cNvSpPr/>
          <p:nvPr/>
        </p:nvSpPr>
        <p:spPr>
          <a:xfrm>
            <a:off x="457200" y="4572000"/>
            <a:ext cx="8229600" cy="274320"/>
          </a:xfrm>
          <a:prstGeom prst="rect">
            <a:avLst/>
          </a:prstGeom>
          <a:noFill/>
          <a:ln/>
        </p:spPr>
        <p:txBody>
          <a:bodyPr wrap="square" lIns="0" tIns="0" rIns="0" bIns="0" rtlCol="0" anchor="ctr"/>
          <a:lstStyle/>
          <a:p>
            <a:pPr marL="0" indent="0" algn="ctr">
              <a:buNone/>
            </a:pPr>
            <a:r>
              <a:rPr lang="en-US" sz="1100" i="1">
                <a:solidFill>
                  <a:srgbClr val="4D9DE5"/>
                </a:solidFill>
                <a:latin typeface="Source Sans Pro" pitchFamily="34" charset="0"/>
                <a:ea typeface="Source Sans Pro" pitchFamily="34" charset="-122"/>
                <a:cs typeface="Source Sans Pro" pitchFamily="34" charset="-120"/>
              </a:rPr>
              <a:t>Target: Ready for external investment by 2030, operational by 2045</a:t>
            </a:r>
            <a:endParaRPr lang="en-US" sz="1100"/>
          </a:p>
        </p:txBody>
      </p:sp>
      <p:sp>
        <p:nvSpPr>
          <p:cNvPr id="34" name="Shape 32"/>
          <p:cNvSpPr/>
          <p:nvPr/>
        </p:nvSpPr>
        <p:spPr>
          <a:xfrm>
            <a:off x="0" y="4914900"/>
            <a:ext cx="9144000" cy="228600"/>
          </a:xfrm>
          <a:prstGeom prst="rect">
            <a:avLst/>
          </a:prstGeom>
          <a:solidFill>
            <a:srgbClr val="1A1A1A"/>
          </a:solidFill>
          <a:ln/>
        </p:spPr>
        <p:txBody>
          <a:bodyPr/>
          <a:lstStyle/>
          <a:p>
            <a:endParaRPr lang="en-CH"/>
          </a:p>
        </p:txBody>
      </p:sp>
      <p:sp>
        <p:nvSpPr>
          <p:cNvPr id="35" name="Text 33"/>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632986" y="142941"/>
            <a:ext cx="7315200" cy="640080"/>
          </a:xfrm>
          <a:prstGeom prst="rect">
            <a:avLst/>
          </a:prstGeom>
          <a:noFill/>
          <a:ln/>
        </p:spPr>
        <p:txBody>
          <a:bodyPr wrap="square" lIns="0" tIns="0" rIns="0" bIns="0" rtlCol="0" anchor="ctr"/>
          <a:lstStyle/>
          <a:p>
            <a:pPr marL="0" indent="0">
              <a:buNone/>
            </a:pPr>
            <a:r>
              <a:rPr lang="en-US" sz="2800" b="1">
                <a:solidFill>
                  <a:srgbClr val="FFFFFF"/>
                </a:solidFill>
                <a:latin typeface="Source Sans Pro" pitchFamily="34" charset="0"/>
                <a:ea typeface="Source Sans Pro" pitchFamily="34" charset="-122"/>
                <a:cs typeface="Source Sans Pro" pitchFamily="34" charset="-120"/>
              </a:rPr>
              <a:t>Cost Breakdown &amp; Funding Strategy</a:t>
            </a:r>
            <a:endParaRPr lang="en-US" sz="2800"/>
          </a:p>
        </p:txBody>
      </p:sp>
      <p:graphicFrame>
        <p:nvGraphicFramePr>
          <p:cNvPr id="15" name="Table 0"/>
          <p:cNvGraphicFramePr>
            <a:graphicFrameLocks noGrp="1"/>
          </p:cNvGraphicFramePr>
          <p:nvPr>
            <p:extLst>
              <p:ext uri="{D42A27DB-BD31-4B8C-83A1-F6EECF244321}">
                <p14:modId xmlns:p14="http://schemas.microsoft.com/office/powerpoint/2010/main" val="2240997498"/>
              </p:ext>
            </p:extLst>
          </p:nvPr>
        </p:nvGraphicFramePr>
        <p:xfrm>
          <a:off x="450634" y="697230"/>
          <a:ext cx="4754875" cy="2316480"/>
        </p:xfrm>
        <a:graphic>
          <a:graphicData uri="http://schemas.openxmlformats.org/drawingml/2006/table">
            <a:tbl>
              <a:tblPr/>
              <a:tblGrid>
                <a:gridCol w="1596258">
                  <a:extLst>
                    <a:ext uri="{9D8B030D-6E8A-4147-A177-3AD203B41FA5}">
                      <a16:colId xmlns:a16="http://schemas.microsoft.com/office/drawing/2014/main" val="20000"/>
                    </a:ext>
                  </a:extLst>
                </a:gridCol>
                <a:gridCol w="1146937">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20040">
                <a:tc>
                  <a:txBody>
                    <a:bodyPr/>
                    <a:lstStyle/>
                    <a:p>
                      <a:pPr marL="0" indent="0">
                        <a:buNone/>
                      </a:pPr>
                      <a:r>
                        <a:rPr lang="en-US" sz="1100" b="1">
                          <a:solidFill>
                            <a:srgbClr val="0D0D0D"/>
                          </a:solidFill>
                          <a:latin typeface="Source Sans Pro" pitchFamily="34" charset="0"/>
                          <a:ea typeface="Source Sans Pro" pitchFamily="34" charset="-122"/>
                          <a:cs typeface="Source Sans Pro" pitchFamily="34" charset="-120"/>
                        </a:rPr>
                        <a:t>Cost Category</a:t>
                      </a:r>
                      <a:endParaRPr lang="en-US" sz="11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4D9DE5"/>
                    </a:solidFill>
                  </a:tcPr>
                </a:tc>
                <a:tc>
                  <a:txBody>
                    <a:bodyPr/>
                    <a:lstStyle/>
                    <a:p>
                      <a:pPr marL="0" indent="0">
                        <a:buNone/>
                      </a:pPr>
                      <a:r>
                        <a:rPr lang="en-US" sz="1100" b="1">
                          <a:solidFill>
                            <a:srgbClr val="0D0D0D"/>
                          </a:solidFill>
                          <a:latin typeface="Source Sans Pro" pitchFamily="34" charset="0"/>
                          <a:ea typeface="Source Sans Pro" pitchFamily="34" charset="-122"/>
                          <a:cs typeface="Source Sans Pro" pitchFamily="34" charset="-120"/>
                        </a:rPr>
                        <a:t>Est. Cost</a:t>
                      </a:r>
                      <a:endParaRPr lang="en-US" sz="11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4D9DE5"/>
                    </a:solidFill>
                  </a:tcPr>
                </a:tc>
                <a:tc>
                  <a:txBody>
                    <a:bodyPr/>
                    <a:lstStyle/>
                    <a:p>
                      <a:pPr marL="0" indent="0">
                        <a:buNone/>
                      </a:pPr>
                      <a:r>
                        <a:rPr lang="en-US" sz="1100" b="1">
                          <a:solidFill>
                            <a:srgbClr val="0D0D0D"/>
                          </a:solidFill>
                          <a:latin typeface="Source Sans Pro" pitchFamily="34" charset="0"/>
                          <a:ea typeface="Source Sans Pro" pitchFamily="34" charset="-122"/>
                          <a:cs typeface="Source Sans Pro" pitchFamily="34" charset="-120"/>
                        </a:rPr>
                        <a:t>Notes</a:t>
                      </a:r>
                      <a:endParaRPr lang="en-US" sz="11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4D9DE5"/>
                    </a:solidFill>
                  </a:tcPr>
                </a:tc>
                <a:extLst>
                  <a:ext uri="{0D108BD9-81ED-4DB2-BD59-A6C34878D82A}">
                    <a16:rowId xmlns:a16="http://schemas.microsoft.com/office/drawing/2014/main" val="10000"/>
                  </a:ext>
                </a:extLst>
              </a:tr>
              <a:tr h="320040">
                <a:tc>
                  <a:txBody>
                    <a:bodyPr/>
                    <a:lstStyle/>
                    <a:p>
                      <a:pPr marL="0" indent="0">
                        <a:buNone/>
                      </a:pPr>
                      <a:r>
                        <a:rPr lang="en-US" sz="1000">
                          <a:solidFill>
                            <a:srgbClr val="FFFFFF"/>
                          </a:solidFill>
                          <a:latin typeface="Source Sans Pro" pitchFamily="34" charset="0"/>
                          <a:ea typeface="Source Sans Pro" pitchFamily="34" charset="-122"/>
                          <a:cs typeface="Source Sans Pro" pitchFamily="34" charset="-120"/>
                        </a:rPr>
                        <a:t>Development (NRE)</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rgbClr val="AAAAAA"/>
                          </a:solidFill>
                          <a:latin typeface="Source Sans Pro" pitchFamily="34" charset="0"/>
                          <a:ea typeface="Source Sans Pro" pitchFamily="34" charset="-122"/>
                          <a:cs typeface="Source Sans Pro" pitchFamily="34" charset="-120"/>
                        </a:rPr>
                        <a:t>£18 M</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chemeClr val="bg1">
                              <a:lumMod val="75000"/>
                            </a:schemeClr>
                          </a:solidFill>
                          <a:latin typeface="Source Sans Pro"/>
                          <a:ea typeface="Source Sans Pro"/>
                          <a:cs typeface="Source Sans Pro" pitchFamily="34" charset="-120"/>
                        </a:rPr>
                        <a:t>Platform R&amp;D, Payload dev</a:t>
                      </a:r>
                      <a:endParaRPr lang="en-US" sz="1000">
                        <a:solidFill>
                          <a:schemeClr val="bg1">
                            <a:lumMod val="75000"/>
                          </a:schemeClr>
                        </a:solidFill>
                        <a:latin typeface="Source Sans Pro"/>
                        <a:ea typeface="Source Sans Pro"/>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320040">
                <a:tc>
                  <a:txBody>
                    <a:bodyPr/>
                    <a:lstStyle/>
                    <a:p>
                      <a:pPr marL="0" indent="0">
                        <a:buNone/>
                      </a:pPr>
                      <a:r>
                        <a:rPr lang="en-US" sz="1000">
                          <a:solidFill>
                            <a:srgbClr val="FFFFFF"/>
                          </a:solidFill>
                          <a:latin typeface="Source Sans Pro" pitchFamily="34" charset="0"/>
                          <a:ea typeface="Source Sans Pro" pitchFamily="34" charset="-122"/>
                          <a:cs typeface="Source Sans Pro" pitchFamily="34" charset="-120"/>
                        </a:rPr>
                        <a:t>Space Segment (RE)</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indent="0">
                        <a:buNone/>
                      </a:pPr>
                      <a:r>
                        <a:rPr lang="en-US" sz="1000">
                          <a:solidFill>
                            <a:srgbClr val="AAAAAA"/>
                          </a:solidFill>
                          <a:latin typeface="Source Sans Pro" pitchFamily="34" charset="0"/>
                          <a:ea typeface="Source Sans Pro" pitchFamily="34" charset="-122"/>
                          <a:cs typeface="Source Sans Pro" pitchFamily="34" charset="-120"/>
                        </a:rPr>
                        <a:t>£16 M</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indent="0">
                        <a:buNone/>
                      </a:pPr>
                      <a:r>
                        <a:rPr lang="en-US" sz="1000">
                          <a:solidFill>
                            <a:schemeClr val="bg1">
                              <a:lumMod val="75000"/>
                            </a:schemeClr>
                          </a:solidFill>
                          <a:latin typeface="Source Sans Pro" pitchFamily="34" charset="0"/>
                          <a:ea typeface="Source Sans Pro" pitchFamily="34" charset="-122"/>
                          <a:cs typeface="Source Sans Pro" pitchFamily="34" charset="-120"/>
                        </a:rPr>
                        <a:t>Satellite manufacturing</a:t>
                      </a:r>
                      <a:endParaRPr lang="en-US" sz="1000">
                        <a:solidFill>
                          <a:schemeClr val="bg1">
                            <a:lumMod val="75000"/>
                          </a:schemeClr>
                        </a:solidFill>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extLst>
                  <a:ext uri="{0D108BD9-81ED-4DB2-BD59-A6C34878D82A}">
                    <a16:rowId xmlns:a16="http://schemas.microsoft.com/office/drawing/2014/main" val="10002"/>
                  </a:ext>
                </a:extLst>
              </a:tr>
              <a:tr h="320040">
                <a:tc>
                  <a:txBody>
                    <a:bodyPr/>
                    <a:lstStyle/>
                    <a:p>
                      <a:pPr marL="0" indent="0">
                        <a:buNone/>
                      </a:pPr>
                      <a:r>
                        <a:rPr lang="en-US" sz="1000">
                          <a:solidFill>
                            <a:srgbClr val="FFFFFF"/>
                          </a:solidFill>
                          <a:latin typeface="Source Sans Pro" pitchFamily="34" charset="0"/>
                          <a:ea typeface="Source Sans Pro" pitchFamily="34" charset="-122"/>
                          <a:cs typeface="Source Sans Pro" pitchFamily="34" charset="-120"/>
                        </a:rPr>
                        <a:t>Launch</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rgbClr val="AAAAAA"/>
                          </a:solidFill>
                          <a:latin typeface="Source Sans Pro" pitchFamily="34" charset="0"/>
                          <a:ea typeface="Source Sans Pro" pitchFamily="34" charset="-122"/>
                          <a:cs typeface="Source Sans Pro" pitchFamily="34" charset="-120"/>
                        </a:rPr>
                        <a:t>£23 M</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chemeClr val="bg1">
                              <a:lumMod val="75000"/>
                            </a:schemeClr>
                          </a:solidFill>
                          <a:latin typeface="Source Sans Pro"/>
                          <a:ea typeface="Source Sans Pro"/>
                          <a:cs typeface="Source Sans Pro" pitchFamily="34" charset="-120"/>
                        </a:rPr>
                        <a:t>Launcher Selection &amp; cost</a:t>
                      </a:r>
                      <a:endParaRPr lang="en-US" sz="1000">
                        <a:solidFill>
                          <a:schemeClr val="bg1">
                            <a:lumMod val="75000"/>
                          </a:schemeClr>
                        </a:solidFill>
                        <a:latin typeface="Source Sans Pro"/>
                        <a:ea typeface="Source Sans Pro"/>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320040">
                <a:tc>
                  <a:txBody>
                    <a:bodyPr/>
                    <a:lstStyle/>
                    <a:p>
                      <a:pPr marL="0" indent="0">
                        <a:buNone/>
                      </a:pPr>
                      <a:r>
                        <a:rPr lang="en-US" sz="1000">
                          <a:solidFill>
                            <a:srgbClr val="FFFFFF"/>
                          </a:solidFill>
                          <a:latin typeface="Source Sans Pro" pitchFamily="34" charset="0"/>
                          <a:ea typeface="Source Sans Pro" pitchFamily="34" charset="-122"/>
                          <a:cs typeface="Source Sans Pro" pitchFamily="34" charset="-120"/>
                        </a:rPr>
                        <a:t>Ground Segment</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indent="0">
                        <a:buNone/>
                      </a:pPr>
                      <a:r>
                        <a:rPr lang="en-US" sz="1000">
                          <a:solidFill>
                            <a:srgbClr val="AAAAAA"/>
                          </a:solidFill>
                          <a:latin typeface="Source Sans Pro" pitchFamily="34" charset="0"/>
                          <a:ea typeface="Source Sans Pro" pitchFamily="34" charset="-122"/>
                          <a:cs typeface="Source Sans Pro" pitchFamily="34" charset="-120"/>
                        </a:rPr>
                        <a:t>£7 M</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indent="0">
                        <a:buNone/>
                      </a:pPr>
                      <a:r>
                        <a:rPr lang="en-US" sz="1000">
                          <a:solidFill>
                            <a:schemeClr val="bg1">
                              <a:lumMod val="75000"/>
                            </a:schemeClr>
                          </a:solidFill>
                          <a:latin typeface="Source Sans Pro"/>
                          <a:ea typeface="Source Sans Pro"/>
                          <a:cs typeface="Source Sans Pro" pitchFamily="34" charset="-120"/>
                        </a:rPr>
                        <a:t>Operations Centre, Rion Portal</a:t>
                      </a:r>
                      <a:endParaRPr lang="en-US" sz="1000">
                        <a:solidFill>
                          <a:schemeClr val="bg1">
                            <a:lumMod val="75000"/>
                          </a:schemeClr>
                        </a:solidFill>
                        <a:latin typeface="Source Sans Pro"/>
                        <a:ea typeface="Source Sans Pro"/>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extLst>
                  <a:ext uri="{0D108BD9-81ED-4DB2-BD59-A6C34878D82A}">
                    <a16:rowId xmlns:a16="http://schemas.microsoft.com/office/drawing/2014/main" val="10004"/>
                  </a:ext>
                </a:extLst>
              </a:tr>
              <a:tr h="320040">
                <a:tc>
                  <a:txBody>
                    <a:bodyPr/>
                    <a:lstStyle/>
                    <a:p>
                      <a:pPr marL="0" indent="0">
                        <a:buNone/>
                      </a:pPr>
                      <a:r>
                        <a:rPr lang="en-US" sz="1000">
                          <a:solidFill>
                            <a:srgbClr val="FFFFFF"/>
                          </a:solidFill>
                          <a:latin typeface="Source Sans Pro" pitchFamily="34" charset="0"/>
                          <a:ea typeface="Source Sans Pro" pitchFamily="34" charset="-122"/>
                          <a:cs typeface="Source Sans Pro" pitchFamily="34" charset="-120"/>
                        </a:rPr>
                        <a:t>Operations</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rgbClr val="AAAAAA"/>
                          </a:solidFill>
                          <a:latin typeface="Source Sans Pro" pitchFamily="34" charset="0"/>
                          <a:ea typeface="Source Sans Pro" pitchFamily="34" charset="-122"/>
                          <a:cs typeface="Source Sans Pro" pitchFamily="34" charset="-120"/>
                        </a:rPr>
                        <a:t>£5.5 M</a:t>
                      </a:r>
                      <a:endParaRPr lang="en-US" sz="10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chemeClr val="bg1">
                              <a:lumMod val="75000"/>
                            </a:schemeClr>
                          </a:solidFill>
                          <a:latin typeface="Source Sans Pro" pitchFamily="34" charset="0"/>
                          <a:ea typeface="Source Sans Pro" pitchFamily="34" charset="-122"/>
                          <a:cs typeface="Source Sans Pro" pitchFamily="34" charset="-120"/>
                        </a:rPr>
                        <a:t>Annual operations staff and capital investment</a:t>
                      </a:r>
                      <a:endParaRPr lang="en-US" sz="1000">
                        <a:solidFill>
                          <a:schemeClr val="bg1">
                            <a:lumMod val="75000"/>
                          </a:schemeClr>
                        </a:solidFill>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5"/>
                  </a:ext>
                </a:extLst>
              </a:tr>
              <a:tr h="320040">
                <a:tc>
                  <a:txBody>
                    <a:bodyPr/>
                    <a:lstStyle/>
                    <a:p>
                      <a:pPr marL="0" indent="0">
                        <a:buNone/>
                      </a:pPr>
                      <a:r>
                        <a:rPr lang="en-US" sz="1100" b="1">
                          <a:solidFill>
                            <a:srgbClr val="0D0D0D"/>
                          </a:solidFill>
                          <a:latin typeface="Source Sans Pro" pitchFamily="34" charset="0"/>
                          <a:ea typeface="Source Sans Pro" pitchFamily="34" charset="-122"/>
                          <a:cs typeface="Source Sans Pro" pitchFamily="34" charset="-120"/>
                        </a:rPr>
                        <a:t>TOTAL</a:t>
                      </a:r>
                      <a:endParaRPr lang="en-US" sz="11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4A017"/>
                    </a:solidFill>
                  </a:tcPr>
                </a:tc>
                <a:tc>
                  <a:txBody>
                    <a:bodyPr/>
                    <a:lstStyle/>
                    <a:p>
                      <a:pPr marL="0" indent="0">
                        <a:buNone/>
                      </a:pPr>
                      <a:r>
                        <a:rPr lang="en-US" sz="1100" b="1">
                          <a:solidFill>
                            <a:srgbClr val="0D0D0D"/>
                          </a:solidFill>
                          <a:latin typeface="Source Sans Pro" pitchFamily="34" charset="0"/>
                          <a:ea typeface="Source Sans Pro" pitchFamily="34" charset="-122"/>
                          <a:cs typeface="Source Sans Pro" pitchFamily="34" charset="-120"/>
                        </a:rPr>
                        <a:t>£69.5 M</a:t>
                      </a:r>
                      <a:endParaRPr lang="en-US" sz="1100">
                        <a:latin typeface="Source Sans Pro" charset="0"/>
                        <a:ea typeface="Source Sans Pro" charset="0"/>
                        <a:cs typeface="Source Sans Pro" charset="0"/>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4A017"/>
                    </a:solidFill>
                  </a:tcPr>
                </a:tc>
                <a:tc>
                  <a:txBody>
                    <a:bodyPr/>
                    <a:lstStyle/>
                    <a:p>
                      <a:pPr marL="0" indent="0">
                        <a:buNone/>
                      </a:pPr>
                      <a:r>
                        <a:rPr lang="en-US" sz="1100">
                          <a:latin typeface="Source Sans Pro" charset="0"/>
                          <a:ea typeface="Source Sans Pro" charset="0"/>
                          <a:cs typeface="Source Sans Pro" charset="0"/>
                        </a:rPr>
                        <a:t>(Non-Recurring)</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4A017"/>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0" y="1005840"/>
            <a:ext cx="3291840" cy="365760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6" name="Shape 3"/>
          <p:cNvSpPr/>
          <p:nvPr/>
        </p:nvSpPr>
        <p:spPr>
          <a:xfrm>
            <a:off x="5486400" y="1005840"/>
            <a:ext cx="64008" cy="3657600"/>
          </a:xfrm>
          <a:prstGeom prst="rect">
            <a:avLst/>
          </a:prstGeom>
          <a:solidFill>
            <a:srgbClr val="4CAF50"/>
          </a:solidFill>
          <a:ln/>
        </p:spPr>
        <p:txBody>
          <a:bodyPr/>
          <a:lstStyle/>
          <a:p>
            <a:endParaRPr lang="en-CH"/>
          </a:p>
        </p:txBody>
      </p:sp>
      <p:sp>
        <p:nvSpPr>
          <p:cNvPr id="7" name="Text 4"/>
          <p:cNvSpPr/>
          <p:nvPr/>
        </p:nvSpPr>
        <p:spPr>
          <a:xfrm>
            <a:off x="5760720" y="1143000"/>
            <a:ext cx="2834640" cy="365760"/>
          </a:xfrm>
          <a:prstGeom prst="rect">
            <a:avLst/>
          </a:prstGeom>
          <a:noFill/>
          <a:ln/>
        </p:spPr>
        <p:txBody>
          <a:bodyPr wrap="square" lIns="0" tIns="0" rIns="0" bIns="0" rtlCol="0" anchor="ctr"/>
          <a:lstStyle/>
          <a:p>
            <a:pPr marL="0" indent="0">
              <a:buNone/>
            </a:pPr>
            <a:r>
              <a:rPr lang="en-US" sz="1600">
                <a:solidFill>
                  <a:schemeClr val="bg1"/>
                </a:solidFill>
                <a:latin typeface="Source Sans Pro" pitchFamily="34" charset="0"/>
                <a:ea typeface="Source Sans Pro" pitchFamily="34" charset="-122"/>
                <a:cs typeface="Source Sans Pro" pitchFamily="34" charset="-120"/>
              </a:rPr>
              <a:t>Funding Strategy</a:t>
            </a:r>
            <a:endParaRPr lang="en-US" sz="1600">
              <a:solidFill>
                <a:schemeClr val="bg1"/>
              </a:solidFill>
            </a:endParaRPr>
          </a:p>
        </p:txBody>
      </p:sp>
      <p:sp>
        <p:nvSpPr>
          <p:cNvPr id="8" name="Shape 5"/>
          <p:cNvSpPr/>
          <p:nvPr/>
        </p:nvSpPr>
        <p:spPr>
          <a:xfrm>
            <a:off x="5760720" y="1691640"/>
            <a:ext cx="2834640" cy="36576"/>
          </a:xfrm>
          <a:prstGeom prst="rect">
            <a:avLst/>
          </a:prstGeom>
          <a:solidFill>
            <a:srgbClr val="4D9DE5"/>
          </a:solidFill>
          <a:ln/>
        </p:spPr>
        <p:txBody>
          <a:bodyPr/>
          <a:lstStyle/>
          <a:p>
            <a:endParaRPr lang="en-CH"/>
          </a:p>
        </p:txBody>
      </p:sp>
      <p:sp>
        <p:nvSpPr>
          <p:cNvPr id="9" name="Text 6"/>
          <p:cNvSpPr/>
          <p:nvPr/>
        </p:nvSpPr>
        <p:spPr>
          <a:xfrm>
            <a:off x="5760720" y="1783080"/>
            <a:ext cx="2834640" cy="274320"/>
          </a:xfrm>
          <a:prstGeom prst="rect">
            <a:avLst/>
          </a:prstGeom>
          <a:noFill/>
          <a:ln/>
        </p:spPr>
        <p:txBody>
          <a:bodyPr wrap="square" lIns="0" tIns="0" rIns="0" bIns="0" rtlCol="0" anchor="ctr"/>
          <a:lstStyle/>
          <a:p>
            <a:pPr marL="0" indent="0">
              <a:buNone/>
            </a:pPr>
            <a:r>
              <a:rPr lang="en-US" sz="1200" b="1">
                <a:solidFill>
                  <a:srgbClr val="4D9DE5"/>
                </a:solidFill>
                <a:latin typeface="Source Sans Pro" pitchFamily="34" charset="0"/>
                <a:ea typeface="Source Sans Pro" pitchFamily="34" charset="-122"/>
                <a:cs typeface="Source Sans Pro" pitchFamily="34" charset="-120"/>
              </a:rPr>
              <a:t>Phase 1: Grants</a:t>
            </a:r>
            <a:endParaRPr lang="en-US" sz="1200"/>
          </a:p>
        </p:txBody>
      </p:sp>
      <p:sp>
        <p:nvSpPr>
          <p:cNvPr id="10" name="Text 7"/>
          <p:cNvSpPr/>
          <p:nvPr/>
        </p:nvSpPr>
        <p:spPr>
          <a:xfrm>
            <a:off x="5760720" y="2039112"/>
            <a:ext cx="2834640" cy="228600"/>
          </a:xfrm>
          <a:prstGeom prst="rect">
            <a:avLst/>
          </a:prstGeom>
          <a:noFill/>
          <a:ln/>
        </p:spPr>
        <p:txBody>
          <a:bodyPr wrap="square" lIns="0" tIns="0" rIns="0" bIns="0" rtlCol="0" anchor="ctr"/>
          <a:lstStyle/>
          <a:p>
            <a:pPr marL="0" indent="0">
              <a:buNone/>
            </a:pPr>
            <a:r>
              <a:rPr lang="en-US" sz="1400">
                <a:solidFill>
                  <a:srgbClr val="FFFFFF"/>
                </a:solidFill>
                <a:latin typeface="Source Sans Pro" pitchFamily="34" charset="0"/>
                <a:ea typeface="Source Sans Pro" pitchFamily="34" charset="-122"/>
                <a:cs typeface="Source Sans Pro" pitchFamily="34" charset="-120"/>
              </a:rPr>
              <a:t>£30.80 M</a:t>
            </a:r>
            <a:endParaRPr lang="en-US" sz="1400"/>
          </a:p>
        </p:txBody>
      </p:sp>
      <p:sp>
        <p:nvSpPr>
          <p:cNvPr id="11" name="Text 8"/>
          <p:cNvSpPr/>
          <p:nvPr/>
        </p:nvSpPr>
        <p:spPr>
          <a:xfrm>
            <a:off x="5760720" y="2258568"/>
            <a:ext cx="2834640" cy="274320"/>
          </a:xfrm>
          <a:prstGeom prst="rect">
            <a:avLst/>
          </a:prstGeom>
          <a:noFill/>
          <a:ln/>
        </p:spPr>
        <p:txBody>
          <a:bodyPr wrap="square" lIns="0" tIns="0" rIns="0" bIns="0" rtlCol="0" anchor="ctr"/>
          <a:lstStyle/>
          <a:p>
            <a:pPr marL="0" indent="0">
              <a:buNone/>
            </a:pPr>
            <a:r>
              <a:rPr lang="en-US" sz="1000">
                <a:solidFill>
                  <a:srgbClr val="666666"/>
                </a:solidFill>
                <a:latin typeface="Source Sans Pro" pitchFamily="34" charset="0"/>
                <a:ea typeface="Source Sans Pro" pitchFamily="34" charset="-122"/>
                <a:cs typeface="Source Sans Pro" pitchFamily="34" charset="-120"/>
              </a:rPr>
              <a:t>UK Space Agency, ESA, Innovate UK</a:t>
            </a:r>
            <a:endParaRPr lang="en-US" sz="1000"/>
          </a:p>
        </p:txBody>
      </p:sp>
      <p:sp>
        <p:nvSpPr>
          <p:cNvPr id="12" name="Shape 9"/>
          <p:cNvSpPr/>
          <p:nvPr/>
        </p:nvSpPr>
        <p:spPr>
          <a:xfrm>
            <a:off x="5760720" y="2697480"/>
            <a:ext cx="2834640" cy="36576"/>
          </a:xfrm>
          <a:prstGeom prst="rect">
            <a:avLst/>
          </a:prstGeom>
          <a:solidFill>
            <a:srgbClr val="FFB300"/>
          </a:solidFill>
          <a:ln/>
        </p:spPr>
        <p:txBody>
          <a:bodyPr/>
          <a:lstStyle/>
          <a:p>
            <a:endParaRPr lang="en-CH"/>
          </a:p>
        </p:txBody>
      </p:sp>
      <p:sp>
        <p:nvSpPr>
          <p:cNvPr id="13" name="Text 10"/>
          <p:cNvSpPr/>
          <p:nvPr/>
        </p:nvSpPr>
        <p:spPr>
          <a:xfrm>
            <a:off x="5760720" y="2788920"/>
            <a:ext cx="2834640" cy="274320"/>
          </a:xfrm>
          <a:prstGeom prst="rect">
            <a:avLst/>
          </a:prstGeom>
          <a:noFill/>
          <a:ln/>
        </p:spPr>
        <p:txBody>
          <a:bodyPr wrap="square" lIns="0" tIns="0" rIns="0" bIns="0" rtlCol="0" anchor="ctr"/>
          <a:lstStyle/>
          <a:p>
            <a:pPr marL="0" indent="0">
              <a:buNone/>
            </a:pPr>
            <a:r>
              <a:rPr lang="en-US" sz="1200" b="1">
                <a:solidFill>
                  <a:srgbClr val="FFB300"/>
                </a:solidFill>
                <a:latin typeface="Source Sans Pro" pitchFamily="34" charset="0"/>
                <a:ea typeface="Source Sans Pro" pitchFamily="34" charset="-122"/>
                <a:cs typeface="Source Sans Pro" pitchFamily="34" charset="-120"/>
              </a:rPr>
              <a:t>Phase 2: Venture Capital</a:t>
            </a:r>
            <a:endParaRPr lang="en-US" sz="1200"/>
          </a:p>
        </p:txBody>
      </p:sp>
      <p:sp>
        <p:nvSpPr>
          <p:cNvPr id="14" name="Text 11"/>
          <p:cNvSpPr/>
          <p:nvPr/>
        </p:nvSpPr>
        <p:spPr>
          <a:xfrm>
            <a:off x="5760720" y="3044952"/>
            <a:ext cx="2834640" cy="228600"/>
          </a:xfrm>
          <a:prstGeom prst="rect">
            <a:avLst/>
          </a:prstGeom>
          <a:noFill/>
          <a:ln/>
        </p:spPr>
        <p:txBody>
          <a:bodyPr wrap="square" lIns="0" tIns="0" rIns="0" bIns="0" rtlCol="0" anchor="ctr"/>
          <a:lstStyle/>
          <a:p>
            <a:pPr marL="0" indent="0">
              <a:buNone/>
            </a:pPr>
            <a:r>
              <a:rPr lang="en-US" sz="1400">
                <a:solidFill>
                  <a:srgbClr val="FFFFFF"/>
                </a:solidFill>
                <a:latin typeface="Source Sans Pro" pitchFamily="34" charset="0"/>
                <a:ea typeface="Source Sans Pro" pitchFamily="34" charset="-122"/>
                <a:cs typeface="Source Sans Pro" pitchFamily="34" charset="-120"/>
              </a:rPr>
              <a:t>£38.50 M</a:t>
            </a:r>
            <a:endParaRPr lang="en-US" sz="1400"/>
          </a:p>
        </p:txBody>
      </p:sp>
      <p:sp>
        <p:nvSpPr>
          <p:cNvPr id="4" name="Text 12"/>
          <p:cNvSpPr/>
          <p:nvPr/>
        </p:nvSpPr>
        <p:spPr>
          <a:xfrm>
            <a:off x="5760720" y="3264408"/>
            <a:ext cx="2834640" cy="274320"/>
          </a:xfrm>
          <a:prstGeom prst="rect">
            <a:avLst/>
          </a:prstGeom>
          <a:noFill/>
          <a:ln/>
        </p:spPr>
        <p:txBody>
          <a:bodyPr wrap="square" lIns="0" tIns="0" rIns="0" bIns="0" rtlCol="0" anchor="ctr"/>
          <a:lstStyle/>
          <a:p>
            <a:pPr marL="0" indent="0">
              <a:buNone/>
            </a:pPr>
            <a:r>
              <a:rPr lang="en-US" sz="1000">
                <a:solidFill>
                  <a:srgbClr val="666666"/>
                </a:solidFill>
                <a:latin typeface="Source Sans Pro" pitchFamily="34" charset="0"/>
                <a:ea typeface="Source Sans Pro" pitchFamily="34" charset="-122"/>
                <a:cs typeface="Source Sans Pro" pitchFamily="34" charset="-120"/>
              </a:rPr>
              <a:t>Seraphim Space, Airbus Ventures, Space Capital</a:t>
            </a:r>
            <a:endParaRPr lang="en-US" sz="1000"/>
          </a:p>
        </p:txBody>
      </p:sp>
      <p:sp>
        <p:nvSpPr>
          <p:cNvPr id="16" name="Shape 13"/>
          <p:cNvSpPr/>
          <p:nvPr/>
        </p:nvSpPr>
        <p:spPr>
          <a:xfrm>
            <a:off x="5760720" y="3703320"/>
            <a:ext cx="2834640" cy="36576"/>
          </a:xfrm>
          <a:prstGeom prst="rect">
            <a:avLst/>
          </a:prstGeom>
          <a:solidFill>
            <a:srgbClr val="4CAF50"/>
          </a:solidFill>
          <a:ln/>
        </p:spPr>
        <p:txBody>
          <a:bodyPr/>
          <a:lstStyle/>
          <a:p>
            <a:endParaRPr lang="en-CH"/>
          </a:p>
        </p:txBody>
      </p:sp>
      <p:sp>
        <p:nvSpPr>
          <p:cNvPr id="17" name="Text 14"/>
          <p:cNvSpPr/>
          <p:nvPr/>
        </p:nvSpPr>
        <p:spPr>
          <a:xfrm>
            <a:off x="5760720" y="3794760"/>
            <a:ext cx="2834640" cy="274320"/>
          </a:xfrm>
          <a:prstGeom prst="rect">
            <a:avLst/>
          </a:prstGeom>
          <a:noFill/>
          <a:ln/>
        </p:spPr>
        <p:txBody>
          <a:bodyPr wrap="square" lIns="0" tIns="0" rIns="0" bIns="0" rtlCol="0" anchor="ctr"/>
          <a:lstStyle/>
          <a:p>
            <a:pPr marL="0" indent="0">
              <a:buNone/>
            </a:pPr>
            <a:r>
              <a:rPr lang="en-US" sz="1200" b="1">
                <a:solidFill>
                  <a:srgbClr val="4CAF50"/>
                </a:solidFill>
                <a:latin typeface="Source Sans Pro" pitchFamily="34" charset="0"/>
                <a:ea typeface="Source Sans Pro" pitchFamily="34" charset="-122"/>
                <a:cs typeface="Source Sans Pro" pitchFamily="34" charset="-120"/>
              </a:rPr>
              <a:t>Phase 3: Strategic</a:t>
            </a:r>
            <a:endParaRPr lang="en-US" sz="1200"/>
          </a:p>
        </p:txBody>
      </p:sp>
      <p:sp>
        <p:nvSpPr>
          <p:cNvPr id="18" name="Text 15"/>
          <p:cNvSpPr/>
          <p:nvPr/>
        </p:nvSpPr>
        <p:spPr>
          <a:xfrm>
            <a:off x="5760720" y="4050792"/>
            <a:ext cx="2834640" cy="228600"/>
          </a:xfrm>
          <a:prstGeom prst="rect">
            <a:avLst/>
          </a:prstGeom>
          <a:noFill/>
          <a:ln/>
        </p:spPr>
        <p:txBody>
          <a:bodyPr wrap="square" lIns="0" tIns="0" rIns="0" bIns="0" rtlCol="0" anchor="ctr"/>
          <a:lstStyle/>
          <a:p>
            <a:pPr marL="0" indent="0">
              <a:buNone/>
            </a:pPr>
            <a:r>
              <a:rPr lang="en-US" sz="1400">
                <a:solidFill>
                  <a:srgbClr val="FFFFFF"/>
                </a:solidFill>
                <a:latin typeface="Source Sans Pro" pitchFamily="34" charset="0"/>
                <a:ea typeface="Source Sans Pro" pitchFamily="34" charset="-122"/>
                <a:cs typeface="Source Sans Pro" pitchFamily="34" charset="-120"/>
              </a:rPr>
              <a:t>£7.70 M</a:t>
            </a:r>
            <a:endParaRPr lang="en-US" sz="1400"/>
          </a:p>
        </p:txBody>
      </p:sp>
      <p:sp>
        <p:nvSpPr>
          <p:cNvPr id="19" name="Text 16"/>
          <p:cNvSpPr/>
          <p:nvPr/>
        </p:nvSpPr>
        <p:spPr>
          <a:xfrm>
            <a:off x="5760720" y="4270248"/>
            <a:ext cx="2834640" cy="274320"/>
          </a:xfrm>
          <a:prstGeom prst="rect">
            <a:avLst/>
          </a:prstGeom>
          <a:noFill/>
          <a:ln/>
        </p:spPr>
        <p:txBody>
          <a:bodyPr wrap="square" lIns="0" tIns="0" rIns="0" bIns="0" rtlCol="0" anchor="ctr"/>
          <a:lstStyle/>
          <a:p>
            <a:pPr marL="0" indent="0">
              <a:buNone/>
            </a:pPr>
            <a:r>
              <a:rPr lang="en-US" sz="1000">
                <a:solidFill>
                  <a:srgbClr val="666666"/>
                </a:solidFill>
                <a:latin typeface="Source Sans Pro" pitchFamily="34" charset="0"/>
                <a:ea typeface="Source Sans Pro" pitchFamily="34" charset="-122"/>
                <a:cs typeface="Source Sans Pro" pitchFamily="34" charset="-120"/>
              </a:rPr>
              <a:t>Industry partnerships, government contracts</a:t>
            </a:r>
            <a:endParaRPr lang="en-US" sz="1000"/>
          </a:p>
        </p:txBody>
      </p:sp>
      <p:sp>
        <p:nvSpPr>
          <p:cNvPr id="20" name="Shape 17"/>
          <p:cNvSpPr/>
          <p:nvPr/>
        </p:nvSpPr>
        <p:spPr>
          <a:xfrm>
            <a:off x="0" y="4914900"/>
            <a:ext cx="9144000" cy="228600"/>
          </a:xfrm>
          <a:prstGeom prst="rect">
            <a:avLst/>
          </a:prstGeom>
          <a:solidFill>
            <a:srgbClr val="1A1A1A"/>
          </a:solidFill>
          <a:ln/>
        </p:spPr>
        <p:txBody>
          <a:bodyPr/>
          <a:lstStyle/>
          <a:p>
            <a:endParaRPr lang="en-CH"/>
          </a:p>
        </p:txBody>
      </p:sp>
      <p:sp>
        <p:nvSpPr>
          <p:cNvPr id="21" name="Text 18"/>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graphicFrame>
        <p:nvGraphicFramePr>
          <p:cNvPr id="22" name="Table 0">
            <a:extLst>
              <a:ext uri="{FF2B5EF4-FFF2-40B4-BE49-F238E27FC236}">
                <a16:creationId xmlns:a16="http://schemas.microsoft.com/office/drawing/2014/main" id="{99EFCC39-4A74-8C4A-EC8C-431A7094A355}"/>
              </a:ext>
            </a:extLst>
          </p:cNvPr>
          <p:cNvGraphicFramePr>
            <a:graphicFrameLocks noGrp="1"/>
          </p:cNvGraphicFramePr>
          <p:nvPr>
            <p:extLst>
              <p:ext uri="{D42A27DB-BD31-4B8C-83A1-F6EECF244321}">
                <p14:modId xmlns:p14="http://schemas.microsoft.com/office/powerpoint/2010/main" val="3028606318"/>
              </p:ext>
            </p:extLst>
          </p:nvPr>
        </p:nvGraphicFramePr>
        <p:xfrm>
          <a:off x="444290" y="3063240"/>
          <a:ext cx="4761219" cy="1752600"/>
        </p:xfrm>
        <a:graphic>
          <a:graphicData uri="http://schemas.openxmlformats.org/drawingml/2006/table">
            <a:tbl>
              <a:tblPr/>
              <a:tblGrid>
                <a:gridCol w="1596258">
                  <a:extLst>
                    <a:ext uri="{9D8B030D-6E8A-4147-A177-3AD203B41FA5}">
                      <a16:colId xmlns:a16="http://schemas.microsoft.com/office/drawing/2014/main" val="20000"/>
                    </a:ext>
                  </a:extLst>
                </a:gridCol>
                <a:gridCol w="3164961">
                  <a:extLst>
                    <a:ext uri="{9D8B030D-6E8A-4147-A177-3AD203B41FA5}">
                      <a16:colId xmlns:a16="http://schemas.microsoft.com/office/drawing/2014/main" val="20002"/>
                    </a:ext>
                  </a:extLst>
                </a:gridCol>
              </a:tblGrid>
              <a:tr h="320040">
                <a:tc>
                  <a:txBody>
                    <a:bodyPr/>
                    <a:lstStyle/>
                    <a:p>
                      <a:pPr marL="0" indent="0">
                        <a:buNone/>
                      </a:pPr>
                      <a:r>
                        <a:rPr lang="en-US" sz="1100" b="1">
                          <a:solidFill>
                            <a:srgbClr val="0D0D0D"/>
                          </a:solidFill>
                          <a:latin typeface="Source Sans Pro"/>
                          <a:ea typeface="Source Sans Pro"/>
                          <a:cs typeface="Source Sans Pro" charset="0"/>
                        </a:rPr>
                        <a:t>Subscription Tier</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chemeClr val="accent2">
                        <a:lumMod val="75000"/>
                      </a:schemeClr>
                    </a:solidFill>
                  </a:tcPr>
                </a:tc>
                <a:tc>
                  <a:txBody>
                    <a:bodyPr/>
                    <a:lstStyle/>
                    <a:p>
                      <a:pPr marL="0" indent="0">
                        <a:buNone/>
                      </a:pPr>
                      <a:r>
                        <a:rPr lang="en-US" sz="1100" b="1">
                          <a:solidFill>
                            <a:srgbClr val="0D0D0D"/>
                          </a:solidFill>
                          <a:latin typeface="Source Sans Pro"/>
                          <a:ea typeface="Source Sans Pro"/>
                          <a:cs typeface="Source Sans Pro" charset="0"/>
                        </a:rPr>
                        <a:t>Services</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10000"/>
                  </a:ext>
                </a:extLst>
              </a:tr>
              <a:tr h="320040">
                <a:tc>
                  <a:txBody>
                    <a:bodyPr/>
                    <a:lstStyle/>
                    <a:p>
                      <a:pPr marL="0" indent="0">
                        <a:buNone/>
                      </a:pPr>
                      <a:r>
                        <a:rPr lang="en-US" sz="1000">
                          <a:solidFill>
                            <a:srgbClr val="FFFFFF"/>
                          </a:solidFill>
                          <a:latin typeface="Source Sans Pro"/>
                          <a:ea typeface="Source Sans Pro"/>
                          <a:cs typeface="Source Sans Pro" charset="0"/>
                        </a:rPr>
                        <a:t>No Subscription</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buNone/>
                      </a:pPr>
                      <a:r>
                        <a:rPr lang="en-US" sz="1000">
                          <a:solidFill>
                            <a:schemeClr val="bg1">
                              <a:lumMod val="75000"/>
                            </a:schemeClr>
                          </a:solidFill>
                          <a:latin typeface="Source Sans Pro"/>
                          <a:ea typeface="Source Sans Pro"/>
                          <a:cs typeface="Source Sans Pro" charset="0"/>
                        </a:rPr>
                        <a:t>Per Image Pricing</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320040">
                <a:tc>
                  <a:txBody>
                    <a:bodyPr/>
                    <a:lstStyle/>
                    <a:p>
                      <a:pPr marL="0" indent="0">
                        <a:buNone/>
                      </a:pPr>
                      <a:r>
                        <a:rPr lang="en-US" sz="1000">
                          <a:solidFill>
                            <a:srgbClr val="FFFFFF"/>
                          </a:solidFill>
                          <a:latin typeface="Source Sans Pro"/>
                          <a:ea typeface="Source Sans Pro"/>
                          <a:cs typeface="Source Sans Pro" charset="0"/>
                        </a:rPr>
                        <a:t>Commercial/Academic</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lvl="0" indent="0">
                        <a:buNone/>
                      </a:pPr>
                      <a:r>
                        <a:rPr lang="en-US" sz="1000" b="0" i="0" u="none" strike="noStrike" noProof="0">
                          <a:solidFill>
                            <a:schemeClr val="bg1">
                              <a:lumMod val="75000"/>
                            </a:schemeClr>
                          </a:solidFill>
                        </a:rPr>
                        <a:t>Standard priority service, 300 image limit per year</a:t>
                      </a:r>
                      <a:endParaRPr lang="en-US"/>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320040">
                <a:tc>
                  <a:txBody>
                    <a:bodyPr/>
                    <a:lstStyle/>
                    <a:p>
                      <a:pPr marL="0" indent="0">
                        <a:buNone/>
                      </a:pPr>
                      <a:r>
                        <a:rPr lang="en-US" sz="1000">
                          <a:solidFill>
                            <a:srgbClr val="FFFFFF"/>
                          </a:solidFill>
                          <a:latin typeface="Source Sans Pro"/>
                          <a:ea typeface="Source Sans Pro"/>
                          <a:cs typeface="Source Sans Pro" charset="0"/>
                        </a:rPr>
                        <a:t>Enterprise</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lvl="0" indent="0">
                        <a:buNone/>
                      </a:pPr>
                      <a:r>
                        <a:rPr lang="en-US" sz="1000" b="0" i="0" u="none" strike="noStrike" noProof="0">
                          <a:solidFill>
                            <a:schemeClr val="bg1">
                              <a:lumMod val="75000"/>
                            </a:schemeClr>
                          </a:solidFill>
                        </a:rPr>
                        <a:t>Unlimited Images at standard priority with 50 high priority images, private database</a:t>
                      </a:r>
                      <a:endParaRPr lang="en-US"/>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extLst>
                  <a:ext uri="{0D108BD9-81ED-4DB2-BD59-A6C34878D82A}">
                    <a16:rowId xmlns:a16="http://schemas.microsoft.com/office/drawing/2014/main" val="10004"/>
                  </a:ext>
                </a:extLst>
              </a:tr>
              <a:tr h="320040">
                <a:tc>
                  <a:txBody>
                    <a:bodyPr/>
                    <a:lstStyle/>
                    <a:p>
                      <a:pPr marL="0" lvl="0" indent="0">
                        <a:buNone/>
                      </a:pPr>
                      <a:r>
                        <a:rPr lang="en-US" sz="1000">
                          <a:solidFill>
                            <a:srgbClr val="FFFFFF"/>
                          </a:solidFill>
                          <a:latin typeface="Source Sans Pro"/>
                          <a:ea typeface="Source Sans Pro"/>
                          <a:cs typeface="Source Sans Pro" charset="0"/>
                        </a:rPr>
                        <a:t>Defence/Security</a:t>
                      </a:r>
                      <a:endParaRPr lang="en-US" sz="1000" err="1">
                        <a:solidFill>
                          <a:srgbClr val="FFFFFF"/>
                        </a:solidFill>
                        <a:latin typeface="Source Sans Pro"/>
                        <a:ea typeface="Source Sans Pro"/>
                        <a:cs typeface="Source Sans Pro" charset="0"/>
                      </a:endParaRPr>
                    </a:p>
                  </a:txBody>
                  <a:tcPr>
                    <a:lnL w="6350">
                      <a:solidFill>
                        <a:srgbClr val="333333"/>
                      </a:solidFill>
                    </a:lnL>
                    <a:lnR w="6350">
                      <a:solidFill>
                        <a:srgbClr val="333333"/>
                      </a:solidFill>
                    </a:lnR>
                    <a:lnT w="6350">
                      <a:solidFill>
                        <a:srgbClr val="333333"/>
                      </a:solidFill>
                    </a:lnT>
                    <a:lnB w="6350">
                      <a:solidFill>
                        <a:srgbClr val="333333"/>
                      </a:solidFill>
                    </a:lnB>
                    <a:solidFill>
                      <a:srgbClr val="1F1F1F"/>
                    </a:solidFill>
                  </a:tcPr>
                </a:tc>
                <a:tc>
                  <a:txBody>
                    <a:bodyPr/>
                    <a:lstStyle/>
                    <a:p>
                      <a:pPr marL="0" lvl="0" indent="0">
                        <a:buNone/>
                      </a:pPr>
                      <a:r>
                        <a:rPr lang="en-US" sz="1000" b="0" i="0" u="none" strike="noStrike" noProof="0">
                          <a:solidFill>
                            <a:schemeClr val="bg1">
                              <a:lumMod val="75000"/>
                            </a:schemeClr>
                          </a:solidFill>
                        </a:rPr>
                        <a:t>High priority service, unlimited images, private and secured database</a:t>
                      </a:r>
                      <a:endParaRPr lang="en-US"/>
                    </a:p>
                  </a:txBody>
                  <a:tcPr>
                    <a:lnL w="6350" cap="flat" cmpd="sng" algn="ctr">
                      <a:solidFill>
                        <a:srgbClr val="333333"/>
                      </a:solidFill>
                      <a:prstDash val="solid"/>
                      <a:round/>
                      <a:headEnd type="none" w="med" len="med"/>
                      <a:tailEnd type="none" w="med" len="med"/>
                    </a:lnL>
                    <a:lnR w="6350">
                      <a:solidFill>
                        <a:srgbClr val="333333"/>
                      </a:solidFill>
                    </a:lnR>
                    <a:lnT w="6350" cap="flat" cmpd="sng" algn="ctr">
                      <a:solidFill>
                        <a:srgbClr val="333333"/>
                      </a:solidFill>
                      <a:prstDash val="solid"/>
                      <a:round/>
                      <a:headEnd type="none" w="med" len="med"/>
                      <a:tailEnd type="none" w="med" len="med"/>
                    </a:lnT>
                    <a:lnB w="6350">
                      <a:solidFill>
                        <a:srgbClr val="333333"/>
                      </a:solidFill>
                    </a:lnB>
                    <a:solidFill>
                      <a:srgbClr val="1F1F1F"/>
                    </a:solidFill>
                  </a:tcPr>
                </a:tc>
                <a:extLst>
                  <a:ext uri="{0D108BD9-81ED-4DB2-BD59-A6C34878D82A}">
                    <a16:rowId xmlns:a16="http://schemas.microsoft.com/office/drawing/2014/main" val="35496882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D60E1318-AA0A-2788-8386-693827919DE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A48D2A-EEDB-7458-6F87-23ED68B5E7FE}"/>
              </a:ext>
            </a:extLst>
          </p:cNvPr>
          <p:cNvSpPr/>
          <p:nvPr/>
        </p:nvSpPr>
        <p:spPr>
          <a:xfrm>
            <a:off x="0" y="0"/>
            <a:ext cx="9144000" cy="45720"/>
          </a:xfrm>
          <a:prstGeom prst="rect">
            <a:avLst/>
          </a:prstGeom>
          <a:solidFill>
            <a:srgbClr val="4D9DE5"/>
          </a:solidFill>
          <a:ln/>
        </p:spPr>
        <p:txBody>
          <a:bodyPr/>
          <a:lstStyle/>
          <a:p>
            <a:endParaRPr lang="en-CH"/>
          </a:p>
        </p:txBody>
      </p:sp>
      <p:sp>
        <p:nvSpPr>
          <p:cNvPr id="3" name="Text 1">
            <a:extLst>
              <a:ext uri="{FF2B5EF4-FFF2-40B4-BE49-F238E27FC236}">
                <a16:creationId xmlns:a16="http://schemas.microsoft.com/office/drawing/2014/main" id="{97C34BEB-137E-9B5C-FA45-045DE8D9D039}"/>
              </a:ext>
            </a:extLst>
          </p:cNvPr>
          <p:cNvSpPr/>
          <p:nvPr/>
        </p:nvSpPr>
        <p:spPr>
          <a:xfrm>
            <a:off x="731520" y="1097280"/>
            <a:ext cx="1828800" cy="914400"/>
          </a:xfrm>
          <a:prstGeom prst="rect">
            <a:avLst/>
          </a:prstGeom>
          <a:noFill/>
          <a:ln/>
        </p:spPr>
        <p:txBody>
          <a:bodyPr wrap="square" lIns="0" tIns="0" rIns="0" bIns="0" rtlCol="0" anchor="ctr"/>
          <a:lstStyle/>
          <a:p>
            <a:pPr marL="0" indent="0" algn="l">
              <a:buNone/>
            </a:pPr>
            <a:r>
              <a:rPr lang="en-US" sz="6000">
                <a:solidFill>
                  <a:srgbClr val="4D9DE5"/>
                </a:solidFill>
                <a:latin typeface="Source Sans Pro" pitchFamily="34" charset="0"/>
                <a:ea typeface="Source Sans Pro" pitchFamily="34" charset="-122"/>
                <a:cs typeface="Source Sans Pro" pitchFamily="34" charset="-120"/>
              </a:rPr>
              <a:t>05</a:t>
            </a:r>
            <a:endParaRPr lang="en-US" sz="6000"/>
          </a:p>
        </p:txBody>
      </p:sp>
      <p:sp>
        <p:nvSpPr>
          <p:cNvPr id="4" name="Text 2">
            <a:extLst>
              <a:ext uri="{FF2B5EF4-FFF2-40B4-BE49-F238E27FC236}">
                <a16:creationId xmlns:a16="http://schemas.microsoft.com/office/drawing/2014/main" id="{6BD29E99-BA5D-61F5-07DB-CD8028DCE7C2}"/>
              </a:ext>
            </a:extLst>
          </p:cNvPr>
          <p:cNvSpPr/>
          <p:nvPr/>
        </p:nvSpPr>
        <p:spPr>
          <a:xfrm>
            <a:off x="731520" y="2011680"/>
            <a:ext cx="7315200" cy="731520"/>
          </a:xfrm>
          <a:prstGeom prst="rect">
            <a:avLst/>
          </a:prstGeom>
          <a:noFill/>
          <a:ln/>
        </p:spPr>
        <p:txBody>
          <a:bodyPr wrap="square" lIns="0" tIns="0" rIns="0" bIns="0" rtlCol="0" anchor="ctr"/>
          <a:lstStyle/>
          <a:p>
            <a:pPr marL="0" indent="0" algn="l">
              <a:buNone/>
            </a:pPr>
            <a:r>
              <a:rPr lang="en-US" sz="3800" b="1">
                <a:solidFill>
                  <a:srgbClr val="FFFFFF"/>
                </a:solidFill>
                <a:latin typeface="Source Sans Pro" pitchFamily="34" charset="0"/>
                <a:ea typeface="Source Sans Pro" pitchFamily="34" charset="-122"/>
                <a:cs typeface="Source Sans Pro" pitchFamily="34" charset="-120"/>
              </a:rPr>
              <a:t>ROI &amp; Future Plans</a:t>
            </a:r>
            <a:endParaRPr lang="en-US" sz="3800"/>
          </a:p>
        </p:txBody>
      </p:sp>
      <p:sp>
        <p:nvSpPr>
          <p:cNvPr id="5" name="Text 3">
            <a:extLst>
              <a:ext uri="{FF2B5EF4-FFF2-40B4-BE49-F238E27FC236}">
                <a16:creationId xmlns:a16="http://schemas.microsoft.com/office/drawing/2014/main" id="{83A86C1A-E62B-7022-D6BB-901A4504613F}"/>
              </a:ext>
            </a:extLst>
          </p:cNvPr>
          <p:cNvSpPr/>
          <p:nvPr/>
        </p:nvSpPr>
        <p:spPr>
          <a:xfrm>
            <a:off x="731520" y="2834640"/>
            <a:ext cx="7315200" cy="457200"/>
          </a:xfrm>
          <a:prstGeom prst="rect">
            <a:avLst/>
          </a:prstGeom>
          <a:noFill/>
          <a:ln/>
        </p:spPr>
        <p:txBody>
          <a:bodyPr wrap="square" lIns="0" tIns="0" rIns="0" bIns="0" rtlCol="0" anchor="ctr"/>
          <a:lstStyle/>
          <a:p>
            <a:pPr marL="0" indent="0" algn="l">
              <a:buNone/>
            </a:pPr>
            <a:r>
              <a:rPr lang="en-US" sz="1600">
                <a:solidFill>
                  <a:srgbClr val="AAAAAA"/>
                </a:solidFill>
                <a:latin typeface="Source Sans Pro" pitchFamily="34" charset="0"/>
                <a:ea typeface="Source Sans Pro" pitchFamily="34" charset="-122"/>
                <a:cs typeface="Source Sans Pro" pitchFamily="34" charset="-120"/>
              </a:rPr>
              <a:t>Scaling beyond the Moon</a:t>
            </a:r>
            <a:endParaRPr lang="en-US" sz="1600"/>
          </a:p>
        </p:txBody>
      </p:sp>
      <p:sp>
        <p:nvSpPr>
          <p:cNvPr id="6" name="Shape 4">
            <a:extLst>
              <a:ext uri="{FF2B5EF4-FFF2-40B4-BE49-F238E27FC236}">
                <a16:creationId xmlns:a16="http://schemas.microsoft.com/office/drawing/2014/main" id="{063C43C3-4A2B-D66A-9649-81D71800413A}"/>
              </a:ext>
            </a:extLst>
          </p:cNvPr>
          <p:cNvSpPr/>
          <p:nvPr/>
        </p:nvSpPr>
        <p:spPr>
          <a:xfrm>
            <a:off x="731520" y="3474720"/>
            <a:ext cx="1828800" cy="27432"/>
          </a:xfrm>
          <a:prstGeom prst="rect">
            <a:avLst/>
          </a:prstGeom>
          <a:solidFill>
            <a:srgbClr val="D4A017"/>
          </a:solidFill>
          <a:ln/>
        </p:spPr>
        <p:txBody>
          <a:bodyPr/>
          <a:lstStyle/>
          <a:p>
            <a:endParaRPr lang="en-CH"/>
          </a:p>
        </p:txBody>
      </p:sp>
      <p:sp>
        <p:nvSpPr>
          <p:cNvPr id="7" name="Shape 5">
            <a:extLst>
              <a:ext uri="{FF2B5EF4-FFF2-40B4-BE49-F238E27FC236}">
                <a16:creationId xmlns:a16="http://schemas.microsoft.com/office/drawing/2014/main" id="{60EEDBE6-A681-F9B5-4D79-2A77E19FB502}"/>
              </a:ext>
            </a:extLst>
          </p:cNvPr>
          <p:cNvSpPr/>
          <p:nvPr/>
        </p:nvSpPr>
        <p:spPr>
          <a:xfrm>
            <a:off x="0" y="4914900"/>
            <a:ext cx="9144000" cy="228600"/>
          </a:xfrm>
          <a:prstGeom prst="rect">
            <a:avLst/>
          </a:prstGeom>
          <a:solidFill>
            <a:srgbClr val="1A1A1A"/>
          </a:solidFill>
          <a:ln/>
        </p:spPr>
        <p:txBody>
          <a:bodyPr/>
          <a:lstStyle/>
          <a:p>
            <a:endParaRPr lang="en-CH"/>
          </a:p>
        </p:txBody>
      </p:sp>
      <p:sp>
        <p:nvSpPr>
          <p:cNvPr id="8" name="Text 6">
            <a:extLst>
              <a:ext uri="{FF2B5EF4-FFF2-40B4-BE49-F238E27FC236}">
                <a16:creationId xmlns:a16="http://schemas.microsoft.com/office/drawing/2014/main" id="{562BA274-E790-46DD-C046-70B3279177A4}"/>
              </a:ext>
            </a:extLst>
          </p:cNvPr>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extLst>
      <p:ext uri="{BB962C8B-B14F-4D97-AF65-F5344CB8AC3E}">
        <p14:creationId xmlns:p14="http://schemas.microsoft.com/office/powerpoint/2010/main" val="1637295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295214" y="157562"/>
            <a:ext cx="7315200" cy="640080"/>
          </a:xfrm>
          <a:prstGeom prst="rect">
            <a:avLst/>
          </a:prstGeom>
          <a:noFill/>
          <a:ln/>
        </p:spPr>
        <p:txBody>
          <a:bodyPr wrap="square" lIns="0" tIns="0" rIns="0" bIns="0" rtlCol="0" anchor="ctr"/>
          <a:lstStyle/>
          <a:p>
            <a:r>
              <a:rPr lang="en-US" sz="3200" b="1">
                <a:solidFill>
                  <a:srgbClr val="FFFFFF"/>
                </a:solidFill>
                <a:latin typeface="Source Sans Pro"/>
                <a:ea typeface="Source Sans Pro"/>
              </a:rPr>
              <a:t>10 Year Projection</a:t>
            </a:r>
          </a:p>
        </p:txBody>
      </p:sp>
      <p:sp>
        <p:nvSpPr>
          <p:cNvPr id="19" name="Shape 17"/>
          <p:cNvSpPr/>
          <p:nvPr/>
        </p:nvSpPr>
        <p:spPr>
          <a:xfrm>
            <a:off x="0" y="4914900"/>
            <a:ext cx="9144000" cy="228600"/>
          </a:xfrm>
          <a:prstGeom prst="rect">
            <a:avLst/>
          </a:prstGeom>
          <a:solidFill>
            <a:srgbClr val="1A1A1A"/>
          </a:solidFill>
          <a:ln/>
        </p:spPr>
        <p:txBody>
          <a:bodyPr/>
          <a:lstStyle/>
          <a:p>
            <a:endParaRPr lang="en-CH"/>
          </a:p>
        </p:txBody>
      </p:sp>
      <p:sp>
        <p:nvSpPr>
          <p:cNvPr id="20" name="Text 18"/>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graphicFrame>
        <p:nvGraphicFramePr>
          <p:cNvPr id="12" name="Table 0">
            <a:extLst>
              <a:ext uri="{FF2B5EF4-FFF2-40B4-BE49-F238E27FC236}">
                <a16:creationId xmlns:a16="http://schemas.microsoft.com/office/drawing/2014/main" id="{541453E8-0208-72AB-2E8A-95E9AEB836E4}"/>
              </a:ext>
            </a:extLst>
          </p:cNvPr>
          <p:cNvGraphicFramePr>
            <a:graphicFrameLocks noGrp="1"/>
          </p:cNvGraphicFramePr>
          <p:nvPr>
            <p:extLst>
              <p:ext uri="{D42A27DB-BD31-4B8C-83A1-F6EECF244321}">
                <p14:modId xmlns:p14="http://schemas.microsoft.com/office/powerpoint/2010/main" val="2322746924"/>
              </p:ext>
            </p:extLst>
          </p:nvPr>
        </p:nvGraphicFramePr>
        <p:xfrm>
          <a:off x="214376" y="881922"/>
          <a:ext cx="8634414" cy="1552799"/>
        </p:xfrm>
        <a:graphic>
          <a:graphicData uri="http://schemas.openxmlformats.org/drawingml/2006/table">
            <a:tbl>
              <a:tblPr/>
              <a:tblGrid>
                <a:gridCol w="1734246">
                  <a:extLst>
                    <a:ext uri="{9D8B030D-6E8A-4147-A177-3AD203B41FA5}">
                      <a16:colId xmlns:a16="http://schemas.microsoft.com/office/drawing/2014/main" val="20000"/>
                    </a:ext>
                  </a:extLst>
                </a:gridCol>
                <a:gridCol w="627288">
                  <a:extLst>
                    <a:ext uri="{9D8B030D-6E8A-4147-A177-3AD203B41FA5}">
                      <a16:colId xmlns:a16="http://schemas.microsoft.com/office/drawing/2014/main" val="20001"/>
                    </a:ext>
                  </a:extLst>
                </a:gridCol>
                <a:gridCol w="627288">
                  <a:extLst>
                    <a:ext uri="{9D8B030D-6E8A-4147-A177-3AD203B41FA5}">
                      <a16:colId xmlns:a16="http://schemas.microsoft.com/office/drawing/2014/main" val="20002"/>
                    </a:ext>
                  </a:extLst>
                </a:gridCol>
                <a:gridCol w="627288">
                  <a:extLst>
                    <a:ext uri="{9D8B030D-6E8A-4147-A177-3AD203B41FA5}">
                      <a16:colId xmlns:a16="http://schemas.microsoft.com/office/drawing/2014/main" val="2406270126"/>
                    </a:ext>
                  </a:extLst>
                </a:gridCol>
                <a:gridCol w="627288">
                  <a:extLst>
                    <a:ext uri="{9D8B030D-6E8A-4147-A177-3AD203B41FA5}">
                      <a16:colId xmlns:a16="http://schemas.microsoft.com/office/drawing/2014/main" val="2435089421"/>
                    </a:ext>
                  </a:extLst>
                </a:gridCol>
                <a:gridCol w="627288">
                  <a:extLst>
                    <a:ext uri="{9D8B030D-6E8A-4147-A177-3AD203B41FA5}">
                      <a16:colId xmlns:a16="http://schemas.microsoft.com/office/drawing/2014/main" val="889037251"/>
                    </a:ext>
                  </a:extLst>
                </a:gridCol>
                <a:gridCol w="627288">
                  <a:extLst>
                    <a:ext uri="{9D8B030D-6E8A-4147-A177-3AD203B41FA5}">
                      <a16:colId xmlns:a16="http://schemas.microsoft.com/office/drawing/2014/main" val="421879896"/>
                    </a:ext>
                  </a:extLst>
                </a:gridCol>
                <a:gridCol w="627288">
                  <a:extLst>
                    <a:ext uri="{9D8B030D-6E8A-4147-A177-3AD203B41FA5}">
                      <a16:colId xmlns:a16="http://schemas.microsoft.com/office/drawing/2014/main" val="3170782922"/>
                    </a:ext>
                  </a:extLst>
                </a:gridCol>
                <a:gridCol w="627288">
                  <a:extLst>
                    <a:ext uri="{9D8B030D-6E8A-4147-A177-3AD203B41FA5}">
                      <a16:colId xmlns:a16="http://schemas.microsoft.com/office/drawing/2014/main" val="463350797"/>
                    </a:ext>
                  </a:extLst>
                </a:gridCol>
                <a:gridCol w="627288">
                  <a:extLst>
                    <a:ext uri="{9D8B030D-6E8A-4147-A177-3AD203B41FA5}">
                      <a16:colId xmlns:a16="http://schemas.microsoft.com/office/drawing/2014/main" val="2107283492"/>
                    </a:ext>
                  </a:extLst>
                </a:gridCol>
                <a:gridCol w="627288">
                  <a:extLst>
                    <a:ext uri="{9D8B030D-6E8A-4147-A177-3AD203B41FA5}">
                      <a16:colId xmlns:a16="http://schemas.microsoft.com/office/drawing/2014/main" val="3132560078"/>
                    </a:ext>
                  </a:extLst>
                </a:gridCol>
                <a:gridCol w="627288">
                  <a:extLst>
                    <a:ext uri="{9D8B030D-6E8A-4147-A177-3AD203B41FA5}">
                      <a16:colId xmlns:a16="http://schemas.microsoft.com/office/drawing/2014/main" val="1658177454"/>
                    </a:ext>
                  </a:extLst>
                </a:gridCol>
              </a:tblGrid>
              <a:tr h="354724">
                <a:tc>
                  <a:txBody>
                    <a:bodyPr/>
                    <a:lstStyle/>
                    <a:p>
                      <a:pPr marL="0" indent="0" algn="l">
                        <a:buNone/>
                      </a:pPr>
                      <a:r>
                        <a:rPr lang="en-US" sz="1000" b="1">
                          <a:solidFill>
                            <a:srgbClr val="0D0D0D"/>
                          </a:solidFill>
                          <a:latin typeface="Source Sans Pro"/>
                          <a:ea typeface="Source Sans Pro"/>
                          <a:cs typeface="Source Sans Pro" charset="0"/>
                        </a:rPr>
                        <a:t>Metric</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4D9DE5"/>
                    </a:solidFill>
                  </a:tcPr>
                </a:tc>
                <a:tc>
                  <a:txBody>
                    <a:bodyPr/>
                    <a:lstStyle/>
                    <a:p>
                      <a:pPr marL="0" indent="0" algn="ctr">
                        <a:buNone/>
                      </a:pPr>
                      <a:r>
                        <a:rPr lang="en-US" sz="1000" b="1" i="1">
                          <a:solidFill>
                            <a:srgbClr val="0D0D0D"/>
                          </a:solidFill>
                          <a:latin typeface="Source Sans Pro"/>
                          <a:ea typeface="Source Sans Pro"/>
                          <a:cs typeface="Source Sans Pro" charset="0"/>
                        </a:rPr>
                        <a:t>2045</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4D9DE5"/>
                    </a:solidFill>
                  </a:tcPr>
                </a:tc>
                <a:tc>
                  <a:txBody>
                    <a:bodyPr/>
                    <a:lstStyle/>
                    <a:p>
                      <a:pPr marL="0" indent="0" algn="ctr">
                        <a:buNone/>
                      </a:pPr>
                      <a:r>
                        <a:rPr lang="en-US" sz="1000" b="1" i="1">
                          <a:solidFill>
                            <a:srgbClr val="0D0D0D"/>
                          </a:solidFill>
                          <a:latin typeface="Source Sans Pro"/>
                          <a:ea typeface="Source Sans Pro"/>
                          <a:cs typeface="Source Sans Pro" charset="0"/>
                        </a:rPr>
                        <a:t>2046</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2047</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2048</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2049</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2050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2051</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2052</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2053</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i="1">
                          <a:solidFill>
                            <a:srgbClr val="0D0D0D"/>
                          </a:solidFill>
                          <a:latin typeface="Source Sans Pro"/>
                          <a:ea typeface="Source Sans Pro"/>
                          <a:cs typeface="Source Sans Pro" charset="0"/>
                        </a:rPr>
                        <a:t>2054</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4D9DE5"/>
                    </a:solidFill>
                  </a:tcPr>
                </a:tc>
                <a:tc>
                  <a:txBody>
                    <a:bodyPr/>
                    <a:lstStyle/>
                    <a:p>
                      <a:pPr marL="0" lvl="0" indent="0" algn="ctr">
                        <a:buNone/>
                      </a:pPr>
                      <a:r>
                        <a:rPr lang="en-US" sz="1000" b="1">
                          <a:solidFill>
                            <a:srgbClr val="0D0D0D"/>
                          </a:solidFill>
                          <a:latin typeface="Source Sans Pro"/>
                          <a:ea typeface="Source Sans Pro"/>
                          <a:cs typeface="Source Sans Pro" charset="0"/>
                        </a:rPr>
                        <a:t>Total</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4D9DE5"/>
                    </a:solidFill>
                  </a:tcPr>
                </a:tc>
                <a:extLst>
                  <a:ext uri="{0D108BD9-81ED-4DB2-BD59-A6C34878D82A}">
                    <a16:rowId xmlns:a16="http://schemas.microsoft.com/office/drawing/2014/main" val="10000"/>
                  </a:ext>
                </a:extLst>
              </a:tr>
              <a:tr h="289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chemeClr val="bg2"/>
                          </a:solidFill>
                          <a:latin typeface="Source Sans Pro"/>
                          <a:ea typeface="Source Sans Pro"/>
                        </a:rPr>
                        <a:t>EBITDA (£ M)</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ctr">
                        <a:buNone/>
                      </a:pPr>
                      <a:r>
                        <a:rPr lang="en-US" sz="1000" b="0">
                          <a:solidFill>
                            <a:schemeClr val="bg2"/>
                          </a:solidFill>
                          <a:latin typeface="Source Sans Pro"/>
                          <a:ea typeface="Source Sans Pro"/>
                          <a:cs typeface="Source Sans Pro" charset="0"/>
                        </a:rPr>
                        <a:t>7.78</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ctr">
                        <a:buNone/>
                      </a:pPr>
                      <a:r>
                        <a:rPr lang="en-US" sz="1000" b="0">
                          <a:solidFill>
                            <a:schemeClr val="bg2"/>
                          </a:solidFill>
                          <a:latin typeface="Source Sans Pro"/>
                          <a:ea typeface="Source Sans Pro"/>
                          <a:cs typeface="Source Sans Pro" charset="0"/>
                        </a:rPr>
                        <a:t>12.61</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16.70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19.52</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21.94</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25.39</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29.45</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32.75</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37.03</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39.55</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1">
                          <a:solidFill>
                            <a:schemeClr val="bg2"/>
                          </a:solidFill>
                          <a:latin typeface="Source Sans Pro"/>
                          <a:ea typeface="Source Sans Pro"/>
                          <a:cs typeface="Source Sans Pro" charset="0"/>
                        </a:rPr>
                        <a:t>242.72</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1A1A1A"/>
                    </a:solidFill>
                  </a:tcPr>
                </a:tc>
                <a:extLst>
                  <a:ext uri="{0D108BD9-81ED-4DB2-BD59-A6C34878D82A}">
                    <a16:rowId xmlns:a16="http://schemas.microsoft.com/office/drawing/2014/main" val="10001"/>
                  </a:ext>
                </a:extLst>
              </a:tr>
              <a:tr h="289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chemeClr val="bg2"/>
                          </a:solidFill>
                          <a:latin typeface="Source Sans Pro"/>
                          <a:ea typeface="Source Sans Pro"/>
                          <a:cs typeface="Source Sans Pro" charset="0"/>
                        </a:rPr>
                        <a:t>Recurring Costs (£ M)</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indent="0" algn="ctr">
                        <a:buNone/>
                      </a:pPr>
                      <a:r>
                        <a:rPr lang="en-US" sz="1000" b="0">
                          <a:solidFill>
                            <a:schemeClr val="bg2"/>
                          </a:solidFill>
                          <a:latin typeface="Source Sans Pro"/>
                          <a:ea typeface="Source Sans Pro"/>
                          <a:cs typeface="Source Sans Pro" charset="0"/>
                        </a:rPr>
                        <a:t>3.70</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indent="0" algn="ctr">
                        <a:buNone/>
                      </a:pPr>
                      <a:r>
                        <a:rPr lang="en-US" sz="1000" b="0">
                          <a:solidFill>
                            <a:schemeClr val="bg2"/>
                          </a:solidFill>
                          <a:latin typeface="Source Sans Pro"/>
                          <a:ea typeface="Source Sans Pro"/>
                          <a:cs typeface="Source Sans Pro" charset="0"/>
                        </a:rPr>
                        <a:t>3.70</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0">
                          <a:solidFill>
                            <a:schemeClr val="bg2"/>
                          </a:solidFill>
                          <a:latin typeface="Source Sans Pro"/>
                          <a:ea typeface="Source Sans Pro"/>
                          <a:cs typeface="Source Sans Pro" charset="0"/>
                        </a:rPr>
                        <a:t>3.70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F1F1F"/>
                    </a:solidFill>
                  </a:tcPr>
                </a:tc>
                <a:tc>
                  <a:txBody>
                    <a:bodyPr/>
                    <a:lstStyle/>
                    <a:p>
                      <a:pPr marL="0" lvl="0" indent="0" algn="ctr">
                        <a:buNone/>
                      </a:pPr>
                      <a:r>
                        <a:rPr lang="en-US" sz="1000" b="1">
                          <a:solidFill>
                            <a:schemeClr val="bg2"/>
                          </a:solidFill>
                          <a:latin typeface="Source Sans Pro"/>
                          <a:ea typeface="Source Sans Pro"/>
                          <a:cs typeface="Source Sans Pro" charset="0"/>
                        </a:rPr>
                        <a:t>37.00</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1F1F1F"/>
                    </a:solidFill>
                  </a:tcPr>
                </a:tc>
                <a:extLst>
                  <a:ext uri="{0D108BD9-81ED-4DB2-BD59-A6C34878D82A}">
                    <a16:rowId xmlns:a16="http://schemas.microsoft.com/office/drawing/2014/main" val="1000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chemeClr val="bg2"/>
                          </a:solidFill>
                          <a:latin typeface="Source Sans Pro"/>
                          <a:ea typeface="Source Sans Pro"/>
                          <a:cs typeface="Source Sans Pro" charset="0"/>
                        </a:rPr>
                        <a:t>Net Cash Flow  (£ M)</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ctr">
                        <a:buNone/>
                      </a:pPr>
                      <a:r>
                        <a:rPr lang="en-US" sz="1000" b="0">
                          <a:solidFill>
                            <a:schemeClr val="bg2"/>
                          </a:solidFill>
                          <a:latin typeface="Source Sans Pro"/>
                          <a:ea typeface="Source Sans Pro"/>
                          <a:cs typeface="Source Sans Pro" charset="0"/>
                        </a:rPr>
                        <a:t>4.08</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indent="0" algn="ctr">
                        <a:buNone/>
                      </a:pPr>
                      <a:r>
                        <a:rPr lang="en-US" sz="1000" b="0">
                          <a:solidFill>
                            <a:schemeClr val="bg2"/>
                          </a:solidFill>
                          <a:latin typeface="Source Sans Pro"/>
                          <a:ea typeface="Source Sans Pro"/>
                          <a:cs typeface="Source Sans Pro" charset="0"/>
                        </a:rPr>
                        <a:t>8.91</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13.00</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15.82</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18.24</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21.69</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25.75</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29.05</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33.33</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0">
                          <a:solidFill>
                            <a:schemeClr val="bg2"/>
                          </a:solidFill>
                          <a:latin typeface="Source Sans Pro"/>
                          <a:ea typeface="Source Sans Pro"/>
                          <a:cs typeface="Source Sans Pro" charset="0"/>
                        </a:rPr>
                        <a:t>35.85</a:t>
                      </a:r>
                    </a:p>
                  </a:txBody>
                  <a:tcPr anchor="ctr">
                    <a:lnL w="6350">
                      <a:solidFill>
                        <a:srgbClr val="333333"/>
                      </a:solidFill>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1A1A1A"/>
                    </a:solidFill>
                  </a:tcPr>
                </a:tc>
                <a:tc>
                  <a:txBody>
                    <a:bodyPr/>
                    <a:lstStyle/>
                    <a:p>
                      <a:pPr marL="0" lvl="0" indent="0" algn="ctr">
                        <a:buNone/>
                      </a:pPr>
                      <a:r>
                        <a:rPr lang="en-US" sz="1000" b="1">
                          <a:solidFill>
                            <a:schemeClr val="bg2"/>
                          </a:solidFill>
                          <a:latin typeface="Source Sans Pro"/>
                          <a:ea typeface="Source Sans Pro"/>
                          <a:cs typeface="Source Sans Pro" charset="0"/>
                        </a:rPr>
                        <a:t>205.72</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1A1A1A"/>
                    </a:solidFill>
                  </a:tcPr>
                </a:tc>
                <a:extLst>
                  <a:ext uri="{0D108BD9-81ED-4DB2-BD59-A6C34878D82A}">
                    <a16:rowId xmlns:a16="http://schemas.microsoft.com/office/drawing/2014/main" val="10003"/>
                  </a:ext>
                </a:extLst>
              </a:tr>
              <a:tr h="374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chemeClr val="tx1"/>
                          </a:solidFill>
                          <a:latin typeface="Source Sans Pro"/>
                          <a:ea typeface="Source Sans Pro"/>
                        </a:rPr>
                        <a:t>Cumulative Cash Flow (£ M)</a:t>
                      </a:r>
                      <a:endParaRPr lang="en-US" sz="1000" b="1">
                        <a:solidFill>
                          <a:schemeClr val="tx1"/>
                        </a:solidFill>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4A017"/>
                    </a:solidFill>
                  </a:tcPr>
                </a:tc>
                <a:tc>
                  <a:txBody>
                    <a:bodyPr/>
                    <a:lstStyle/>
                    <a:p>
                      <a:pPr marL="0" indent="0" algn="ctr">
                        <a:buNone/>
                      </a:pPr>
                      <a:r>
                        <a:rPr lang="en-US" sz="1000" b="1">
                          <a:solidFill>
                            <a:srgbClr val="0D0D0D"/>
                          </a:solidFill>
                          <a:latin typeface="Source Sans Pro"/>
                          <a:ea typeface="Source Sans Pro"/>
                          <a:cs typeface="Source Sans Pro" charset="0"/>
                        </a:rPr>
                        <a:t>4.08</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4A017"/>
                    </a:solidFill>
                  </a:tcPr>
                </a:tc>
                <a:tc>
                  <a:txBody>
                    <a:bodyPr/>
                    <a:lstStyle/>
                    <a:p>
                      <a:pPr marL="0" indent="0" algn="ctr">
                        <a:buNone/>
                      </a:pPr>
                      <a:r>
                        <a:rPr lang="en-US" sz="1000" b="1">
                          <a:latin typeface="Source Sans Pro"/>
                          <a:ea typeface="Source Sans Pro"/>
                          <a:cs typeface="Source Sans Pro" charset="0"/>
                        </a:rPr>
                        <a:t>12.99</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D4A017"/>
                    </a:solidFill>
                  </a:tcPr>
                </a:tc>
                <a:tc>
                  <a:txBody>
                    <a:bodyPr/>
                    <a:lstStyle/>
                    <a:p>
                      <a:pPr marL="0" lvl="0" indent="0" algn="ctr">
                        <a:buNone/>
                      </a:pPr>
                      <a:r>
                        <a:rPr lang="en-US" sz="1000" b="1">
                          <a:latin typeface="Source Sans Pro"/>
                          <a:ea typeface="Source Sans Pro"/>
                          <a:cs typeface="Source Sans Pro" charset="0"/>
                        </a:rPr>
                        <a:t>25.99</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41.81</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60.05</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81.74</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107.49</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136.54</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169.87</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205.72</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a:solidFill>
                        <a:srgbClr val="333333"/>
                      </a:solidFill>
                    </a:lnT>
                    <a:lnB w="6350">
                      <a:solidFill>
                        <a:srgbClr val="333333"/>
                      </a:solidFill>
                    </a:lnB>
                    <a:solidFill>
                      <a:srgbClr val="D4A017"/>
                    </a:solidFill>
                  </a:tcPr>
                </a:tc>
                <a:tc>
                  <a:txBody>
                    <a:bodyPr/>
                    <a:lstStyle/>
                    <a:p>
                      <a:pPr marL="0" lvl="0" indent="0" algn="ctr">
                        <a:buNone/>
                      </a:pPr>
                      <a:r>
                        <a:rPr lang="en-US" sz="1000" b="1">
                          <a:latin typeface="Source Sans Pro"/>
                          <a:ea typeface="Source Sans Pro"/>
                          <a:cs typeface="Source Sans Pro" charset="0"/>
                        </a:rPr>
                        <a:t>-</a:t>
                      </a:r>
                    </a:p>
                  </a:txBody>
                  <a:tcPr anchor="ctr">
                    <a:lnL w="6350" cap="flat" cmpd="sng" algn="ctr">
                      <a:solidFill>
                        <a:srgbClr val="333333"/>
                      </a:solidFill>
                      <a:prstDash val="solid"/>
                      <a:round/>
                      <a:headEnd type="none" w="med" len="med"/>
                      <a:tailEnd type="none" w="med" len="med"/>
                    </a:lnL>
                    <a:lnR w="6350">
                      <a:solidFill>
                        <a:srgbClr val="333333"/>
                      </a:solidFill>
                    </a:lnR>
                    <a:lnT w="6350">
                      <a:solidFill>
                        <a:srgbClr val="333333"/>
                      </a:solidFill>
                    </a:lnT>
                    <a:lnB w="6350">
                      <a:solidFill>
                        <a:srgbClr val="333333"/>
                      </a:solidFill>
                    </a:lnB>
                    <a:solidFill>
                      <a:srgbClr val="D4A017"/>
                    </a:solidFill>
                  </a:tcPr>
                </a:tc>
                <a:extLst>
                  <a:ext uri="{0D108BD9-81ED-4DB2-BD59-A6C34878D82A}">
                    <a16:rowId xmlns:a16="http://schemas.microsoft.com/office/drawing/2014/main" val="10006"/>
                  </a:ext>
                </a:extLst>
              </a:tr>
            </a:tbl>
          </a:graphicData>
        </a:graphic>
      </p:graphicFrame>
      <p:graphicFrame>
        <p:nvGraphicFramePr>
          <p:cNvPr id="16" name="Table 0">
            <a:extLst>
              <a:ext uri="{FF2B5EF4-FFF2-40B4-BE49-F238E27FC236}">
                <a16:creationId xmlns:a16="http://schemas.microsoft.com/office/drawing/2014/main" id="{902F6496-D58F-DDAE-C2D1-3EFB0F4F8B2E}"/>
              </a:ext>
            </a:extLst>
          </p:cNvPr>
          <p:cNvGraphicFramePr>
            <a:graphicFrameLocks noGrp="1"/>
          </p:cNvGraphicFramePr>
          <p:nvPr>
            <p:extLst>
              <p:ext uri="{D42A27DB-BD31-4B8C-83A1-F6EECF244321}">
                <p14:modId xmlns:p14="http://schemas.microsoft.com/office/powerpoint/2010/main" val="230134128"/>
              </p:ext>
            </p:extLst>
          </p:nvPr>
        </p:nvGraphicFramePr>
        <p:xfrm>
          <a:off x="1574758" y="2571750"/>
          <a:ext cx="5913649" cy="1920240"/>
        </p:xfrm>
        <a:graphic>
          <a:graphicData uri="http://schemas.openxmlformats.org/drawingml/2006/table">
            <a:tbl>
              <a:tblPr/>
              <a:tblGrid>
                <a:gridCol w="1845733">
                  <a:extLst>
                    <a:ext uri="{9D8B030D-6E8A-4147-A177-3AD203B41FA5}">
                      <a16:colId xmlns:a16="http://schemas.microsoft.com/office/drawing/2014/main" val="20000"/>
                    </a:ext>
                  </a:extLst>
                </a:gridCol>
                <a:gridCol w="2845557">
                  <a:extLst>
                    <a:ext uri="{9D8B030D-6E8A-4147-A177-3AD203B41FA5}">
                      <a16:colId xmlns:a16="http://schemas.microsoft.com/office/drawing/2014/main" val="3578466710"/>
                    </a:ext>
                  </a:extLst>
                </a:gridCol>
                <a:gridCol w="1222359">
                  <a:extLst>
                    <a:ext uri="{9D8B030D-6E8A-4147-A177-3AD203B41FA5}">
                      <a16:colId xmlns:a16="http://schemas.microsoft.com/office/drawing/2014/main" val="20002"/>
                    </a:ext>
                  </a:extLst>
                </a:gridCol>
              </a:tblGrid>
              <a:tr h="320040">
                <a:tc>
                  <a:txBody>
                    <a:bodyPr/>
                    <a:lstStyle/>
                    <a:p>
                      <a:pPr marL="0" indent="0">
                        <a:buNone/>
                      </a:pPr>
                      <a:r>
                        <a:rPr lang="en-US" sz="1100" b="1">
                          <a:solidFill>
                            <a:srgbClr val="0D0D0D"/>
                          </a:solidFill>
                          <a:latin typeface="Source Sans Pro"/>
                          <a:ea typeface="Source Sans Pro"/>
                          <a:cs typeface="Source Sans Pro" charset="0"/>
                        </a:rPr>
                        <a:t>Metric </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00B050"/>
                    </a:solidFill>
                  </a:tcPr>
                </a:tc>
                <a:tc>
                  <a:txBody>
                    <a:bodyPr/>
                    <a:lstStyle/>
                    <a:p>
                      <a:pPr marL="0" lvl="0" indent="0">
                        <a:buNone/>
                      </a:pPr>
                      <a:r>
                        <a:rPr lang="en-US" sz="1100" b="1">
                          <a:solidFill>
                            <a:srgbClr val="0D0D0D"/>
                          </a:solidFill>
                          <a:latin typeface="Source Sans Pro"/>
                          <a:ea typeface="Source Sans Pro"/>
                          <a:cs typeface="Source Sans Pro" charset="0"/>
                        </a:rPr>
                        <a:t>Description</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00B050"/>
                    </a:solidFill>
                  </a:tcPr>
                </a:tc>
                <a:tc>
                  <a:txBody>
                    <a:bodyPr/>
                    <a:lstStyle/>
                    <a:p>
                      <a:pPr marL="0" indent="0">
                        <a:buNone/>
                      </a:pPr>
                      <a:r>
                        <a:rPr lang="en-US" sz="1100" b="1">
                          <a:solidFill>
                            <a:srgbClr val="0D0D0D"/>
                          </a:solidFill>
                          <a:latin typeface="Source Sans Pro"/>
                          <a:ea typeface="Source Sans Pro"/>
                          <a:cs typeface="Source Sans Pro" charset="0"/>
                        </a:rPr>
                        <a:t>Value (£ M)</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20040">
                <a:tc>
                  <a:txBody>
                    <a:bodyPr/>
                    <a:lstStyle/>
                    <a:p>
                      <a:pPr marL="0" lvl="0" indent="0">
                        <a:buNone/>
                      </a:pPr>
                      <a:r>
                        <a:rPr lang="en-US" sz="1000" b="0" i="0" u="none" strike="noStrike" noProof="0">
                          <a:solidFill>
                            <a:schemeClr val="bg2"/>
                          </a:solidFill>
                        </a:rPr>
                        <a:t>Total Non-Recurring Investment</a:t>
                      </a:r>
                      <a:endParaRPr lang="en-US">
                        <a:solidFill>
                          <a:schemeClr val="bg2"/>
                        </a:solidFill>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lvl="0" indent="0">
                        <a:buNone/>
                      </a:pPr>
                      <a:r>
                        <a:rPr lang="en-US" sz="1000" b="0" i="0" u="none" strike="noStrike" noProof="0">
                          <a:solidFill>
                            <a:schemeClr val="bg2"/>
                          </a:solidFill>
                          <a:latin typeface="Calibri"/>
                          <a:ea typeface="Calibri"/>
                          <a:cs typeface="Calibri"/>
                        </a:rPr>
                        <a:t>Non-Recurring Cost Analysis</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1A1A1A"/>
                    </a:solidFill>
                  </a:tcPr>
                </a:tc>
                <a:tc>
                  <a:txBody>
                    <a:bodyPr/>
                    <a:lstStyle/>
                    <a:p>
                      <a:pPr marL="0" indent="0" algn="ctr">
                        <a:buNone/>
                      </a:pPr>
                      <a:r>
                        <a:rPr lang="en-US" sz="1000">
                          <a:solidFill>
                            <a:schemeClr val="bg2"/>
                          </a:solidFill>
                          <a:latin typeface="Source Sans Pro"/>
                          <a:ea typeface="Source Sans Pro"/>
                          <a:cs typeface="Source Sans Pro" charset="0"/>
                        </a:rPr>
                        <a:t>69.50</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320040">
                <a:tc>
                  <a:txBody>
                    <a:bodyPr/>
                    <a:lstStyle/>
                    <a:p>
                      <a:pPr marL="0" lvl="0" indent="0">
                        <a:buNone/>
                      </a:pPr>
                      <a:r>
                        <a:rPr lang="en-US" sz="1000" b="0" i="0" u="none" strike="noStrike" noProof="0">
                          <a:solidFill>
                            <a:schemeClr val="bg2"/>
                          </a:solidFill>
                        </a:rPr>
                        <a:t>Total Revenue (10 yr)</a:t>
                      </a:r>
                      <a:endParaRPr lang="en-US">
                        <a:solidFill>
                          <a:schemeClr val="bg2"/>
                        </a:solidFill>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marL="0" lvl="0" indent="0">
                        <a:buNone/>
                      </a:pPr>
                      <a:r>
                        <a:rPr lang="en-US" sz="1000" b="0" i="0" u="none" strike="noStrike" noProof="0">
                          <a:solidFill>
                            <a:schemeClr val="bg2"/>
                          </a:solidFill>
                        </a:rPr>
                        <a:t>10-Year Projection Analysis</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1A1A1A"/>
                    </a:solidFill>
                  </a:tcPr>
                </a:tc>
                <a:tc>
                  <a:txBody>
                    <a:bodyPr/>
                    <a:lstStyle/>
                    <a:p>
                      <a:pPr marL="0" lvl="0" indent="0" algn="ctr">
                        <a:buNone/>
                      </a:pPr>
                      <a:r>
                        <a:rPr lang="en-US" sz="1000" b="0" i="0" u="none" strike="noStrike" noProof="0">
                          <a:solidFill>
                            <a:schemeClr val="bg2"/>
                          </a:solidFill>
                        </a:rPr>
                        <a:t>242.72</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320040">
                <a:tc>
                  <a:txBody>
                    <a:bodyPr/>
                    <a:lstStyle/>
                    <a:p>
                      <a:pPr marL="0" lvl="0" indent="0">
                        <a:buNone/>
                      </a:pPr>
                      <a:r>
                        <a:rPr lang="en-US" sz="1000" b="0" i="0" u="none" strike="noStrike" noProof="0">
                          <a:solidFill>
                            <a:schemeClr val="bg2"/>
                          </a:solidFill>
                        </a:rPr>
                        <a:t>Total Recurring Costs (30 yr)</a:t>
                      </a:r>
                      <a:endParaRPr lang="en-US">
                        <a:solidFill>
                          <a:schemeClr val="bg2"/>
                        </a:solidFill>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tc>
                  <a:txBody>
                    <a:bodyPr/>
                    <a:lstStyle/>
                    <a:p>
                      <a:pPr marL="0" lvl="0" indent="0">
                        <a:buNone/>
                      </a:pPr>
                      <a:r>
                        <a:rPr lang="en-US" sz="1000" b="0" i="0" u="none" strike="noStrike" noProof="0">
                          <a:solidFill>
                            <a:schemeClr val="bg2"/>
                          </a:solidFill>
                        </a:rPr>
                        <a:t>30-Year Projection Analysis</a:t>
                      </a:r>
                    </a:p>
                  </a:txBody>
                  <a:tcPr anchor="ctr">
                    <a:lnL w="6350">
                      <a:solidFill>
                        <a:srgbClr val="333333"/>
                      </a:solidFill>
                    </a:lnL>
                    <a:lnR w="6350">
                      <a:solidFill>
                        <a:srgbClr val="333333"/>
                      </a:solidFill>
                    </a:lnR>
                    <a:lnT w="6350">
                      <a:solidFill>
                        <a:srgbClr val="333333"/>
                      </a:solidFill>
                    </a:lnT>
                    <a:lnB w="6350">
                      <a:solidFill>
                        <a:srgbClr val="333333"/>
                      </a:solidFill>
                    </a:lnB>
                    <a:solidFill>
                      <a:srgbClr val="1F1F1F"/>
                    </a:solidFill>
                  </a:tcPr>
                </a:tc>
                <a:tc>
                  <a:txBody>
                    <a:bodyPr/>
                    <a:lstStyle/>
                    <a:p>
                      <a:pPr marL="0" lvl="0" indent="0" algn="ctr">
                        <a:buNone/>
                      </a:pPr>
                      <a:r>
                        <a:rPr lang="en-US" sz="1000" b="0" i="0" u="none" strike="noStrike" noProof="0">
                          <a:solidFill>
                            <a:schemeClr val="bg2"/>
                          </a:solidFill>
                        </a:rPr>
                        <a:t>81.50</a:t>
                      </a: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F1F1F"/>
                    </a:solidFill>
                  </a:tcPr>
                </a:tc>
                <a:extLst>
                  <a:ext uri="{0D108BD9-81ED-4DB2-BD59-A6C34878D82A}">
                    <a16:rowId xmlns:a16="http://schemas.microsoft.com/office/drawing/2014/main" val="10004"/>
                  </a:ext>
                </a:extLst>
              </a:tr>
              <a:tr h="320040">
                <a:tc>
                  <a:txBody>
                    <a:bodyPr/>
                    <a:lstStyle/>
                    <a:p>
                      <a:pPr marL="0" lvl="0" indent="0">
                        <a:buNone/>
                      </a:pPr>
                      <a:r>
                        <a:rPr lang="en-US" sz="1000" b="0" i="0" u="none" strike="noStrike" noProof="0">
                          <a:solidFill>
                            <a:schemeClr val="bg2"/>
                          </a:solidFill>
                        </a:rPr>
                        <a:t>Net Profit</a:t>
                      </a:r>
                      <a:endParaRPr lang="en-US">
                        <a:solidFill>
                          <a:schemeClr val="bg2"/>
                        </a:solidFill>
                      </a:endParaRPr>
                    </a:p>
                  </a:txBody>
                  <a:tcPr anchor="ctr">
                    <a:lnL w="6350">
                      <a:solidFill>
                        <a:srgbClr val="333333"/>
                      </a:solidFill>
                    </a:lnL>
                    <a:lnR w="6350">
                      <a:solidFill>
                        <a:srgbClr val="333333"/>
                      </a:solidFill>
                    </a:lnR>
                    <a:lnT w="6350">
                      <a:solidFill>
                        <a:srgbClr val="333333"/>
                      </a:solidFill>
                    </a:lnT>
                    <a:lnB w="28575" cap="flat" cmpd="sng" algn="ctr">
                      <a:solidFill>
                        <a:schemeClr val="tx1"/>
                      </a:solidFill>
                      <a:prstDash val="solid"/>
                      <a:round/>
                      <a:headEnd type="none" w="med" len="med"/>
                      <a:tailEnd type="none" w="med" len="med"/>
                    </a:lnB>
                    <a:solidFill>
                      <a:srgbClr val="1F1F1F"/>
                    </a:solidFill>
                  </a:tcPr>
                </a:tc>
                <a:tc>
                  <a:txBody>
                    <a:bodyPr/>
                    <a:lstStyle/>
                    <a:p>
                      <a:pPr marL="0" lvl="0" indent="0">
                        <a:buNone/>
                      </a:pPr>
                      <a:r>
                        <a:rPr lang="en-US" sz="1000" b="0" i="0" u="none" strike="noStrike" noProof="0">
                          <a:solidFill>
                            <a:schemeClr val="bg2"/>
                          </a:solidFill>
                        </a:rPr>
                        <a:t>Revenue minus all costs</a:t>
                      </a:r>
                    </a:p>
                  </a:txBody>
                  <a:tcPr anchor="ctr">
                    <a:lnL w="6350">
                      <a:solidFill>
                        <a:srgbClr val="333333"/>
                      </a:solidFill>
                    </a:lnL>
                    <a:lnR w="6350">
                      <a:solidFill>
                        <a:srgbClr val="333333"/>
                      </a:solidFill>
                    </a:lnR>
                    <a:lnT w="6350">
                      <a:solidFill>
                        <a:srgbClr val="333333"/>
                      </a:solidFill>
                    </a:lnT>
                    <a:lnB w="28575" cap="flat" cmpd="sng" algn="ctr">
                      <a:solidFill>
                        <a:schemeClr val="tx1"/>
                      </a:solidFill>
                      <a:prstDash val="solid"/>
                      <a:round/>
                      <a:headEnd type="none" w="med" len="med"/>
                      <a:tailEnd type="none" w="med" len="med"/>
                    </a:lnB>
                    <a:solidFill>
                      <a:srgbClr val="1F1F1F"/>
                    </a:solidFill>
                  </a:tcPr>
                </a:tc>
                <a:tc>
                  <a:txBody>
                    <a:bodyPr/>
                    <a:lstStyle/>
                    <a:p>
                      <a:pPr marL="0" lvl="0" indent="0" algn="ctr">
                        <a:buNone/>
                      </a:pPr>
                      <a:r>
                        <a:rPr lang="en-US" sz="1000" b="0" i="0" u="none" strike="noStrike" noProof="0">
                          <a:solidFill>
                            <a:schemeClr val="bg2"/>
                          </a:solidFill>
                        </a:rPr>
                        <a:t>91.72</a:t>
                      </a:r>
                    </a:p>
                  </a:txBody>
                  <a:tcPr anchor="ctr">
                    <a:lnL w="6350" cap="flat" cmpd="sng" algn="ctr">
                      <a:solidFill>
                        <a:srgbClr val="333333"/>
                      </a:solidFill>
                      <a:prstDash val="solid"/>
                      <a:round/>
                      <a:headEnd type="none" w="med" len="med"/>
                      <a:tailEnd type="none" w="med" len="med"/>
                    </a:lnL>
                    <a:lnR w="6350">
                      <a:solidFill>
                        <a:srgbClr val="333333"/>
                      </a:solidFill>
                    </a:lnR>
                    <a:lnT w="6350" cap="flat" cmpd="sng" algn="ctr">
                      <a:solidFill>
                        <a:srgbClr val="333333"/>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1F1F1F"/>
                    </a:solidFill>
                  </a:tcPr>
                </a:tc>
                <a:extLst>
                  <a:ext uri="{0D108BD9-81ED-4DB2-BD59-A6C34878D82A}">
                    <a16:rowId xmlns:a16="http://schemas.microsoft.com/office/drawing/2014/main" val="3549688213"/>
                  </a:ext>
                </a:extLst>
              </a:tr>
              <a:tr h="320040">
                <a:tc>
                  <a:txBody>
                    <a:bodyPr/>
                    <a:lstStyle/>
                    <a:p>
                      <a:pPr marL="0" lvl="0" indent="0">
                        <a:buNone/>
                      </a:pPr>
                      <a:r>
                        <a:rPr lang="en-US" sz="1000" b="0" i="0" u="none" strike="noStrike" noProof="0">
                          <a:solidFill>
                            <a:schemeClr val="bg2"/>
                          </a:solidFill>
                        </a:rPr>
                        <a:t>ROI</a:t>
                      </a:r>
                    </a:p>
                  </a:txBody>
                  <a:tcPr anchor="ctr">
                    <a:lnL w="6350">
                      <a:solidFill>
                        <a:srgbClr val="333333"/>
                      </a:solidFill>
                    </a:lnL>
                    <a:lnR w="6350">
                      <a:solidFill>
                        <a:srgbClr val="333333"/>
                      </a:solidFill>
                    </a:lnR>
                    <a:lnT w="28575" cap="flat" cmpd="sng" algn="ctr">
                      <a:solidFill>
                        <a:schemeClr val="tx1"/>
                      </a:solidFill>
                      <a:prstDash val="solid"/>
                      <a:round/>
                      <a:headEnd type="none" w="med" len="med"/>
                      <a:tailEnd type="none" w="med" len="med"/>
                    </a:lnT>
                    <a:lnB w="6350">
                      <a:solidFill>
                        <a:srgbClr val="333333"/>
                      </a:solidFill>
                    </a:lnB>
                    <a:solidFill>
                      <a:srgbClr val="1F1F1F"/>
                    </a:solidFill>
                  </a:tcPr>
                </a:tc>
                <a:tc>
                  <a:txBody>
                    <a:bodyPr/>
                    <a:lstStyle/>
                    <a:p>
                      <a:pPr marL="0" lvl="0" indent="0">
                        <a:buNone/>
                      </a:pPr>
                      <a:r>
                        <a:rPr lang="en-US" sz="1000" b="0" i="0" u="none" strike="noStrike" noProof="0">
                          <a:solidFill>
                            <a:schemeClr val="bg2"/>
                          </a:solidFill>
                        </a:rPr>
                        <a:t>(Net Profit / Total Investment) x 100 - 100</a:t>
                      </a:r>
                    </a:p>
                  </a:txBody>
                  <a:tcPr anchor="ctr">
                    <a:lnL w="6350">
                      <a:solidFill>
                        <a:srgbClr val="333333"/>
                      </a:solidFill>
                    </a:lnL>
                    <a:lnR w="6350">
                      <a:solidFill>
                        <a:srgbClr val="333333"/>
                      </a:solidFill>
                    </a:lnR>
                    <a:lnT w="28575" cap="flat" cmpd="sng" algn="ctr">
                      <a:solidFill>
                        <a:schemeClr val="tx1"/>
                      </a:solidFill>
                      <a:prstDash val="solid"/>
                      <a:round/>
                      <a:headEnd type="none" w="med" len="med"/>
                      <a:tailEnd type="none" w="med" len="med"/>
                    </a:lnT>
                    <a:lnB w="6350">
                      <a:solidFill>
                        <a:srgbClr val="333333"/>
                      </a:solidFill>
                    </a:lnB>
                    <a:solidFill>
                      <a:srgbClr val="1F1F1F"/>
                    </a:solidFill>
                  </a:tcPr>
                </a:tc>
                <a:tc>
                  <a:txBody>
                    <a:bodyPr/>
                    <a:lstStyle/>
                    <a:p>
                      <a:pPr marL="0" lvl="0" indent="0" algn="ctr">
                        <a:buNone/>
                      </a:pPr>
                      <a:r>
                        <a:rPr lang="en-US" sz="1000" b="0" i="0" u="none" strike="noStrike" noProof="0">
                          <a:solidFill>
                            <a:schemeClr val="bg2"/>
                          </a:solidFill>
                        </a:rPr>
                        <a:t>32.0%</a:t>
                      </a:r>
                    </a:p>
                  </a:txBody>
                  <a:tcPr anchor="ctr">
                    <a:lnL w="6350">
                      <a:solidFill>
                        <a:srgbClr val="333333"/>
                      </a:solidFill>
                    </a:lnL>
                    <a:lnR w="6350">
                      <a:solidFill>
                        <a:srgbClr val="333333"/>
                      </a:solidFill>
                    </a:lnR>
                    <a:lnT w="28575" cap="flat" cmpd="sng" algn="ctr">
                      <a:solidFill>
                        <a:schemeClr val="tx1"/>
                      </a:solidFill>
                      <a:prstDash val="solid"/>
                      <a:round/>
                      <a:headEnd type="none" w="med" len="med"/>
                      <a:tailEnd type="none" w="med" len="med"/>
                    </a:lnT>
                    <a:lnB w="6350">
                      <a:solidFill>
                        <a:srgbClr val="333333"/>
                      </a:solidFill>
                    </a:lnB>
                    <a:solidFill>
                      <a:srgbClr val="1F1F1F"/>
                    </a:solidFill>
                  </a:tcPr>
                </a:tc>
                <a:extLst>
                  <a:ext uri="{0D108BD9-81ED-4DB2-BD59-A6C34878D82A}">
                    <a16:rowId xmlns:a16="http://schemas.microsoft.com/office/drawing/2014/main" val="275495297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4B9704C1-A806-B7BD-7C39-4F6C085734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6E54C9-E8ED-32A8-AB26-94EFDE1A923F}"/>
              </a:ext>
            </a:extLst>
          </p:cNvPr>
          <p:cNvSpPr/>
          <p:nvPr/>
        </p:nvSpPr>
        <p:spPr>
          <a:xfrm>
            <a:off x="0" y="0"/>
            <a:ext cx="9144000" cy="45720"/>
          </a:xfrm>
          <a:prstGeom prst="rect">
            <a:avLst/>
          </a:prstGeom>
          <a:solidFill>
            <a:srgbClr val="4D9DE5"/>
          </a:solidFill>
          <a:ln/>
        </p:spPr>
        <p:txBody>
          <a:bodyPr/>
          <a:lstStyle/>
          <a:p>
            <a:endParaRPr lang="en-CH"/>
          </a:p>
        </p:txBody>
      </p:sp>
      <p:sp>
        <p:nvSpPr>
          <p:cNvPr id="3" name="Text 1">
            <a:extLst>
              <a:ext uri="{FF2B5EF4-FFF2-40B4-BE49-F238E27FC236}">
                <a16:creationId xmlns:a16="http://schemas.microsoft.com/office/drawing/2014/main" id="{51C2C2E3-7AF0-DBBF-FA63-83E86ED23D78}"/>
              </a:ext>
            </a:extLst>
          </p:cNvPr>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Source Sans Pro" pitchFamily="34" charset="0"/>
                <a:ea typeface="Source Sans Pro" pitchFamily="34" charset="-122"/>
                <a:cs typeface="Source Sans Pro" pitchFamily="34" charset="-120"/>
              </a:rPr>
              <a:t>Growth Roadmap &amp; ROI</a:t>
            </a:r>
            <a:endParaRPr lang="en-US" sz="3200"/>
          </a:p>
        </p:txBody>
      </p:sp>
      <p:sp>
        <p:nvSpPr>
          <p:cNvPr id="4" name="Shape 2">
            <a:extLst>
              <a:ext uri="{FF2B5EF4-FFF2-40B4-BE49-F238E27FC236}">
                <a16:creationId xmlns:a16="http://schemas.microsoft.com/office/drawing/2014/main" id="{4366DB6B-8AF7-16B3-814E-9DEA09806A57}"/>
              </a:ext>
            </a:extLst>
          </p:cNvPr>
          <p:cNvSpPr/>
          <p:nvPr/>
        </p:nvSpPr>
        <p:spPr>
          <a:xfrm>
            <a:off x="457200" y="1097280"/>
            <a:ext cx="3931920" cy="34747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5" name="Shape 3">
            <a:extLst>
              <a:ext uri="{FF2B5EF4-FFF2-40B4-BE49-F238E27FC236}">
                <a16:creationId xmlns:a16="http://schemas.microsoft.com/office/drawing/2014/main" id="{0E22527E-9471-F3BF-07D8-3B55B4AF457A}"/>
              </a:ext>
            </a:extLst>
          </p:cNvPr>
          <p:cNvSpPr/>
          <p:nvPr/>
        </p:nvSpPr>
        <p:spPr>
          <a:xfrm>
            <a:off x="457200" y="1097280"/>
            <a:ext cx="64008" cy="3474720"/>
          </a:xfrm>
          <a:prstGeom prst="rect">
            <a:avLst/>
          </a:prstGeom>
          <a:solidFill>
            <a:srgbClr val="4D9DE5"/>
          </a:solidFill>
          <a:ln/>
        </p:spPr>
        <p:txBody>
          <a:bodyPr/>
          <a:lstStyle/>
          <a:p>
            <a:endParaRPr lang="en-CH"/>
          </a:p>
        </p:txBody>
      </p:sp>
      <p:sp>
        <p:nvSpPr>
          <p:cNvPr id="6" name="Text 4">
            <a:extLst>
              <a:ext uri="{FF2B5EF4-FFF2-40B4-BE49-F238E27FC236}">
                <a16:creationId xmlns:a16="http://schemas.microsoft.com/office/drawing/2014/main" id="{F73E12C3-6C19-3401-0B68-36CF67E2E727}"/>
              </a:ext>
            </a:extLst>
          </p:cNvPr>
          <p:cNvSpPr/>
          <p:nvPr/>
        </p:nvSpPr>
        <p:spPr>
          <a:xfrm>
            <a:off x="777240" y="1234440"/>
            <a:ext cx="3383280" cy="365760"/>
          </a:xfrm>
          <a:prstGeom prst="rect">
            <a:avLst/>
          </a:prstGeom>
          <a:noFill/>
          <a:ln/>
        </p:spPr>
        <p:txBody>
          <a:bodyPr wrap="square" lIns="0" tIns="0" rIns="0" bIns="0" rtlCol="0" anchor="ctr"/>
          <a:lstStyle/>
          <a:p>
            <a:pPr marL="0" indent="0">
              <a:buNone/>
            </a:pPr>
            <a:r>
              <a:rPr lang="en-US" sz="1600">
                <a:solidFill>
                  <a:srgbClr val="4D9DE5"/>
                </a:solidFill>
                <a:latin typeface="Source Sans Pro" pitchFamily="34" charset="0"/>
                <a:ea typeface="Source Sans Pro" pitchFamily="34" charset="-122"/>
                <a:cs typeface="Source Sans Pro" pitchFamily="34" charset="-120"/>
              </a:rPr>
              <a:t>Growth Roadmap</a:t>
            </a:r>
            <a:endParaRPr lang="en-US" sz="1600"/>
          </a:p>
        </p:txBody>
      </p:sp>
      <p:sp>
        <p:nvSpPr>
          <p:cNvPr id="7" name="Text 5">
            <a:extLst>
              <a:ext uri="{FF2B5EF4-FFF2-40B4-BE49-F238E27FC236}">
                <a16:creationId xmlns:a16="http://schemas.microsoft.com/office/drawing/2014/main" id="{1B85818A-C978-A406-4137-2CD54024899E}"/>
              </a:ext>
            </a:extLst>
          </p:cNvPr>
          <p:cNvSpPr/>
          <p:nvPr/>
        </p:nvSpPr>
        <p:spPr>
          <a:xfrm>
            <a:off x="777240" y="1783080"/>
            <a:ext cx="640080" cy="274320"/>
          </a:xfrm>
          <a:prstGeom prst="rect">
            <a:avLst/>
          </a:prstGeom>
          <a:noFill/>
          <a:ln/>
        </p:spPr>
        <p:txBody>
          <a:bodyPr wrap="square" lIns="0" tIns="0" rIns="0" bIns="0" rtlCol="0" anchor="ctr"/>
          <a:lstStyle/>
          <a:p>
            <a:pPr marL="0" indent="0">
              <a:buNone/>
            </a:pPr>
            <a:r>
              <a:rPr lang="en-US" sz="1300">
                <a:solidFill>
                  <a:srgbClr val="4D9DE5"/>
                </a:solidFill>
                <a:latin typeface="Source Sans Pro" pitchFamily="34" charset="0"/>
                <a:ea typeface="Source Sans Pro" pitchFamily="34" charset="-122"/>
                <a:cs typeface="Source Sans Pro" pitchFamily="34" charset="-120"/>
              </a:rPr>
              <a:t>2045</a:t>
            </a:r>
            <a:endParaRPr lang="en-US" sz="1300"/>
          </a:p>
        </p:txBody>
      </p:sp>
      <p:sp>
        <p:nvSpPr>
          <p:cNvPr id="8" name="Text 6">
            <a:extLst>
              <a:ext uri="{FF2B5EF4-FFF2-40B4-BE49-F238E27FC236}">
                <a16:creationId xmlns:a16="http://schemas.microsoft.com/office/drawing/2014/main" id="{8237CDBD-2469-B2FD-F9E6-3E0DBFC142AA}"/>
              </a:ext>
            </a:extLst>
          </p:cNvPr>
          <p:cNvSpPr/>
          <p:nvPr/>
        </p:nvSpPr>
        <p:spPr>
          <a:xfrm>
            <a:off x="1508760" y="1783080"/>
            <a:ext cx="2651760" cy="50292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Full Operational Capability — lunar constellation live</a:t>
            </a:r>
            <a:endParaRPr lang="en-US" sz="1100"/>
          </a:p>
        </p:txBody>
      </p:sp>
      <p:sp>
        <p:nvSpPr>
          <p:cNvPr id="9" name="Text 7">
            <a:extLst>
              <a:ext uri="{FF2B5EF4-FFF2-40B4-BE49-F238E27FC236}">
                <a16:creationId xmlns:a16="http://schemas.microsoft.com/office/drawing/2014/main" id="{574BD9E0-2B5D-CE94-4B48-97B5B2360999}"/>
              </a:ext>
            </a:extLst>
          </p:cNvPr>
          <p:cNvSpPr/>
          <p:nvPr/>
        </p:nvSpPr>
        <p:spPr>
          <a:xfrm>
            <a:off x="777240" y="2423160"/>
            <a:ext cx="640080" cy="274320"/>
          </a:xfrm>
          <a:prstGeom prst="rect">
            <a:avLst/>
          </a:prstGeom>
          <a:noFill/>
          <a:ln/>
        </p:spPr>
        <p:txBody>
          <a:bodyPr wrap="square" lIns="0" tIns="0" rIns="0" bIns="0" rtlCol="0" anchor="ctr"/>
          <a:lstStyle/>
          <a:p>
            <a:pPr marL="0" indent="0">
              <a:buNone/>
            </a:pPr>
            <a:r>
              <a:rPr lang="en-US" sz="1300">
                <a:solidFill>
                  <a:srgbClr val="4D9DE5"/>
                </a:solidFill>
                <a:latin typeface="Source Sans Pro" pitchFamily="34" charset="0"/>
                <a:ea typeface="Source Sans Pro" pitchFamily="34" charset="-122"/>
                <a:cs typeface="Source Sans Pro" pitchFamily="34" charset="-120"/>
              </a:rPr>
              <a:t>2047</a:t>
            </a:r>
            <a:endParaRPr lang="en-US" sz="1300"/>
          </a:p>
        </p:txBody>
      </p:sp>
      <p:sp>
        <p:nvSpPr>
          <p:cNvPr id="10" name="Text 8">
            <a:extLst>
              <a:ext uri="{FF2B5EF4-FFF2-40B4-BE49-F238E27FC236}">
                <a16:creationId xmlns:a16="http://schemas.microsoft.com/office/drawing/2014/main" id="{08A6F8BA-14D3-145C-D14D-B7CB989A8F7B}"/>
              </a:ext>
            </a:extLst>
          </p:cNvPr>
          <p:cNvSpPr/>
          <p:nvPr/>
        </p:nvSpPr>
        <p:spPr>
          <a:xfrm>
            <a:off x="1508760" y="2423160"/>
            <a:ext cx="2651760" cy="50292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Service expansion — enhanced resolution, analytics</a:t>
            </a:r>
            <a:endParaRPr lang="en-US" sz="1100"/>
          </a:p>
        </p:txBody>
      </p:sp>
      <p:sp>
        <p:nvSpPr>
          <p:cNvPr id="11" name="Text 9">
            <a:extLst>
              <a:ext uri="{FF2B5EF4-FFF2-40B4-BE49-F238E27FC236}">
                <a16:creationId xmlns:a16="http://schemas.microsoft.com/office/drawing/2014/main" id="{A6DA5BCA-2C94-0E4C-6D5A-9341F3CD3962}"/>
              </a:ext>
            </a:extLst>
          </p:cNvPr>
          <p:cNvSpPr/>
          <p:nvPr/>
        </p:nvSpPr>
        <p:spPr>
          <a:xfrm>
            <a:off x="777240" y="3063240"/>
            <a:ext cx="640080" cy="274320"/>
          </a:xfrm>
          <a:prstGeom prst="rect">
            <a:avLst/>
          </a:prstGeom>
          <a:noFill/>
          <a:ln/>
        </p:spPr>
        <p:txBody>
          <a:bodyPr wrap="square" lIns="0" tIns="0" rIns="0" bIns="0" rtlCol="0" anchor="ctr"/>
          <a:lstStyle/>
          <a:p>
            <a:pPr marL="0" indent="0">
              <a:buNone/>
            </a:pPr>
            <a:r>
              <a:rPr lang="en-US" sz="1300">
                <a:solidFill>
                  <a:srgbClr val="4D9DE5"/>
                </a:solidFill>
                <a:latin typeface="Source Sans Pro" pitchFamily="34" charset="0"/>
                <a:ea typeface="Source Sans Pro" pitchFamily="34" charset="-122"/>
                <a:cs typeface="Source Sans Pro" pitchFamily="34" charset="-120"/>
              </a:rPr>
              <a:t>2055</a:t>
            </a:r>
            <a:endParaRPr lang="en-US" sz="1300"/>
          </a:p>
        </p:txBody>
      </p:sp>
      <p:sp>
        <p:nvSpPr>
          <p:cNvPr id="12" name="Text 10">
            <a:extLst>
              <a:ext uri="{FF2B5EF4-FFF2-40B4-BE49-F238E27FC236}">
                <a16:creationId xmlns:a16="http://schemas.microsoft.com/office/drawing/2014/main" id="{3535EA63-9D9F-81BA-7EC6-C12056153926}"/>
              </a:ext>
            </a:extLst>
          </p:cNvPr>
          <p:cNvSpPr/>
          <p:nvPr/>
        </p:nvSpPr>
        <p:spPr>
          <a:xfrm>
            <a:off x="1508760" y="3063240"/>
            <a:ext cx="2651760" cy="50292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Mars pathfinder — adapt platform for Martian orbit</a:t>
            </a:r>
            <a:endParaRPr lang="en-US" sz="1100"/>
          </a:p>
        </p:txBody>
      </p:sp>
      <p:sp>
        <p:nvSpPr>
          <p:cNvPr id="13" name="Text 11">
            <a:extLst>
              <a:ext uri="{FF2B5EF4-FFF2-40B4-BE49-F238E27FC236}">
                <a16:creationId xmlns:a16="http://schemas.microsoft.com/office/drawing/2014/main" id="{BC472B76-8A60-6910-6518-A51772866C2E}"/>
              </a:ext>
            </a:extLst>
          </p:cNvPr>
          <p:cNvSpPr/>
          <p:nvPr/>
        </p:nvSpPr>
        <p:spPr>
          <a:xfrm>
            <a:off x="777240" y="3703320"/>
            <a:ext cx="640080" cy="274320"/>
          </a:xfrm>
          <a:prstGeom prst="rect">
            <a:avLst/>
          </a:prstGeom>
          <a:noFill/>
          <a:ln/>
        </p:spPr>
        <p:txBody>
          <a:bodyPr wrap="square" lIns="0" tIns="0" rIns="0" bIns="0" rtlCol="0" anchor="ctr"/>
          <a:lstStyle/>
          <a:p>
            <a:pPr marL="0" indent="0">
              <a:buNone/>
            </a:pPr>
            <a:r>
              <a:rPr lang="en-US" sz="1300">
                <a:solidFill>
                  <a:srgbClr val="4D9DE5"/>
                </a:solidFill>
                <a:latin typeface="Source Sans Pro" pitchFamily="34" charset="0"/>
                <a:ea typeface="Source Sans Pro" pitchFamily="34" charset="-122"/>
                <a:cs typeface="Source Sans Pro" pitchFamily="34" charset="-120"/>
              </a:rPr>
              <a:t>2060+</a:t>
            </a:r>
            <a:endParaRPr lang="en-US" sz="1300"/>
          </a:p>
        </p:txBody>
      </p:sp>
      <p:sp>
        <p:nvSpPr>
          <p:cNvPr id="14" name="Text 12">
            <a:extLst>
              <a:ext uri="{FF2B5EF4-FFF2-40B4-BE49-F238E27FC236}">
                <a16:creationId xmlns:a16="http://schemas.microsoft.com/office/drawing/2014/main" id="{43EBE2C4-87CF-202E-6E75-1E69631664FC}"/>
              </a:ext>
            </a:extLst>
          </p:cNvPr>
          <p:cNvSpPr/>
          <p:nvPr/>
        </p:nvSpPr>
        <p:spPr>
          <a:xfrm>
            <a:off x="1508760" y="3703320"/>
            <a:ext cx="2651760" cy="502920"/>
          </a:xfrm>
          <a:prstGeom prst="rect">
            <a:avLst/>
          </a:prstGeom>
          <a:noFill/>
          <a:ln/>
        </p:spPr>
        <p:txBody>
          <a:bodyPr wrap="square" lIns="0" tIns="0" rIns="0" bIns="0" rtlCol="0" anchor="ctr"/>
          <a:lstStyle/>
          <a:p>
            <a:pPr marL="0" indent="0">
              <a:buNone/>
            </a:pPr>
            <a:r>
              <a:rPr lang="en-US" sz="1100">
                <a:solidFill>
                  <a:srgbClr val="AAAAAA"/>
                </a:solidFill>
                <a:latin typeface="Source Sans Pro" pitchFamily="34" charset="0"/>
                <a:ea typeface="Source Sans Pro" pitchFamily="34" charset="-122"/>
                <a:cs typeface="Source Sans Pro" pitchFamily="34" charset="-120"/>
              </a:rPr>
              <a:t>Multi-planetary imaging network</a:t>
            </a:r>
            <a:endParaRPr lang="en-US" sz="1100"/>
          </a:p>
        </p:txBody>
      </p:sp>
      <p:sp>
        <p:nvSpPr>
          <p:cNvPr id="15" name="Shape 13">
            <a:extLst>
              <a:ext uri="{FF2B5EF4-FFF2-40B4-BE49-F238E27FC236}">
                <a16:creationId xmlns:a16="http://schemas.microsoft.com/office/drawing/2014/main" id="{8E6748A2-1957-FE46-3E1A-BB4E9D148CAD}"/>
              </a:ext>
            </a:extLst>
          </p:cNvPr>
          <p:cNvSpPr/>
          <p:nvPr/>
        </p:nvSpPr>
        <p:spPr>
          <a:xfrm>
            <a:off x="4754880" y="1097280"/>
            <a:ext cx="3931920" cy="3474720"/>
          </a:xfrm>
          <a:prstGeom prst="rect">
            <a:avLst/>
          </a:prstGeom>
          <a:solidFill>
            <a:srgbClr val="1A1A1A"/>
          </a:solidFill>
          <a:ln/>
          <a:effectLst>
            <a:outerShdw blurRad="101600" dist="25400" dir="8100000" algn="bl" rotWithShape="0">
              <a:srgbClr val="000000">
                <a:alpha val="40000"/>
              </a:srgbClr>
            </a:outerShdw>
          </a:effectLst>
        </p:spPr>
        <p:txBody>
          <a:bodyPr/>
          <a:lstStyle/>
          <a:p>
            <a:endParaRPr lang="en-CH"/>
          </a:p>
        </p:txBody>
      </p:sp>
      <p:sp>
        <p:nvSpPr>
          <p:cNvPr id="16" name="Shape 14">
            <a:extLst>
              <a:ext uri="{FF2B5EF4-FFF2-40B4-BE49-F238E27FC236}">
                <a16:creationId xmlns:a16="http://schemas.microsoft.com/office/drawing/2014/main" id="{C8A48047-AD02-ADC0-2826-DC4904D1F321}"/>
              </a:ext>
            </a:extLst>
          </p:cNvPr>
          <p:cNvSpPr/>
          <p:nvPr/>
        </p:nvSpPr>
        <p:spPr>
          <a:xfrm>
            <a:off x="4754880" y="1097280"/>
            <a:ext cx="64008" cy="3474720"/>
          </a:xfrm>
          <a:prstGeom prst="rect">
            <a:avLst/>
          </a:prstGeom>
          <a:solidFill>
            <a:srgbClr val="4CAF50"/>
          </a:solidFill>
          <a:ln/>
        </p:spPr>
        <p:txBody>
          <a:bodyPr/>
          <a:lstStyle/>
          <a:p>
            <a:endParaRPr lang="en-CH"/>
          </a:p>
        </p:txBody>
      </p:sp>
      <p:sp>
        <p:nvSpPr>
          <p:cNvPr id="17" name="Text 15">
            <a:extLst>
              <a:ext uri="{FF2B5EF4-FFF2-40B4-BE49-F238E27FC236}">
                <a16:creationId xmlns:a16="http://schemas.microsoft.com/office/drawing/2014/main" id="{DF8958BC-5C39-1302-EFCB-8B41509603AD}"/>
              </a:ext>
            </a:extLst>
          </p:cNvPr>
          <p:cNvSpPr/>
          <p:nvPr/>
        </p:nvSpPr>
        <p:spPr>
          <a:xfrm>
            <a:off x="5074920" y="1234440"/>
            <a:ext cx="3383280" cy="365760"/>
          </a:xfrm>
          <a:prstGeom prst="rect">
            <a:avLst/>
          </a:prstGeom>
          <a:noFill/>
          <a:ln/>
        </p:spPr>
        <p:txBody>
          <a:bodyPr wrap="square" lIns="0" tIns="0" rIns="0" bIns="0" rtlCol="0" anchor="ctr"/>
          <a:lstStyle/>
          <a:p>
            <a:pPr marL="0" indent="0">
              <a:buNone/>
            </a:pPr>
            <a:r>
              <a:rPr lang="en-US" sz="1600" dirty="0">
                <a:solidFill>
                  <a:srgbClr val="4CAF50"/>
                </a:solidFill>
                <a:latin typeface="Source Sans Pro" pitchFamily="34" charset="0"/>
                <a:ea typeface="Source Sans Pro" pitchFamily="34" charset="-122"/>
                <a:cs typeface="Source Sans Pro" pitchFamily="34" charset="-120"/>
              </a:rPr>
              <a:t>ROI Summary</a:t>
            </a:r>
            <a:endParaRPr lang="en-US" sz="1600" dirty="0"/>
          </a:p>
        </p:txBody>
      </p:sp>
      <p:sp>
        <p:nvSpPr>
          <p:cNvPr id="18" name="Text 16">
            <a:extLst>
              <a:ext uri="{FF2B5EF4-FFF2-40B4-BE49-F238E27FC236}">
                <a16:creationId xmlns:a16="http://schemas.microsoft.com/office/drawing/2014/main" id="{D539BE65-9360-FE58-598F-C43CA30338D0}"/>
              </a:ext>
            </a:extLst>
          </p:cNvPr>
          <p:cNvSpPr/>
          <p:nvPr/>
        </p:nvSpPr>
        <p:spPr>
          <a:xfrm>
            <a:off x="5074920" y="1600200"/>
            <a:ext cx="3383280" cy="2194560"/>
          </a:xfrm>
          <a:prstGeom prst="rect">
            <a:avLst/>
          </a:prstGeom>
          <a:noFill/>
          <a:ln/>
        </p:spPr>
        <p:txBody>
          <a:bodyPr wrap="square" lIns="0" tIns="0" rIns="0" bIns="0" rtlCol="0" anchor="ctr"/>
          <a:lstStyle/>
          <a:p>
            <a:pPr marL="0" indent="0">
              <a:buNone/>
            </a:pPr>
            <a:r>
              <a:rPr lang="en-US" sz="4000" dirty="0">
                <a:solidFill>
                  <a:srgbClr val="FFFFFF"/>
                </a:solidFill>
                <a:latin typeface="Source Sans Pro"/>
                <a:ea typeface="Source Sans Pro"/>
              </a:rPr>
              <a:t>32.0%</a:t>
            </a:r>
            <a:endParaRPr lang="en-US" sz="4000" dirty="0"/>
          </a:p>
          <a:p>
            <a:pPr marL="0" indent="0">
              <a:buNone/>
            </a:pPr>
            <a:r>
              <a:rPr lang="en-US" sz="1200" dirty="0">
                <a:solidFill>
                  <a:srgbClr val="AAAAAA"/>
                </a:solidFill>
                <a:latin typeface="Source Sans Pro" pitchFamily="34" charset="0"/>
                <a:ea typeface="Source Sans Pro" pitchFamily="34" charset="-122"/>
                <a:cs typeface="Source Sans Pro" pitchFamily="34" charset="-120"/>
              </a:rPr>
              <a:t>Projected ROI within 10-year operational period</a:t>
            </a:r>
            <a:br>
              <a:rPr lang="en-US" sz="1200" dirty="0">
                <a:solidFill>
                  <a:srgbClr val="AAAAAA"/>
                </a:solidFill>
                <a:latin typeface="Source Sans Pro" pitchFamily="34" charset="0"/>
                <a:ea typeface="Source Sans Pro" pitchFamily="34" charset="-122"/>
                <a:cs typeface="Source Sans Pro" pitchFamily="34" charset="-120"/>
              </a:rPr>
            </a:br>
            <a:br>
              <a:rPr lang="en-US" sz="1200" dirty="0">
                <a:solidFill>
                  <a:srgbClr val="AAAAAA"/>
                </a:solidFill>
                <a:latin typeface="Source Sans Pro" pitchFamily="34" charset="0"/>
                <a:ea typeface="Source Sans Pro" pitchFamily="34" charset="-122"/>
                <a:cs typeface="Source Sans Pro" pitchFamily="34" charset="-120"/>
              </a:rPr>
            </a:br>
            <a:r>
              <a:rPr lang="en-US" sz="1200" dirty="0">
                <a:solidFill>
                  <a:srgbClr val="AAAAAA"/>
                </a:solidFill>
                <a:latin typeface="Source Sans Pro" pitchFamily="34" charset="0"/>
                <a:ea typeface="Source Sans Pro" pitchFamily="34" charset="-122"/>
                <a:cs typeface="Source Sans Pro" pitchFamily="34" charset="-120"/>
              </a:rPr>
              <a:t>Comparable to ICEYE or Planet Labs</a:t>
            </a:r>
            <a:endParaRPr lang="en-US" sz="4000" dirty="0"/>
          </a:p>
        </p:txBody>
      </p:sp>
      <p:sp>
        <p:nvSpPr>
          <p:cNvPr id="19" name="Shape 17">
            <a:extLst>
              <a:ext uri="{FF2B5EF4-FFF2-40B4-BE49-F238E27FC236}">
                <a16:creationId xmlns:a16="http://schemas.microsoft.com/office/drawing/2014/main" id="{20580FBC-2F72-2BC3-8A3F-D740D7D86A90}"/>
              </a:ext>
            </a:extLst>
          </p:cNvPr>
          <p:cNvSpPr/>
          <p:nvPr/>
        </p:nvSpPr>
        <p:spPr>
          <a:xfrm>
            <a:off x="0" y="4914900"/>
            <a:ext cx="9144000" cy="228600"/>
          </a:xfrm>
          <a:prstGeom prst="rect">
            <a:avLst/>
          </a:prstGeom>
          <a:solidFill>
            <a:srgbClr val="1A1A1A"/>
          </a:solidFill>
          <a:ln/>
        </p:spPr>
        <p:txBody>
          <a:bodyPr/>
          <a:lstStyle/>
          <a:p>
            <a:endParaRPr lang="en-CH"/>
          </a:p>
        </p:txBody>
      </p:sp>
      <p:sp>
        <p:nvSpPr>
          <p:cNvPr id="20" name="Text 18">
            <a:extLst>
              <a:ext uri="{FF2B5EF4-FFF2-40B4-BE49-F238E27FC236}">
                <a16:creationId xmlns:a16="http://schemas.microsoft.com/office/drawing/2014/main" id="{B877B803-4C30-B130-15F2-B86A075F0D85}"/>
              </a:ext>
            </a:extLst>
          </p:cNvPr>
          <p:cNvSpPr/>
          <p:nvPr/>
        </p:nvSpPr>
        <p:spPr>
          <a:xfrm>
            <a:off x="457200" y="4914900"/>
            <a:ext cx="8229600" cy="228600"/>
          </a:xfrm>
          <a:prstGeom prst="rect">
            <a:avLst/>
          </a:prstGeom>
          <a:noFill/>
          <a:ln/>
        </p:spPr>
        <p:txBody>
          <a:bodyPr wrap="square" rtlCol="0" anchor="ctr"/>
          <a:lstStyle/>
          <a:p>
            <a:pPr marL="0" indent="0">
              <a:buNone/>
            </a:pPr>
            <a:r>
              <a:rPr lang="en-US" sz="900">
                <a:solidFill>
                  <a:srgbClr val="666666"/>
                </a:solidFill>
                <a:latin typeface="Source Sans Pro" pitchFamily="34" charset="0"/>
                <a:ea typeface="Source Sans Pro" pitchFamily="34" charset="-122"/>
                <a:cs typeface="Source Sans Pro" pitchFamily="34" charset="-120"/>
              </a:rPr>
              <a:t>RION Imaging  ·  Airbus Space Competition 25/26</a:t>
            </a:r>
            <a:endParaRPr lang="en-US" sz="900"/>
          </a:p>
        </p:txBody>
      </p:sp>
    </p:spTree>
    <p:extLst>
      <p:ext uri="{BB962C8B-B14F-4D97-AF65-F5344CB8AC3E}">
        <p14:creationId xmlns:p14="http://schemas.microsoft.com/office/powerpoint/2010/main" val="401181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4D9DE5"/>
          </a:solidFill>
          <a:ln/>
        </p:spPr>
        <p:txBody>
          <a:bodyPr/>
          <a:lstStyle/>
          <a:p>
            <a:endParaRPr lang="en-CH"/>
          </a:p>
        </p:txBody>
      </p:sp>
      <p:sp>
        <p:nvSpPr>
          <p:cNvPr id="3" name="Text 1"/>
          <p:cNvSpPr/>
          <p:nvPr/>
        </p:nvSpPr>
        <p:spPr>
          <a:xfrm>
            <a:off x="731520" y="914400"/>
            <a:ext cx="7680960" cy="914400"/>
          </a:xfrm>
          <a:prstGeom prst="rect">
            <a:avLst/>
          </a:prstGeom>
          <a:noFill/>
          <a:ln/>
        </p:spPr>
        <p:txBody>
          <a:bodyPr wrap="square" lIns="0" tIns="0" rIns="0" bIns="0" rtlCol="0" anchor="ctr"/>
          <a:lstStyle/>
          <a:p>
            <a:pPr marL="0" indent="0" algn="ctr">
              <a:buNone/>
            </a:pPr>
            <a:r>
              <a:rPr lang="en-US" sz="4800" b="1">
                <a:solidFill>
                  <a:srgbClr val="D4A017"/>
                </a:solidFill>
                <a:latin typeface="Source Sans Pro" pitchFamily="34" charset="0"/>
                <a:ea typeface="Source Sans Pro" pitchFamily="34" charset="-122"/>
                <a:cs typeface="Source Sans Pro" pitchFamily="34" charset="-120"/>
              </a:rPr>
              <a:t>RION</a:t>
            </a:r>
            <a:r>
              <a:rPr lang="en-US" sz="4800" b="1">
                <a:solidFill>
                  <a:srgbClr val="FFFFFF"/>
                </a:solidFill>
                <a:latin typeface="Source Sans Pro" pitchFamily="34" charset="0"/>
                <a:ea typeface="Source Sans Pro" pitchFamily="34" charset="-122"/>
                <a:cs typeface="Source Sans Pro" pitchFamily="34" charset="-120"/>
              </a:rPr>
              <a:t> Imaging</a:t>
            </a:r>
            <a:endParaRPr lang="en-US" sz="4800"/>
          </a:p>
        </p:txBody>
      </p:sp>
      <p:sp>
        <p:nvSpPr>
          <p:cNvPr id="4" name="Text 2"/>
          <p:cNvSpPr/>
          <p:nvPr/>
        </p:nvSpPr>
        <p:spPr>
          <a:xfrm>
            <a:off x="731520" y="1920240"/>
            <a:ext cx="7680960" cy="548640"/>
          </a:xfrm>
          <a:prstGeom prst="rect">
            <a:avLst/>
          </a:prstGeom>
          <a:noFill/>
          <a:ln/>
        </p:spPr>
        <p:txBody>
          <a:bodyPr wrap="square" lIns="0" tIns="0" rIns="0" bIns="0" rtlCol="0" anchor="ctr"/>
          <a:lstStyle/>
          <a:p>
            <a:pPr marL="0" indent="0" algn="ctr">
              <a:buNone/>
            </a:pPr>
            <a:r>
              <a:rPr lang="en-US" sz="2200" i="1">
                <a:solidFill>
                  <a:srgbClr val="4D9DE5"/>
                </a:solidFill>
                <a:latin typeface="Source Sans Pro" pitchFamily="34" charset="0"/>
                <a:ea typeface="Source Sans Pro" pitchFamily="34" charset="-122"/>
                <a:cs typeface="Source Sans Pro" pitchFamily="34" charset="-120"/>
              </a:rPr>
              <a:t>Real-time Terrain. Real-time Decisions.</a:t>
            </a:r>
            <a:endParaRPr lang="en-US" sz="2200"/>
          </a:p>
        </p:txBody>
      </p:sp>
      <p:sp>
        <p:nvSpPr>
          <p:cNvPr id="5" name="Shape 3"/>
          <p:cNvSpPr/>
          <p:nvPr/>
        </p:nvSpPr>
        <p:spPr>
          <a:xfrm>
            <a:off x="3200400" y="2651760"/>
            <a:ext cx="2743200" cy="27432"/>
          </a:xfrm>
          <a:prstGeom prst="rect">
            <a:avLst/>
          </a:prstGeom>
          <a:solidFill>
            <a:srgbClr val="4D9DE5"/>
          </a:solidFill>
          <a:ln/>
        </p:spPr>
        <p:txBody>
          <a:bodyPr/>
          <a:lstStyle/>
          <a:p>
            <a:endParaRPr lang="en-CH"/>
          </a:p>
        </p:txBody>
      </p:sp>
      <p:sp>
        <p:nvSpPr>
          <p:cNvPr id="6" name="Text 4"/>
          <p:cNvSpPr/>
          <p:nvPr/>
        </p:nvSpPr>
        <p:spPr>
          <a:xfrm>
            <a:off x="731520" y="2926080"/>
            <a:ext cx="7680960" cy="548640"/>
          </a:xfrm>
          <a:prstGeom prst="rect">
            <a:avLst/>
          </a:prstGeom>
          <a:noFill/>
          <a:ln/>
        </p:spPr>
        <p:txBody>
          <a:bodyPr wrap="square" lIns="0" tIns="0" rIns="0" bIns="0" rtlCol="0" anchor="ctr"/>
          <a:lstStyle/>
          <a:p>
            <a:pPr marL="0" indent="0" algn="ctr">
              <a:buNone/>
            </a:pPr>
            <a:r>
              <a:rPr lang="en-US" sz="2800">
                <a:solidFill>
                  <a:srgbClr val="FFFFFF"/>
                </a:solidFill>
                <a:latin typeface="Source Sans Pro" pitchFamily="34" charset="0"/>
                <a:ea typeface="Source Sans Pro" pitchFamily="34" charset="-122"/>
                <a:cs typeface="Source Sans Pro" pitchFamily="34" charset="-120"/>
              </a:rPr>
              <a:t>Thank you</a:t>
            </a:r>
            <a:endParaRPr lang="en-US" sz="2800"/>
          </a:p>
        </p:txBody>
      </p:sp>
      <p:sp>
        <p:nvSpPr>
          <p:cNvPr id="7" name="Text 5"/>
          <p:cNvSpPr/>
          <p:nvPr/>
        </p:nvSpPr>
        <p:spPr>
          <a:xfrm>
            <a:off x="731520" y="3657600"/>
            <a:ext cx="7680960" cy="640080"/>
          </a:xfrm>
          <a:prstGeom prst="rect">
            <a:avLst/>
          </a:prstGeom>
          <a:noFill/>
          <a:ln/>
        </p:spPr>
        <p:txBody>
          <a:bodyPr wrap="square" lIns="0" tIns="0" rIns="0" bIns="0" rtlCol="0" anchor="ctr"/>
          <a:lstStyle/>
          <a:p>
            <a:pPr marL="0" indent="0" algn="ctr">
              <a:buNone/>
            </a:pPr>
            <a:r>
              <a:rPr lang="en-US" sz="1300">
                <a:solidFill>
                  <a:srgbClr val="666666"/>
                </a:solidFill>
                <a:latin typeface="Source Sans Pro" pitchFamily="34" charset="0"/>
                <a:ea typeface="Source Sans Pro" pitchFamily="34" charset="-122"/>
                <a:cs typeface="Source Sans Pro" pitchFamily="34" charset="-120"/>
              </a:rPr>
              <a:t>Team 31  ·  Airbus Space Competition 25/26</a:t>
            </a:r>
            <a:endParaRPr lang="en-US" sz="1300"/>
          </a:p>
          <a:p>
            <a:pPr marL="0" indent="0" algn="ctr">
              <a:buNone/>
            </a:pPr>
            <a:r>
              <a:rPr lang="en-US" sz="1300">
                <a:solidFill>
                  <a:srgbClr val="666666"/>
                </a:solidFill>
                <a:latin typeface="Source Sans Pro" pitchFamily="34" charset="0"/>
                <a:ea typeface="Source Sans Pro" pitchFamily="34" charset="-122"/>
                <a:cs typeface="Source Sans Pro" pitchFamily="34" charset="-120"/>
              </a:rPr>
              <a:t>Stevenage, United Kingdom</a:t>
            </a:r>
            <a:endParaRPr lang="en-US" sz="1300"/>
          </a:p>
        </p:txBody>
      </p:sp>
      <p:sp>
        <p:nvSpPr>
          <p:cNvPr id="8" name="Shape 6"/>
          <p:cNvSpPr/>
          <p:nvPr/>
        </p:nvSpPr>
        <p:spPr>
          <a:xfrm>
            <a:off x="0" y="4914900"/>
            <a:ext cx="9144000" cy="228600"/>
          </a:xfrm>
          <a:prstGeom prst="rect">
            <a:avLst/>
          </a:prstGeom>
          <a:solidFill>
            <a:srgbClr val="D4A017"/>
          </a:solidFill>
          <a:ln/>
        </p:spPr>
        <p:txBody>
          <a:bodyPr/>
          <a:lstStyle/>
          <a:p>
            <a:endParaRPr lang="en-CH"/>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2886</Words>
  <Application>Microsoft Macintosh PowerPoint</Application>
  <PresentationFormat>On-screen Show (16:9)</PresentationFormat>
  <Paragraphs>429</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Source Sans Pro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RION Imaging - Finals Day Presentation</dc:title>
  <dc:subject>PptxGenJS Presentation</dc:subject>
  <dc:creator>RION Imaging - Team 31</dc:creator>
  <cp:lastModifiedBy>Diego Paniagua Silva (dfps1u24)</cp:lastModifiedBy>
  <cp:revision>1</cp:revision>
  <dcterms:created xsi:type="dcterms:W3CDTF">2026-02-11T15:37:52Z</dcterms:created>
  <dcterms:modified xsi:type="dcterms:W3CDTF">2026-02-19T11:52:09Z</dcterms:modified>
</cp:coreProperties>
</file>